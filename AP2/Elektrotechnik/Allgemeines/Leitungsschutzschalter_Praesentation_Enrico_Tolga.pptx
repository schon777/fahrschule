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9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748000-79E3-4D4F-9194-05C07819A1A5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9567C-CC86-4071-9C06-4D30064318F9}">
      <dgm:prSet/>
      <dgm:spPr/>
      <dgm:t>
        <a:bodyPr/>
        <a:lstStyle/>
        <a:p>
          <a:r>
            <a:rPr lang="en-US" baseline="0"/>
            <a:t>Thema: Leitungsschutzschalter und ihre Bedeutung in elektrischen Anlagen.</a:t>
          </a:r>
          <a:endParaRPr lang="en-US"/>
        </a:p>
      </dgm:t>
    </dgm:pt>
    <dgm:pt modelId="{5CE16FF7-D1EF-4D58-A54B-25D241FC8C43}" type="parTrans" cxnId="{349632DF-6636-41D2-8F86-1E4D3D907EC0}">
      <dgm:prSet/>
      <dgm:spPr/>
      <dgm:t>
        <a:bodyPr/>
        <a:lstStyle/>
        <a:p>
          <a:endParaRPr lang="en-US"/>
        </a:p>
      </dgm:t>
    </dgm:pt>
    <dgm:pt modelId="{FEAEF4CD-BEAD-4091-A220-C69EFF19746B}" type="sibTrans" cxnId="{349632DF-6636-41D2-8F86-1E4D3D907EC0}">
      <dgm:prSet/>
      <dgm:spPr/>
      <dgm:t>
        <a:bodyPr/>
        <a:lstStyle/>
        <a:p>
          <a:endParaRPr lang="en-US"/>
        </a:p>
      </dgm:t>
    </dgm:pt>
    <dgm:pt modelId="{BC9AB27E-8CC7-4C04-A5C0-8CB6A183D86F}">
      <dgm:prSet/>
      <dgm:spPr/>
      <dgm:t>
        <a:bodyPr/>
        <a:lstStyle/>
        <a:p>
          <a:r>
            <a:rPr lang="en-US" baseline="0"/>
            <a:t>Ziel: Aufbau, Funktion und Wichtigkeit von LS-Schaltern.</a:t>
          </a:r>
          <a:endParaRPr lang="en-US"/>
        </a:p>
      </dgm:t>
    </dgm:pt>
    <dgm:pt modelId="{222A9953-D667-4570-B217-C6C939C01BCC}" type="parTrans" cxnId="{CBC4A0AC-4F00-499C-8856-79F1656C7B3D}">
      <dgm:prSet/>
      <dgm:spPr/>
      <dgm:t>
        <a:bodyPr/>
        <a:lstStyle/>
        <a:p>
          <a:endParaRPr lang="en-US"/>
        </a:p>
      </dgm:t>
    </dgm:pt>
    <dgm:pt modelId="{EB3C2AD0-030F-454B-AA4A-BCD3E54D4393}" type="sibTrans" cxnId="{CBC4A0AC-4F00-499C-8856-79F1656C7B3D}">
      <dgm:prSet/>
      <dgm:spPr/>
      <dgm:t>
        <a:bodyPr/>
        <a:lstStyle/>
        <a:p>
          <a:endParaRPr lang="en-US"/>
        </a:p>
      </dgm:t>
    </dgm:pt>
    <dgm:pt modelId="{50EA6D11-F4A3-476E-BCDA-76BB46EDBBEF}">
      <dgm:prSet/>
      <dgm:spPr/>
      <dgm:t>
        <a:bodyPr/>
        <a:lstStyle/>
        <a:p>
          <a:r>
            <a:rPr lang="en-US" baseline="0"/>
            <a:t>Gliederung: Grundlagen → Funktion → Einsatz → Auswahl → Wartung → Zukunft.</a:t>
          </a:r>
          <a:endParaRPr lang="en-US"/>
        </a:p>
      </dgm:t>
    </dgm:pt>
    <dgm:pt modelId="{9A0880CE-69FB-440F-86C8-89F83BAAD0AD}" type="parTrans" cxnId="{08DA1A89-1A31-413E-B083-135716FFA6CE}">
      <dgm:prSet/>
      <dgm:spPr/>
      <dgm:t>
        <a:bodyPr/>
        <a:lstStyle/>
        <a:p>
          <a:endParaRPr lang="en-US"/>
        </a:p>
      </dgm:t>
    </dgm:pt>
    <dgm:pt modelId="{1D67A059-BA54-4AB0-8F1F-466AFD7E8DA1}" type="sibTrans" cxnId="{08DA1A89-1A31-413E-B083-135716FFA6CE}">
      <dgm:prSet/>
      <dgm:spPr/>
      <dgm:t>
        <a:bodyPr/>
        <a:lstStyle/>
        <a:p>
          <a:endParaRPr lang="en-US"/>
        </a:p>
      </dgm:t>
    </dgm:pt>
    <dgm:pt modelId="{37555194-9D3B-4BC4-81F1-F815425DB624}" type="pres">
      <dgm:prSet presAssocID="{FE748000-79E3-4D4F-9194-05C07819A1A5}" presName="outerComposite" presStyleCnt="0">
        <dgm:presLayoutVars>
          <dgm:chMax val="5"/>
          <dgm:dir/>
          <dgm:resizeHandles val="exact"/>
        </dgm:presLayoutVars>
      </dgm:prSet>
      <dgm:spPr/>
    </dgm:pt>
    <dgm:pt modelId="{1AF089C3-7B9E-4D5A-BC8F-996DD3CFD86E}" type="pres">
      <dgm:prSet presAssocID="{FE748000-79E3-4D4F-9194-05C07819A1A5}" presName="dummyMaxCanvas" presStyleCnt="0">
        <dgm:presLayoutVars/>
      </dgm:prSet>
      <dgm:spPr/>
    </dgm:pt>
    <dgm:pt modelId="{C7C85172-460E-40FE-A834-27DDD99EFF70}" type="pres">
      <dgm:prSet presAssocID="{FE748000-79E3-4D4F-9194-05C07819A1A5}" presName="ThreeNodes_1" presStyleLbl="node1" presStyleIdx="0" presStyleCnt="3">
        <dgm:presLayoutVars>
          <dgm:bulletEnabled val="1"/>
        </dgm:presLayoutVars>
      </dgm:prSet>
      <dgm:spPr/>
    </dgm:pt>
    <dgm:pt modelId="{E4A0CE40-F498-48BC-BFA6-01DD3C60B6FF}" type="pres">
      <dgm:prSet presAssocID="{FE748000-79E3-4D4F-9194-05C07819A1A5}" presName="ThreeNodes_2" presStyleLbl="node1" presStyleIdx="1" presStyleCnt="3">
        <dgm:presLayoutVars>
          <dgm:bulletEnabled val="1"/>
        </dgm:presLayoutVars>
      </dgm:prSet>
      <dgm:spPr/>
    </dgm:pt>
    <dgm:pt modelId="{B70C3872-E562-4FFF-B089-8A50122AAA10}" type="pres">
      <dgm:prSet presAssocID="{FE748000-79E3-4D4F-9194-05C07819A1A5}" presName="ThreeNodes_3" presStyleLbl="node1" presStyleIdx="2" presStyleCnt="3">
        <dgm:presLayoutVars>
          <dgm:bulletEnabled val="1"/>
        </dgm:presLayoutVars>
      </dgm:prSet>
      <dgm:spPr/>
    </dgm:pt>
    <dgm:pt modelId="{A63708D9-76CE-47EA-897F-987845B0C94A}" type="pres">
      <dgm:prSet presAssocID="{FE748000-79E3-4D4F-9194-05C07819A1A5}" presName="ThreeConn_1-2" presStyleLbl="fgAccFollowNode1" presStyleIdx="0" presStyleCnt="2">
        <dgm:presLayoutVars>
          <dgm:bulletEnabled val="1"/>
        </dgm:presLayoutVars>
      </dgm:prSet>
      <dgm:spPr/>
    </dgm:pt>
    <dgm:pt modelId="{3A8D87FE-B27E-40B8-9A8E-2F4BAA6AF663}" type="pres">
      <dgm:prSet presAssocID="{FE748000-79E3-4D4F-9194-05C07819A1A5}" presName="ThreeConn_2-3" presStyleLbl="fgAccFollowNode1" presStyleIdx="1" presStyleCnt="2">
        <dgm:presLayoutVars>
          <dgm:bulletEnabled val="1"/>
        </dgm:presLayoutVars>
      </dgm:prSet>
      <dgm:spPr/>
    </dgm:pt>
    <dgm:pt modelId="{D5823953-8CAD-4823-BA12-0FC7D60253BF}" type="pres">
      <dgm:prSet presAssocID="{FE748000-79E3-4D4F-9194-05C07819A1A5}" presName="ThreeNodes_1_text" presStyleLbl="node1" presStyleIdx="2" presStyleCnt="3">
        <dgm:presLayoutVars>
          <dgm:bulletEnabled val="1"/>
        </dgm:presLayoutVars>
      </dgm:prSet>
      <dgm:spPr/>
    </dgm:pt>
    <dgm:pt modelId="{18C84579-1314-4F1B-A90C-96995602654A}" type="pres">
      <dgm:prSet presAssocID="{FE748000-79E3-4D4F-9194-05C07819A1A5}" presName="ThreeNodes_2_text" presStyleLbl="node1" presStyleIdx="2" presStyleCnt="3">
        <dgm:presLayoutVars>
          <dgm:bulletEnabled val="1"/>
        </dgm:presLayoutVars>
      </dgm:prSet>
      <dgm:spPr/>
    </dgm:pt>
    <dgm:pt modelId="{CA2590FB-8264-4B91-A798-532772CAA832}" type="pres">
      <dgm:prSet presAssocID="{FE748000-79E3-4D4F-9194-05C07819A1A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1FF4701-CC9A-4130-BFE6-B7441010EA0E}" type="presOf" srcId="{50EA6D11-F4A3-476E-BCDA-76BB46EDBBEF}" destId="{B70C3872-E562-4FFF-B089-8A50122AAA10}" srcOrd="0" destOrd="0" presId="urn:microsoft.com/office/officeart/2005/8/layout/vProcess5"/>
    <dgm:cxn modelId="{0A134F24-41F7-4C08-9EA4-67183B4F81A0}" type="presOf" srcId="{DFB9567C-CC86-4071-9C06-4D30064318F9}" destId="{D5823953-8CAD-4823-BA12-0FC7D60253BF}" srcOrd="1" destOrd="0" presId="urn:microsoft.com/office/officeart/2005/8/layout/vProcess5"/>
    <dgm:cxn modelId="{37B4643C-1542-4195-9A42-126C02BCFFA8}" type="presOf" srcId="{BC9AB27E-8CC7-4C04-A5C0-8CB6A183D86F}" destId="{18C84579-1314-4F1B-A90C-96995602654A}" srcOrd="1" destOrd="0" presId="urn:microsoft.com/office/officeart/2005/8/layout/vProcess5"/>
    <dgm:cxn modelId="{0A9CAB70-32A7-4DE1-9F95-F88A9C6F8C57}" type="presOf" srcId="{DFB9567C-CC86-4071-9C06-4D30064318F9}" destId="{C7C85172-460E-40FE-A834-27DDD99EFF70}" srcOrd="0" destOrd="0" presId="urn:microsoft.com/office/officeart/2005/8/layout/vProcess5"/>
    <dgm:cxn modelId="{51B75A7C-E3F5-4F4A-A8D1-E9CCF3E7A010}" type="presOf" srcId="{50EA6D11-F4A3-476E-BCDA-76BB46EDBBEF}" destId="{CA2590FB-8264-4B91-A798-532772CAA832}" srcOrd="1" destOrd="0" presId="urn:microsoft.com/office/officeart/2005/8/layout/vProcess5"/>
    <dgm:cxn modelId="{08DA1A89-1A31-413E-B083-135716FFA6CE}" srcId="{FE748000-79E3-4D4F-9194-05C07819A1A5}" destId="{50EA6D11-F4A3-476E-BCDA-76BB46EDBBEF}" srcOrd="2" destOrd="0" parTransId="{9A0880CE-69FB-440F-86C8-89F83BAAD0AD}" sibTransId="{1D67A059-BA54-4AB0-8F1F-466AFD7E8DA1}"/>
    <dgm:cxn modelId="{DFC30B93-BD7A-4CC8-B19F-2D5462F56D3E}" type="presOf" srcId="{FE748000-79E3-4D4F-9194-05C07819A1A5}" destId="{37555194-9D3B-4BC4-81F1-F815425DB624}" srcOrd="0" destOrd="0" presId="urn:microsoft.com/office/officeart/2005/8/layout/vProcess5"/>
    <dgm:cxn modelId="{CBC4A0AC-4F00-499C-8856-79F1656C7B3D}" srcId="{FE748000-79E3-4D4F-9194-05C07819A1A5}" destId="{BC9AB27E-8CC7-4C04-A5C0-8CB6A183D86F}" srcOrd="1" destOrd="0" parTransId="{222A9953-D667-4570-B217-C6C939C01BCC}" sibTransId="{EB3C2AD0-030F-454B-AA4A-BCD3E54D4393}"/>
    <dgm:cxn modelId="{2C540CAF-CBF8-4551-89C1-31FB3815DD07}" type="presOf" srcId="{EB3C2AD0-030F-454B-AA4A-BCD3E54D4393}" destId="{3A8D87FE-B27E-40B8-9A8E-2F4BAA6AF663}" srcOrd="0" destOrd="0" presId="urn:microsoft.com/office/officeart/2005/8/layout/vProcess5"/>
    <dgm:cxn modelId="{6F1DEBC9-76C2-4C26-9344-A752279C32D8}" type="presOf" srcId="{FEAEF4CD-BEAD-4091-A220-C69EFF19746B}" destId="{A63708D9-76CE-47EA-897F-987845B0C94A}" srcOrd="0" destOrd="0" presId="urn:microsoft.com/office/officeart/2005/8/layout/vProcess5"/>
    <dgm:cxn modelId="{FCB2BDCC-0064-4F48-96AB-A4A90FAF61E8}" type="presOf" srcId="{BC9AB27E-8CC7-4C04-A5C0-8CB6A183D86F}" destId="{E4A0CE40-F498-48BC-BFA6-01DD3C60B6FF}" srcOrd="0" destOrd="0" presId="urn:microsoft.com/office/officeart/2005/8/layout/vProcess5"/>
    <dgm:cxn modelId="{349632DF-6636-41D2-8F86-1E4D3D907EC0}" srcId="{FE748000-79E3-4D4F-9194-05C07819A1A5}" destId="{DFB9567C-CC86-4071-9C06-4D30064318F9}" srcOrd="0" destOrd="0" parTransId="{5CE16FF7-D1EF-4D58-A54B-25D241FC8C43}" sibTransId="{FEAEF4CD-BEAD-4091-A220-C69EFF19746B}"/>
    <dgm:cxn modelId="{2BCA5DF8-390E-497A-A467-88D2155FA32E}" type="presParOf" srcId="{37555194-9D3B-4BC4-81F1-F815425DB624}" destId="{1AF089C3-7B9E-4D5A-BC8F-996DD3CFD86E}" srcOrd="0" destOrd="0" presId="urn:microsoft.com/office/officeart/2005/8/layout/vProcess5"/>
    <dgm:cxn modelId="{093FF503-BFE2-4868-9719-27BA2DB82D1E}" type="presParOf" srcId="{37555194-9D3B-4BC4-81F1-F815425DB624}" destId="{C7C85172-460E-40FE-A834-27DDD99EFF70}" srcOrd="1" destOrd="0" presId="urn:microsoft.com/office/officeart/2005/8/layout/vProcess5"/>
    <dgm:cxn modelId="{55F4EEFA-F882-449D-9EB8-245FD017EC41}" type="presParOf" srcId="{37555194-9D3B-4BC4-81F1-F815425DB624}" destId="{E4A0CE40-F498-48BC-BFA6-01DD3C60B6FF}" srcOrd="2" destOrd="0" presId="urn:microsoft.com/office/officeart/2005/8/layout/vProcess5"/>
    <dgm:cxn modelId="{4C0ED233-EEED-496A-8775-2C1B87497C54}" type="presParOf" srcId="{37555194-9D3B-4BC4-81F1-F815425DB624}" destId="{B70C3872-E562-4FFF-B089-8A50122AAA10}" srcOrd="3" destOrd="0" presId="urn:microsoft.com/office/officeart/2005/8/layout/vProcess5"/>
    <dgm:cxn modelId="{16D87DF3-47EE-4C09-999D-AB5A7511EBBC}" type="presParOf" srcId="{37555194-9D3B-4BC4-81F1-F815425DB624}" destId="{A63708D9-76CE-47EA-897F-987845B0C94A}" srcOrd="4" destOrd="0" presId="urn:microsoft.com/office/officeart/2005/8/layout/vProcess5"/>
    <dgm:cxn modelId="{DB1639CD-5F82-475D-A32E-5CD8E0FDBEF0}" type="presParOf" srcId="{37555194-9D3B-4BC4-81F1-F815425DB624}" destId="{3A8D87FE-B27E-40B8-9A8E-2F4BAA6AF663}" srcOrd="5" destOrd="0" presId="urn:microsoft.com/office/officeart/2005/8/layout/vProcess5"/>
    <dgm:cxn modelId="{0D256B08-5B32-460D-9F11-290E7F22436E}" type="presParOf" srcId="{37555194-9D3B-4BC4-81F1-F815425DB624}" destId="{D5823953-8CAD-4823-BA12-0FC7D60253BF}" srcOrd="6" destOrd="0" presId="urn:microsoft.com/office/officeart/2005/8/layout/vProcess5"/>
    <dgm:cxn modelId="{7EEE4D38-BF8C-4F0D-8BB1-62F27E817345}" type="presParOf" srcId="{37555194-9D3B-4BC4-81F1-F815425DB624}" destId="{18C84579-1314-4F1B-A90C-96995602654A}" srcOrd="7" destOrd="0" presId="urn:microsoft.com/office/officeart/2005/8/layout/vProcess5"/>
    <dgm:cxn modelId="{BAB48705-CCB1-4A15-AFF4-EC332B873A04}" type="presParOf" srcId="{37555194-9D3B-4BC4-81F1-F815425DB624}" destId="{CA2590FB-8264-4B91-A798-532772CAA83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30AF9D-FF49-4A34-B7C4-A37CF835939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8D0191-1772-4CE4-BC7F-DFECC4B7E0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Trends: Intelligente LS-Schalter mit Strommessung &amp; WLAN.</a:t>
          </a:r>
          <a:endParaRPr lang="en-US"/>
        </a:p>
      </dgm:t>
    </dgm:pt>
    <dgm:pt modelId="{E413CA3B-6A6F-4550-B3ED-CEAA9B6D5821}" type="parTrans" cxnId="{283C0F3F-C77E-42F8-ABD4-DBA7C7DE41D8}">
      <dgm:prSet/>
      <dgm:spPr/>
      <dgm:t>
        <a:bodyPr/>
        <a:lstStyle/>
        <a:p>
          <a:endParaRPr lang="en-US"/>
        </a:p>
      </dgm:t>
    </dgm:pt>
    <dgm:pt modelId="{CEC4E829-F1D7-47F7-8D28-D8DF395899ED}" type="sibTrans" cxnId="{283C0F3F-C77E-42F8-ABD4-DBA7C7DE41D8}">
      <dgm:prSet/>
      <dgm:spPr/>
      <dgm:t>
        <a:bodyPr/>
        <a:lstStyle/>
        <a:p>
          <a:endParaRPr lang="en-US"/>
        </a:p>
      </dgm:t>
    </dgm:pt>
    <dgm:pt modelId="{1535D2C9-9A5C-4252-B386-FDCB4918DB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Ziele: Mehr Sicherheit, Energieüberwachung.</a:t>
          </a:r>
          <a:endParaRPr lang="en-US"/>
        </a:p>
      </dgm:t>
    </dgm:pt>
    <dgm:pt modelId="{A6E3363B-2FB3-4FF3-9434-DED5FCC77A52}" type="parTrans" cxnId="{C5DD7FC0-C896-4695-AC11-52EC0D6EA5C6}">
      <dgm:prSet/>
      <dgm:spPr/>
      <dgm:t>
        <a:bodyPr/>
        <a:lstStyle/>
        <a:p>
          <a:endParaRPr lang="en-US"/>
        </a:p>
      </dgm:t>
    </dgm:pt>
    <dgm:pt modelId="{BB273810-7EBB-4186-A160-D4AB298787BF}" type="sibTrans" cxnId="{C5DD7FC0-C896-4695-AC11-52EC0D6EA5C6}">
      <dgm:prSet/>
      <dgm:spPr/>
      <dgm:t>
        <a:bodyPr/>
        <a:lstStyle/>
        <a:p>
          <a:endParaRPr lang="en-US"/>
        </a:p>
      </dgm:t>
    </dgm:pt>
    <dgm:pt modelId="{50B0EB43-213D-4F41-A5AD-08A548DAC4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Normen: Weiterentwicklung nach IEC 60898 / EN 60947.</a:t>
          </a:r>
          <a:endParaRPr lang="en-US"/>
        </a:p>
      </dgm:t>
    </dgm:pt>
    <dgm:pt modelId="{2658B10F-29A0-4106-B2B1-6DD9AAE0077B}" type="parTrans" cxnId="{5647DA37-70A1-4998-BA8E-0338D71AA013}">
      <dgm:prSet/>
      <dgm:spPr/>
      <dgm:t>
        <a:bodyPr/>
        <a:lstStyle/>
        <a:p>
          <a:endParaRPr lang="en-US"/>
        </a:p>
      </dgm:t>
    </dgm:pt>
    <dgm:pt modelId="{C8F50ED3-3776-4AF7-A781-2FC7C14ACD80}" type="sibTrans" cxnId="{5647DA37-70A1-4998-BA8E-0338D71AA013}">
      <dgm:prSet/>
      <dgm:spPr/>
      <dgm:t>
        <a:bodyPr/>
        <a:lstStyle/>
        <a:p>
          <a:endParaRPr lang="en-US"/>
        </a:p>
      </dgm:t>
    </dgm:pt>
    <dgm:pt modelId="{C13FA1CB-A653-41A0-8447-4749FE46644A}" type="pres">
      <dgm:prSet presAssocID="{2630AF9D-FF49-4A34-B7C4-A37CF835939F}" presName="root" presStyleCnt="0">
        <dgm:presLayoutVars>
          <dgm:dir/>
          <dgm:resizeHandles val="exact"/>
        </dgm:presLayoutVars>
      </dgm:prSet>
      <dgm:spPr/>
    </dgm:pt>
    <dgm:pt modelId="{8B0C479F-6B9D-4E91-B17A-C708A39CFF5B}" type="pres">
      <dgm:prSet presAssocID="{2F8D0191-1772-4CE4-BC7F-DFECC4B7E0E4}" presName="compNode" presStyleCnt="0"/>
      <dgm:spPr/>
    </dgm:pt>
    <dgm:pt modelId="{0A1CA30B-F8D2-4341-A937-3119B2FF8386}" type="pres">
      <dgm:prSet presAssocID="{2F8D0191-1772-4CE4-BC7F-DFECC4B7E0E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htlos"/>
        </a:ext>
      </dgm:extLst>
    </dgm:pt>
    <dgm:pt modelId="{87EE4B02-0954-40F4-BB50-AEEA048961A5}" type="pres">
      <dgm:prSet presAssocID="{2F8D0191-1772-4CE4-BC7F-DFECC4B7E0E4}" presName="spaceRect" presStyleCnt="0"/>
      <dgm:spPr/>
    </dgm:pt>
    <dgm:pt modelId="{61DB31F2-38DF-44FB-AFBA-BA73B7B5A251}" type="pres">
      <dgm:prSet presAssocID="{2F8D0191-1772-4CE4-BC7F-DFECC4B7E0E4}" presName="textRect" presStyleLbl="revTx" presStyleIdx="0" presStyleCnt="3">
        <dgm:presLayoutVars>
          <dgm:chMax val="1"/>
          <dgm:chPref val="1"/>
        </dgm:presLayoutVars>
      </dgm:prSet>
      <dgm:spPr/>
    </dgm:pt>
    <dgm:pt modelId="{B97506FD-DF2B-4ABE-82FE-AADEF8ACC7E5}" type="pres">
      <dgm:prSet presAssocID="{CEC4E829-F1D7-47F7-8D28-D8DF395899ED}" presName="sibTrans" presStyleCnt="0"/>
      <dgm:spPr/>
    </dgm:pt>
    <dgm:pt modelId="{D371C638-1BEA-4A9C-AD75-BB2D3C5EFB44}" type="pres">
      <dgm:prSet presAssocID="{1535D2C9-9A5C-4252-B386-FDCB4918DBF7}" presName="compNode" presStyleCnt="0"/>
      <dgm:spPr/>
    </dgm:pt>
    <dgm:pt modelId="{9F566C04-D33F-48DF-ADD0-F5043FA52379}" type="pres">
      <dgm:prSet presAssocID="{1535D2C9-9A5C-4252-B386-FDCB4918DBF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2DC6BF80-D332-4A53-8D60-3ED8F3FC3E2E}" type="pres">
      <dgm:prSet presAssocID="{1535D2C9-9A5C-4252-B386-FDCB4918DBF7}" presName="spaceRect" presStyleCnt="0"/>
      <dgm:spPr/>
    </dgm:pt>
    <dgm:pt modelId="{8C6A1CB2-55C9-42FE-ABCF-61D73A2C245A}" type="pres">
      <dgm:prSet presAssocID="{1535D2C9-9A5C-4252-B386-FDCB4918DBF7}" presName="textRect" presStyleLbl="revTx" presStyleIdx="1" presStyleCnt="3">
        <dgm:presLayoutVars>
          <dgm:chMax val="1"/>
          <dgm:chPref val="1"/>
        </dgm:presLayoutVars>
      </dgm:prSet>
      <dgm:spPr/>
    </dgm:pt>
    <dgm:pt modelId="{E62D8C67-1ACC-424A-93D0-11279D9B982E}" type="pres">
      <dgm:prSet presAssocID="{BB273810-7EBB-4186-A160-D4AB298787BF}" presName="sibTrans" presStyleCnt="0"/>
      <dgm:spPr/>
    </dgm:pt>
    <dgm:pt modelId="{1E2638F8-A295-4C95-8007-9B5040F061F5}" type="pres">
      <dgm:prSet presAssocID="{50B0EB43-213D-4F41-A5AD-08A548DAC445}" presName="compNode" presStyleCnt="0"/>
      <dgm:spPr/>
    </dgm:pt>
    <dgm:pt modelId="{908AC3ED-0176-4297-89BA-8E3490C3F060}" type="pres">
      <dgm:prSet presAssocID="{50B0EB43-213D-4F41-A5AD-08A548DAC44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F6ADF681-B460-42FF-A138-513C6CF3D89D}" type="pres">
      <dgm:prSet presAssocID="{50B0EB43-213D-4F41-A5AD-08A548DAC445}" presName="spaceRect" presStyleCnt="0"/>
      <dgm:spPr/>
    </dgm:pt>
    <dgm:pt modelId="{9524505B-AF5B-4D33-B339-D9C64FB107EE}" type="pres">
      <dgm:prSet presAssocID="{50B0EB43-213D-4F41-A5AD-08A548DAC44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F6FBE19-D9D7-4D56-92F7-AB4DF3AF754A}" type="presOf" srcId="{2630AF9D-FF49-4A34-B7C4-A37CF835939F}" destId="{C13FA1CB-A653-41A0-8447-4749FE46644A}" srcOrd="0" destOrd="0" presId="urn:microsoft.com/office/officeart/2018/2/layout/IconLabelList"/>
    <dgm:cxn modelId="{2C6FD230-BFAD-4ED4-9FBD-28AF139093D1}" type="presOf" srcId="{1535D2C9-9A5C-4252-B386-FDCB4918DBF7}" destId="{8C6A1CB2-55C9-42FE-ABCF-61D73A2C245A}" srcOrd="0" destOrd="0" presId="urn:microsoft.com/office/officeart/2018/2/layout/IconLabelList"/>
    <dgm:cxn modelId="{5647DA37-70A1-4998-BA8E-0338D71AA013}" srcId="{2630AF9D-FF49-4A34-B7C4-A37CF835939F}" destId="{50B0EB43-213D-4F41-A5AD-08A548DAC445}" srcOrd="2" destOrd="0" parTransId="{2658B10F-29A0-4106-B2B1-6DD9AAE0077B}" sibTransId="{C8F50ED3-3776-4AF7-A781-2FC7C14ACD80}"/>
    <dgm:cxn modelId="{283C0F3F-C77E-42F8-ABD4-DBA7C7DE41D8}" srcId="{2630AF9D-FF49-4A34-B7C4-A37CF835939F}" destId="{2F8D0191-1772-4CE4-BC7F-DFECC4B7E0E4}" srcOrd="0" destOrd="0" parTransId="{E413CA3B-6A6F-4550-B3ED-CEAA9B6D5821}" sibTransId="{CEC4E829-F1D7-47F7-8D28-D8DF395899ED}"/>
    <dgm:cxn modelId="{11B4958D-7A00-4A00-843D-1E91374D48FE}" type="presOf" srcId="{2F8D0191-1772-4CE4-BC7F-DFECC4B7E0E4}" destId="{61DB31F2-38DF-44FB-AFBA-BA73B7B5A251}" srcOrd="0" destOrd="0" presId="urn:microsoft.com/office/officeart/2018/2/layout/IconLabelList"/>
    <dgm:cxn modelId="{C5DD7FC0-C896-4695-AC11-52EC0D6EA5C6}" srcId="{2630AF9D-FF49-4A34-B7C4-A37CF835939F}" destId="{1535D2C9-9A5C-4252-B386-FDCB4918DBF7}" srcOrd="1" destOrd="0" parTransId="{A6E3363B-2FB3-4FF3-9434-DED5FCC77A52}" sibTransId="{BB273810-7EBB-4186-A160-D4AB298787BF}"/>
    <dgm:cxn modelId="{40297FE2-B0E5-45F7-A19F-DC55E0B1353D}" type="presOf" srcId="{50B0EB43-213D-4F41-A5AD-08A548DAC445}" destId="{9524505B-AF5B-4D33-B339-D9C64FB107EE}" srcOrd="0" destOrd="0" presId="urn:microsoft.com/office/officeart/2018/2/layout/IconLabelList"/>
    <dgm:cxn modelId="{43B76F1B-82B8-4691-89B1-A077F3DA0FE4}" type="presParOf" srcId="{C13FA1CB-A653-41A0-8447-4749FE46644A}" destId="{8B0C479F-6B9D-4E91-B17A-C708A39CFF5B}" srcOrd="0" destOrd="0" presId="urn:microsoft.com/office/officeart/2018/2/layout/IconLabelList"/>
    <dgm:cxn modelId="{022807F8-FD7F-41AF-AD08-04F458555CC8}" type="presParOf" srcId="{8B0C479F-6B9D-4E91-B17A-C708A39CFF5B}" destId="{0A1CA30B-F8D2-4341-A937-3119B2FF8386}" srcOrd="0" destOrd="0" presId="urn:microsoft.com/office/officeart/2018/2/layout/IconLabelList"/>
    <dgm:cxn modelId="{649DBBA1-E43B-407E-87D1-3A7783A9F7FB}" type="presParOf" srcId="{8B0C479F-6B9D-4E91-B17A-C708A39CFF5B}" destId="{87EE4B02-0954-40F4-BB50-AEEA048961A5}" srcOrd="1" destOrd="0" presId="urn:microsoft.com/office/officeart/2018/2/layout/IconLabelList"/>
    <dgm:cxn modelId="{6AB7328C-B027-4746-B956-BCEC5F779B83}" type="presParOf" srcId="{8B0C479F-6B9D-4E91-B17A-C708A39CFF5B}" destId="{61DB31F2-38DF-44FB-AFBA-BA73B7B5A251}" srcOrd="2" destOrd="0" presId="urn:microsoft.com/office/officeart/2018/2/layout/IconLabelList"/>
    <dgm:cxn modelId="{6EC7A53B-A894-4EFC-8C45-5288F9EE3171}" type="presParOf" srcId="{C13FA1CB-A653-41A0-8447-4749FE46644A}" destId="{B97506FD-DF2B-4ABE-82FE-AADEF8ACC7E5}" srcOrd="1" destOrd="0" presId="urn:microsoft.com/office/officeart/2018/2/layout/IconLabelList"/>
    <dgm:cxn modelId="{B0C389C3-0B8F-4B0F-8D7B-B2067F57AE78}" type="presParOf" srcId="{C13FA1CB-A653-41A0-8447-4749FE46644A}" destId="{D371C638-1BEA-4A9C-AD75-BB2D3C5EFB44}" srcOrd="2" destOrd="0" presId="urn:microsoft.com/office/officeart/2018/2/layout/IconLabelList"/>
    <dgm:cxn modelId="{84A12CB7-694F-489E-9735-4C9C8FBC24E0}" type="presParOf" srcId="{D371C638-1BEA-4A9C-AD75-BB2D3C5EFB44}" destId="{9F566C04-D33F-48DF-ADD0-F5043FA52379}" srcOrd="0" destOrd="0" presId="urn:microsoft.com/office/officeart/2018/2/layout/IconLabelList"/>
    <dgm:cxn modelId="{21821521-472C-4455-B2EA-0FFF4706FB02}" type="presParOf" srcId="{D371C638-1BEA-4A9C-AD75-BB2D3C5EFB44}" destId="{2DC6BF80-D332-4A53-8D60-3ED8F3FC3E2E}" srcOrd="1" destOrd="0" presId="urn:microsoft.com/office/officeart/2018/2/layout/IconLabelList"/>
    <dgm:cxn modelId="{D1182CB1-3490-4154-9DD0-CE603BA286FD}" type="presParOf" srcId="{D371C638-1BEA-4A9C-AD75-BB2D3C5EFB44}" destId="{8C6A1CB2-55C9-42FE-ABCF-61D73A2C245A}" srcOrd="2" destOrd="0" presId="urn:microsoft.com/office/officeart/2018/2/layout/IconLabelList"/>
    <dgm:cxn modelId="{73204E9E-34B3-4290-B88F-73E6376339EA}" type="presParOf" srcId="{C13FA1CB-A653-41A0-8447-4749FE46644A}" destId="{E62D8C67-1ACC-424A-93D0-11279D9B982E}" srcOrd="3" destOrd="0" presId="urn:microsoft.com/office/officeart/2018/2/layout/IconLabelList"/>
    <dgm:cxn modelId="{D9190EAD-39B2-4CE7-A687-D08A0FFE4493}" type="presParOf" srcId="{C13FA1CB-A653-41A0-8447-4749FE46644A}" destId="{1E2638F8-A295-4C95-8007-9B5040F061F5}" srcOrd="4" destOrd="0" presId="urn:microsoft.com/office/officeart/2018/2/layout/IconLabelList"/>
    <dgm:cxn modelId="{ECF86C94-FCA2-4963-B5C9-7BA0F1129BED}" type="presParOf" srcId="{1E2638F8-A295-4C95-8007-9B5040F061F5}" destId="{908AC3ED-0176-4297-89BA-8E3490C3F060}" srcOrd="0" destOrd="0" presId="urn:microsoft.com/office/officeart/2018/2/layout/IconLabelList"/>
    <dgm:cxn modelId="{ADBE2A82-E6C8-4FE5-9FC7-72DF918989B4}" type="presParOf" srcId="{1E2638F8-A295-4C95-8007-9B5040F061F5}" destId="{F6ADF681-B460-42FF-A138-513C6CF3D89D}" srcOrd="1" destOrd="0" presId="urn:microsoft.com/office/officeart/2018/2/layout/IconLabelList"/>
    <dgm:cxn modelId="{9773A9AB-11CF-4E24-BE4D-D4FBDC07CB6E}" type="presParOf" srcId="{1E2638F8-A295-4C95-8007-9B5040F061F5}" destId="{9524505B-AF5B-4D33-B339-D9C64FB107E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85172-460E-40FE-A834-27DDD99EFF70}">
      <dsp:nvSpPr>
        <dsp:cNvPr id="0" name=""/>
        <dsp:cNvSpPr/>
      </dsp:nvSpPr>
      <dsp:spPr>
        <a:xfrm>
          <a:off x="0" y="0"/>
          <a:ext cx="6284596" cy="12604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Thema: Leitungsschutzschalter und ihre Bedeutung in elektrischen Anlagen.</a:t>
          </a:r>
          <a:endParaRPr lang="en-US" sz="2400" kern="1200"/>
        </a:p>
      </dsp:txBody>
      <dsp:txXfrm>
        <a:off x="36917" y="36917"/>
        <a:ext cx="4924480" cy="1186609"/>
      </dsp:txXfrm>
    </dsp:sp>
    <dsp:sp modelId="{E4A0CE40-F498-48BC-BFA6-01DD3C60B6FF}">
      <dsp:nvSpPr>
        <dsp:cNvPr id="0" name=""/>
        <dsp:cNvSpPr/>
      </dsp:nvSpPr>
      <dsp:spPr>
        <a:xfrm>
          <a:off x="554523" y="1470517"/>
          <a:ext cx="6284596" cy="1260443"/>
        </a:xfrm>
        <a:prstGeom prst="roundRect">
          <a:avLst>
            <a:gd name="adj" fmla="val 10000"/>
          </a:avLst>
        </a:prstGeom>
        <a:solidFill>
          <a:schemeClr val="accent2">
            <a:hueOff val="-3712334"/>
            <a:satOff val="1211"/>
            <a:lumOff val="-1079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Ziel: Aufbau, Funktion und Wichtigkeit von LS-Schaltern.</a:t>
          </a:r>
          <a:endParaRPr lang="en-US" sz="2400" kern="1200"/>
        </a:p>
      </dsp:txBody>
      <dsp:txXfrm>
        <a:off x="591440" y="1507434"/>
        <a:ext cx="4836951" cy="1186609"/>
      </dsp:txXfrm>
    </dsp:sp>
    <dsp:sp modelId="{B70C3872-E562-4FFF-B089-8A50122AAA10}">
      <dsp:nvSpPr>
        <dsp:cNvPr id="0" name=""/>
        <dsp:cNvSpPr/>
      </dsp:nvSpPr>
      <dsp:spPr>
        <a:xfrm>
          <a:off x="1109046" y="2941034"/>
          <a:ext cx="6284596" cy="1260443"/>
        </a:xfrm>
        <a:prstGeom prst="roundRect">
          <a:avLst>
            <a:gd name="adj" fmla="val 10000"/>
          </a:avLst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Gliederung: Grundlagen → Funktion → Einsatz → Auswahl → Wartung → Zukunft.</a:t>
          </a:r>
          <a:endParaRPr lang="en-US" sz="2400" kern="1200"/>
        </a:p>
      </dsp:txBody>
      <dsp:txXfrm>
        <a:off x="1145963" y="2977951"/>
        <a:ext cx="4836951" cy="1186609"/>
      </dsp:txXfrm>
    </dsp:sp>
    <dsp:sp modelId="{A63708D9-76CE-47EA-897F-987845B0C94A}">
      <dsp:nvSpPr>
        <dsp:cNvPr id="0" name=""/>
        <dsp:cNvSpPr/>
      </dsp:nvSpPr>
      <dsp:spPr>
        <a:xfrm>
          <a:off x="5465308" y="955836"/>
          <a:ext cx="819288" cy="819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649648" y="955836"/>
        <a:ext cx="450608" cy="616514"/>
      </dsp:txXfrm>
    </dsp:sp>
    <dsp:sp modelId="{3A8D87FE-B27E-40B8-9A8E-2F4BAA6AF663}">
      <dsp:nvSpPr>
        <dsp:cNvPr id="0" name=""/>
        <dsp:cNvSpPr/>
      </dsp:nvSpPr>
      <dsp:spPr>
        <a:xfrm>
          <a:off x="6019831" y="2417950"/>
          <a:ext cx="819288" cy="819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408615"/>
            <a:satOff val="1581"/>
            <a:lumOff val="-519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-7408615"/>
              <a:satOff val="1581"/>
              <a:lumOff val="-5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204171" y="2417950"/>
        <a:ext cx="450608" cy="616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CA30B-F8D2-4341-A937-3119B2FF8386}">
      <dsp:nvSpPr>
        <dsp:cNvPr id="0" name=""/>
        <dsp:cNvSpPr/>
      </dsp:nvSpPr>
      <dsp:spPr>
        <a:xfrm>
          <a:off x="703259" y="1275666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B31F2-38DF-44FB-AFBA-BA73B7B5A251}">
      <dsp:nvSpPr>
        <dsp:cNvPr id="0" name=""/>
        <dsp:cNvSpPr/>
      </dsp:nvSpPr>
      <dsp:spPr>
        <a:xfrm>
          <a:off x="208259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/>
            <a:t>Trends: Intelligente LS-Schalter mit Strommessung &amp; WLAN.</a:t>
          </a:r>
          <a:endParaRPr lang="en-US" sz="1200" kern="1200"/>
        </a:p>
      </dsp:txBody>
      <dsp:txXfrm>
        <a:off x="208259" y="2355670"/>
        <a:ext cx="1800000" cy="720000"/>
      </dsp:txXfrm>
    </dsp:sp>
    <dsp:sp modelId="{9F566C04-D33F-48DF-ADD0-F5043FA52379}">
      <dsp:nvSpPr>
        <dsp:cNvPr id="0" name=""/>
        <dsp:cNvSpPr/>
      </dsp:nvSpPr>
      <dsp:spPr>
        <a:xfrm>
          <a:off x="2818260" y="1275666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A1CB2-55C9-42FE-ABCF-61D73A2C245A}">
      <dsp:nvSpPr>
        <dsp:cNvPr id="0" name=""/>
        <dsp:cNvSpPr/>
      </dsp:nvSpPr>
      <dsp:spPr>
        <a:xfrm>
          <a:off x="232326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/>
            <a:t>Ziele: Mehr Sicherheit, Energieüberwachung.</a:t>
          </a:r>
          <a:endParaRPr lang="en-US" sz="1200" kern="1200"/>
        </a:p>
      </dsp:txBody>
      <dsp:txXfrm>
        <a:off x="2323260" y="2355670"/>
        <a:ext cx="1800000" cy="720000"/>
      </dsp:txXfrm>
    </dsp:sp>
    <dsp:sp modelId="{908AC3ED-0176-4297-89BA-8E3490C3F060}">
      <dsp:nvSpPr>
        <dsp:cNvPr id="0" name=""/>
        <dsp:cNvSpPr/>
      </dsp:nvSpPr>
      <dsp:spPr>
        <a:xfrm>
          <a:off x="4933260" y="1275666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4505B-AF5B-4D33-B339-D9C64FB107EE}">
      <dsp:nvSpPr>
        <dsp:cNvPr id="0" name=""/>
        <dsp:cNvSpPr/>
      </dsp:nvSpPr>
      <dsp:spPr>
        <a:xfrm>
          <a:off x="443826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/>
            <a:t>Normen: Weiterentwicklung nach IEC 60898 / EN 60947.</a:t>
          </a:r>
          <a:endParaRPr lang="en-US" sz="1200" kern="1200"/>
        </a:p>
      </dsp:txBody>
      <dsp:txXfrm>
        <a:off x="4438260" y="235567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28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9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5421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60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9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0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02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0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5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4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71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35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2">
            <a:extLst>
              <a:ext uri="{FF2B5EF4-FFF2-40B4-BE49-F238E27FC236}">
                <a16:creationId xmlns:a16="http://schemas.microsoft.com/office/drawing/2014/main" id="{EFB0C39A-F8CA-4A79-AFFC-E9780FB19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fik 10" descr="Ein Bild, das Licht, Kerze, Wärme, Beleuchtung enthält.&#10;&#10;KI-generierte Inhalte können fehlerhaft sein.">
            <a:extLst>
              <a:ext uri="{FF2B5EF4-FFF2-40B4-BE49-F238E27FC236}">
                <a16:creationId xmlns:a16="http://schemas.microsoft.com/office/drawing/2014/main" id="{83985BD1-D75A-B972-249D-EE5C26CCCB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6117" r="7551" b="1"/>
          <a:stretch>
            <a:fillRect/>
          </a:stretch>
        </p:blipFill>
        <p:spPr>
          <a:xfrm>
            <a:off x="20" y="-2"/>
            <a:ext cx="9143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>
            <a:normAutofit/>
          </a:bodyPr>
          <a:lstStyle/>
          <a:p>
            <a:pPr algn="ctr"/>
            <a:r>
              <a:rPr lang="de-DE" sz="5100" dirty="0"/>
              <a:t>Leitungsschutzschalter (LS-Schalter) und ihre Funktionen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tx1"/>
                </a:solidFill>
              </a:rPr>
              <a:t>von</a:t>
            </a:r>
          </a:p>
          <a:p>
            <a:r>
              <a:rPr lang="de-DE">
                <a:solidFill>
                  <a:schemeClr val="tx1"/>
                </a:solidFill>
              </a:rPr>
              <a:t>Enrico und Tolga</a:t>
            </a:r>
            <a:endParaRPr lang="de-DE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656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22793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A3C6BF-704D-0139-0B9C-6625EECF8A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319430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774" y="365760"/>
            <a:ext cx="4498258" cy="1325562"/>
          </a:xfrm>
        </p:spPr>
        <p:txBody>
          <a:bodyPr>
            <a:normAutofit/>
          </a:bodyPr>
          <a:lstStyle/>
          <a:p>
            <a:r>
              <a:t>Grundlagen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C2BF78-EE5B-49C7-ADD9-58CDBD13E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354" y="2005739"/>
            <a:ext cx="4511678" cy="4174398"/>
          </a:xfrm>
        </p:spPr>
        <p:txBody>
          <a:bodyPr>
            <a:normAutofit/>
          </a:bodyPr>
          <a:lstStyle/>
          <a:p>
            <a:r>
              <a:t>Definition: Automatischer Schalter, der bei Überstrom abschaltet.</a:t>
            </a:r>
          </a:p>
          <a:p>
            <a:r>
              <a:t>Aufgabe: Schutz von Leitungen und Geräten vor Überlast und Kurzschluss.</a:t>
            </a:r>
          </a:p>
          <a:p>
            <a:r>
              <a:t>Vergleich: Sicherung = einmalig, FI-Schalter = Personenschutz, LS-Schalter = Leitungsschutz.</a:t>
            </a:r>
          </a:p>
        </p:txBody>
      </p:sp>
      <p:pic>
        <p:nvPicPr>
          <p:cNvPr id="4" name="Grafik 3" descr="Ein Bild, das Elektronik, Elektrische Leitungen, Maschine, Kabel enthält.&#10;&#10;KI-generierte Inhalte können fehlerhaft sein.">
            <a:extLst>
              <a:ext uri="{FF2B5EF4-FFF2-40B4-BE49-F238E27FC236}">
                <a16:creationId xmlns:a16="http://schemas.microsoft.com/office/drawing/2014/main" id="{9EA35854-6F47-D84D-1EF0-D38BAC8904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80" r="42551" b="-1"/>
          <a:stretch>
            <a:fillRect/>
          </a:stretch>
        </p:blipFill>
        <p:spPr>
          <a:xfrm>
            <a:off x="5654016" y="10"/>
            <a:ext cx="3489984" cy="6857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55" y="677863"/>
            <a:ext cx="3400535" cy="1325562"/>
          </a:xfrm>
        </p:spPr>
        <p:txBody>
          <a:bodyPr>
            <a:normAutofit/>
          </a:bodyPr>
          <a:lstStyle/>
          <a:p>
            <a:r>
              <a:rPr lang="de-DE" sz="3700"/>
              <a:t>Notwendigkeit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155" y="2325158"/>
            <a:ext cx="3400536" cy="3854979"/>
          </a:xfrm>
        </p:spPr>
        <p:txBody>
          <a:bodyPr>
            <a:normAutofit/>
          </a:bodyPr>
          <a:lstStyle/>
          <a:p>
            <a:r>
              <a:rPr dirty="0" err="1"/>
              <a:t>Gefahr</a:t>
            </a:r>
            <a:r>
              <a:rPr dirty="0"/>
              <a:t>: </a:t>
            </a:r>
            <a:r>
              <a:rPr dirty="0" err="1"/>
              <a:t>Überlast</a:t>
            </a:r>
            <a:r>
              <a:rPr dirty="0"/>
              <a:t> = </a:t>
            </a:r>
            <a:r>
              <a:rPr dirty="0" err="1"/>
              <a:t>Erwärmung</a:t>
            </a:r>
            <a:r>
              <a:rPr dirty="0"/>
              <a:t> → </a:t>
            </a:r>
            <a:r>
              <a:rPr dirty="0" err="1"/>
              <a:t>Brandgefahr</a:t>
            </a:r>
            <a:r>
              <a:rPr dirty="0"/>
              <a:t>.</a:t>
            </a:r>
          </a:p>
          <a:p>
            <a:r>
              <a:rPr dirty="0" err="1"/>
              <a:t>Kurzschluss</a:t>
            </a:r>
            <a:r>
              <a:rPr dirty="0"/>
              <a:t>: </a:t>
            </a:r>
            <a:r>
              <a:rPr dirty="0" err="1"/>
              <a:t>Extrem</a:t>
            </a:r>
            <a:r>
              <a:rPr dirty="0"/>
              <a:t> </a:t>
            </a:r>
            <a:r>
              <a:rPr dirty="0" err="1"/>
              <a:t>hoher</a:t>
            </a:r>
            <a:r>
              <a:rPr dirty="0"/>
              <a:t> Strom → </a:t>
            </a:r>
            <a:r>
              <a:rPr dirty="0" err="1"/>
              <a:t>Geräteschäden</a:t>
            </a:r>
            <a:r>
              <a:rPr dirty="0"/>
              <a:t>.</a:t>
            </a:r>
          </a:p>
          <a:p>
            <a:r>
              <a:rPr dirty="0" err="1"/>
              <a:t>Vorschrift</a:t>
            </a:r>
            <a:r>
              <a:rPr dirty="0"/>
              <a:t>: </a:t>
            </a:r>
            <a:r>
              <a:rPr dirty="0" err="1"/>
              <a:t>Pflicht</a:t>
            </a:r>
            <a:r>
              <a:rPr dirty="0"/>
              <a:t> </a:t>
            </a:r>
            <a:r>
              <a:rPr dirty="0" err="1"/>
              <a:t>laut</a:t>
            </a:r>
            <a:r>
              <a:rPr dirty="0"/>
              <a:t> VDE 0100 Teil 430.</a:t>
            </a:r>
          </a:p>
          <a:p>
            <a:r>
              <a:rPr dirty="0"/>
              <a:t>Zahl: Rund 30 % </a:t>
            </a:r>
            <a:r>
              <a:rPr dirty="0" err="1"/>
              <a:t>aller</a:t>
            </a:r>
            <a:r>
              <a:rPr dirty="0"/>
              <a:t> </a:t>
            </a:r>
            <a:r>
              <a:rPr dirty="0" err="1"/>
              <a:t>Elektrobrände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</a:t>
            </a:r>
            <a:r>
              <a:rPr dirty="0" err="1"/>
              <a:t>Überlast</a:t>
            </a:r>
            <a:r>
              <a:rPr dirty="0"/>
              <a:t>.</a:t>
            </a:r>
          </a:p>
        </p:txBody>
      </p:sp>
      <p:pic>
        <p:nvPicPr>
          <p:cNvPr id="5" name="Grafik 4" descr="Ein Bild, das Text, Screenshot, Schrift, parallel enthält.&#10;&#10;KI-generierte Inhalte können fehlerhaft sein.">
            <a:extLst>
              <a:ext uri="{FF2B5EF4-FFF2-40B4-BE49-F238E27FC236}">
                <a16:creationId xmlns:a16="http://schemas.microsoft.com/office/drawing/2014/main" id="{48EC43C7-24A7-B114-DB3D-6523DD652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867" y="667521"/>
            <a:ext cx="3907492" cy="5522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55" y="677863"/>
            <a:ext cx="3400535" cy="1325562"/>
          </a:xfrm>
        </p:spPr>
        <p:txBody>
          <a:bodyPr>
            <a:normAutofit/>
          </a:bodyPr>
          <a:lstStyle/>
          <a:p>
            <a:r>
              <a:rPr lang="de-DE"/>
              <a:t>Aufbau &amp; Funktion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155" y="2325158"/>
            <a:ext cx="3400536" cy="3854979"/>
          </a:xfrm>
        </p:spPr>
        <p:txBody>
          <a:bodyPr>
            <a:normAutofit/>
          </a:bodyPr>
          <a:lstStyle/>
          <a:p>
            <a:r>
              <a:rPr lang="de-DE"/>
              <a:t>Bestandteile: Bimetall (Überlast), Magnetspule (Kurzschluss), Schaltmechanik.</a:t>
            </a:r>
          </a:p>
          <a:p>
            <a:r>
              <a:rPr lang="de-DE"/>
              <a:t>Typen: B (3–5× In) → Wohnungen, C (5–10× In) → Gewerbe, D (10–20× In) → Industrie.</a:t>
            </a:r>
          </a:p>
          <a:p>
            <a:r>
              <a:rPr lang="de-DE"/>
              <a:t>Polzahl: 1-polig oder 3-polig.</a:t>
            </a:r>
          </a:p>
        </p:txBody>
      </p:sp>
      <p:pic>
        <p:nvPicPr>
          <p:cNvPr id="5" name="Grafik 4" descr="Ein Bild, das Maschine, Bautechnik enthält.&#10;&#10;KI-generierte Inhalte können fehlerhaft sein.">
            <a:extLst>
              <a:ext uri="{FF2B5EF4-FFF2-40B4-BE49-F238E27FC236}">
                <a16:creationId xmlns:a16="http://schemas.microsoft.com/office/drawing/2014/main" id="{4A44F6F5-A7E4-08D9-8A59-301D8107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867" y="2129758"/>
            <a:ext cx="3907492" cy="2598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13EAD06-745F-3DD0-691D-9B56E1FBE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46" y="1252727"/>
            <a:ext cx="5544694" cy="380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5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3F4E5A-C9EE-4859-B46B-F018F7D73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6963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4564674"/>
            <a:ext cx="3008115" cy="1615461"/>
          </a:xfrm>
        </p:spPr>
        <p:txBody>
          <a:bodyPr anchor="ctr">
            <a:normAutofit/>
          </a:bodyPr>
          <a:lstStyle/>
          <a:p>
            <a:r>
              <a:rPr lang="de-DE" sz="2800"/>
              <a:t>Einsatzbereiche</a:t>
            </a:r>
          </a:p>
        </p:txBody>
      </p:sp>
      <p:pic>
        <p:nvPicPr>
          <p:cNvPr id="5" name="Grafik 4" descr="Ein Bild, das Elektronik, Elektrische Leitungen, Maschine, Kabel enthält.&#10;&#10;KI-generierte Inhalte können fehlerhaft sein.">
            <a:extLst>
              <a:ext uri="{FF2B5EF4-FFF2-40B4-BE49-F238E27FC236}">
                <a16:creationId xmlns:a16="http://schemas.microsoft.com/office/drawing/2014/main" id="{DA5AC66D-FDFA-B316-F18E-74E0C3D48E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484"/>
          <a:stretch>
            <a:fillRect/>
          </a:stretch>
        </p:blipFill>
        <p:spPr>
          <a:xfrm>
            <a:off x="20" y="1"/>
            <a:ext cx="8469610" cy="421270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1A955B-D579-48FD-A51C-51B0C0B6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4750" y="4813604"/>
            <a:ext cx="0" cy="1117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480" y="4564673"/>
            <a:ext cx="4249403" cy="1615463"/>
          </a:xfrm>
        </p:spPr>
        <p:txBody>
          <a:bodyPr anchor="ctr">
            <a:normAutofit/>
          </a:bodyPr>
          <a:lstStyle/>
          <a:p>
            <a:r>
              <a:rPr lang="de-DE" sz="1400"/>
              <a:t>Haushalt: Steckdosen- und Lichtkreise.</a:t>
            </a:r>
          </a:p>
          <a:p>
            <a:r>
              <a:rPr lang="de-DE" sz="1400"/>
              <a:t>Industrie: Motoren, Maschinen.</a:t>
            </a:r>
          </a:p>
          <a:p>
            <a:r>
              <a:rPr lang="de-DE" sz="1400"/>
              <a:t>Baustellen: Mobile Verteiler.</a:t>
            </a:r>
          </a:p>
          <a:p>
            <a:r>
              <a:rPr lang="de-DE" sz="1400"/>
              <a:t>Sonderfälle: Motorschutzschalter.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3F4E5A-C9EE-4859-B46B-F018F7D73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6963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4564674"/>
            <a:ext cx="3008115" cy="1615461"/>
          </a:xfrm>
        </p:spPr>
        <p:txBody>
          <a:bodyPr anchor="ctr">
            <a:normAutofit/>
          </a:bodyPr>
          <a:lstStyle/>
          <a:p>
            <a:r>
              <a:rPr lang="de-DE" sz="2800"/>
              <a:t>Auswahl &amp; Installation</a:t>
            </a:r>
          </a:p>
        </p:txBody>
      </p:sp>
      <p:pic>
        <p:nvPicPr>
          <p:cNvPr id="5" name="Grafik 4" descr="Ein Bild, das Elektronik, Elektrische Leitungen, Maschine, Kabel enthält.&#10;&#10;KI-generierte Inhalte können fehlerhaft sein.">
            <a:extLst>
              <a:ext uri="{FF2B5EF4-FFF2-40B4-BE49-F238E27FC236}">
                <a16:creationId xmlns:a16="http://schemas.microsoft.com/office/drawing/2014/main" id="{784A3D4F-6D48-5C6B-5288-2B2E6347C3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484"/>
          <a:stretch>
            <a:fillRect/>
          </a:stretch>
        </p:blipFill>
        <p:spPr>
          <a:xfrm>
            <a:off x="20" y="1"/>
            <a:ext cx="8469610" cy="421270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1A955B-D579-48FD-A51C-51B0C0B6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4750" y="4813604"/>
            <a:ext cx="0" cy="1117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480" y="4564673"/>
            <a:ext cx="4249403" cy="1615463"/>
          </a:xfrm>
        </p:spPr>
        <p:txBody>
          <a:bodyPr anchor="ctr">
            <a:normAutofit/>
          </a:bodyPr>
          <a:lstStyle/>
          <a:p>
            <a:r>
              <a:rPr lang="de-DE" sz="1200"/>
              <a:t>Kriterien: Nennstrom, Charakteristik, Leitungslänge.</a:t>
            </a:r>
          </a:p>
          <a:p>
            <a:r>
              <a:rPr lang="de-DE" sz="1200"/>
              <a:t>Montage: Auf Hutschiene, Einspeisung oben.</a:t>
            </a:r>
          </a:p>
          <a:p>
            <a:r>
              <a:rPr lang="de-DE" sz="1200"/>
              <a:t>Wichtig: Leitungsquerschnitt und LS-Typ müssen passen.</a:t>
            </a:r>
          </a:p>
          <a:p>
            <a:r>
              <a:rPr lang="de-DE" sz="1200"/>
              <a:t>Motoren haben einen Erhöhten Einschaltstrom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116" y="640080"/>
            <a:ext cx="2306877" cy="1325562"/>
          </a:xfrm>
        </p:spPr>
        <p:txBody>
          <a:bodyPr>
            <a:normAutofit/>
          </a:bodyPr>
          <a:lstStyle/>
          <a:p>
            <a:r>
              <a:rPr lang="de-DE" sz="2800"/>
              <a:t>Prüfung &amp; Wartung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67D982-25C5-4CC2-AA64-276BE3B2C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116" y="2301555"/>
            <a:ext cx="2306877" cy="3878582"/>
          </a:xfrm>
        </p:spPr>
        <p:txBody>
          <a:bodyPr>
            <a:normAutofit/>
          </a:bodyPr>
          <a:lstStyle/>
          <a:p>
            <a:r>
              <a:rPr lang="de-DE" sz="1400"/>
              <a:t>Prüfung: Sicht- und Funktionstest.</a:t>
            </a:r>
          </a:p>
          <a:p>
            <a:r>
              <a:rPr lang="de-DE" sz="1400"/>
              <a:t>Fehlerquellen: Falsche Charakteristik, lose Klemmen.</a:t>
            </a:r>
          </a:p>
          <a:p>
            <a:r>
              <a:rPr lang="de-DE" sz="1400"/>
              <a:t>Wartung: Regelmäßige DGUV V3-Prüfung in Betrieben.</a:t>
            </a:r>
          </a:p>
        </p:txBody>
      </p:sp>
      <p:pic>
        <p:nvPicPr>
          <p:cNvPr id="5" name="Picture 4" descr="Lupe, die sinkende Leistung zeigt">
            <a:extLst>
              <a:ext uri="{FF2B5EF4-FFF2-40B4-BE49-F238E27FC236}">
                <a16:creationId xmlns:a16="http://schemas.microsoft.com/office/drawing/2014/main" id="{A9978133-EEA7-F70E-EF73-0B84F00343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2" r="28992" b="-1"/>
          <a:stretch>
            <a:fillRect/>
          </a:stretch>
        </p:blipFill>
        <p:spPr>
          <a:xfrm>
            <a:off x="3479292" y="10"/>
            <a:ext cx="5664708" cy="68579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155" y="677863"/>
            <a:ext cx="3400535" cy="1325562"/>
          </a:xfrm>
        </p:spPr>
        <p:txBody>
          <a:bodyPr>
            <a:normAutofit/>
          </a:bodyPr>
          <a:lstStyle/>
          <a:p>
            <a:r>
              <a:t>Fallbeispiele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155" y="2325158"/>
            <a:ext cx="3400536" cy="3854979"/>
          </a:xfrm>
        </p:spPr>
        <p:txBody>
          <a:bodyPr>
            <a:normAutofit/>
          </a:bodyPr>
          <a:lstStyle/>
          <a:p>
            <a:r>
              <a:t>Kurzschluss: LS löst sofort aus → Geräte geschützt.</a:t>
            </a:r>
          </a:p>
          <a:p>
            <a:r>
              <a:t>Überlast: LS trennt Strom → Brand verhindert.</a:t>
            </a:r>
          </a:p>
          <a:p>
            <a:r>
              <a:t>Praxis: Standard in allen Neubauten.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D5AE26E-C673-5791-2600-F5534DCB8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867" y="779852"/>
            <a:ext cx="3907492" cy="52982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Diagramm, Reihe, Entwurf, Zeichnung enthält.&#10;&#10;KI-generierte Inhalte können fehlerhaft sein.">
            <a:extLst>
              <a:ext uri="{FF2B5EF4-FFF2-40B4-BE49-F238E27FC236}">
                <a16:creationId xmlns:a16="http://schemas.microsoft.com/office/drawing/2014/main" id="{B42F58EB-CE9D-BE0C-5EB6-ECB44354C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3425" y="300789"/>
            <a:ext cx="9144000" cy="625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4254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Zukunft &amp; Entwicklungen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6E02F8-4BB9-5615-FF86-86343855BB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6404" y="1828801"/>
          <a:ext cx="644652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73" y="640080"/>
            <a:ext cx="2767819" cy="1363344"/>
          </a:xfrm>
        </p:spPr>
        <p:txBody>
          <a:bodyPr>
            <a:normAutofit/>
          </a:bodyPr>
          <a:lstStyle/>
          <a:p>
            <a:r>
              <a:rPr lang="de-DE" sz="2400"/>
              <a:t>Zusammenfassung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73" y="2325157"/>
            <a:ext cx="2767819" cy="3854979"/>
          </a:xfrm>
        </p:spPr>
        <p:txBody>
          <a:bodyPr>
            <a:normAutofit/>
          </a:bodyPr>
          <a:lstStyle/>
          <a:p>
            <a:r>
              <a:rPr lang="de-DE" sz="1400"/>
              <a:t>LS-Schalter = Sicherheitsbasis jeder Installation.</a:t>
            </a:r>
          </a:p>
          <a:p>
            <a:r>
              <a:rPr lang="de-DE" sz="1400"/>
              <a:t>Schutz vor Überlast und Kurzschluss.</a:t>
            </a:r>
          </a:p>
          <a:p>
            <a:r>
              <a:rPr lang="de-DE" sz="1400"/>
              <a:t>Pflicht laut VDE – schützt Leben und Sachwerte.</a:t>
            </a:r>
          </a:p>
        </p:txBody>
      </p:sp>
      <p:pic>
        <p:nvPicPr>
          <p:cNvPr id="5" name="Grafik 4" descr="Ein Bild, das Maschine, Text, Autoteile, Schaltung enthält.&#10;&#10;KI-generierte Inhalte können fehlerhaft sein.">
            <a:extLst>
              <a:ext uri="{FF2B5EF4-FFF2-40B4-BE49-F238E27FC236}">
                <a16:creationId xmlns:a16="http://schemas.microsoft.com/office/drawing/2014/main" id="{DD278206-E82B-FE5A-4558-C33BE783A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814095"/>
            <a:ext cx="4616802" cy="5240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322BCA3-31C1-4329-B0BA-4748F937B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6963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8469" y="723331"/>
            <a:ext cx="6307061" cy="387596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200">
                <a:solidFill>
                  <a:schemeClr val="tx2"/>
                </a:solidFill>
              </a:rPr>
              <a:t>Fragen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C1DD8F-426A-45F7-A524-5569263BE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37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8D39CD7-AB20-4006-930C-6368406D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812791" y="5359400"/>
            <a:ext cx="191273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3D65D7AA-A0C8-491E-9211-059F0D299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Aussicht">
  <a:themeElements>
    <a:clrScheme name="Aussicht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Aussicht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sicht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TM03457515[[fn=Aussicht]]</Template>
  <TotalTime>0</TotalTime>
  <Words>326</Words>
  <Application>Microsoft Office PowerPoint</Application>
  <PresentationFormat>Bildschirmpräsentation (4:3)</PresentationFormat>
  <Paragraphs>46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Century Schoolbook</vt:lpstr>
      <vt:lpstr>Wingdings 2</vt:lpstr>
      <vt:lpstr>Aussicht</vt:lpstr>
      <vt:lpstr>Leitungsschutzschalter (LS-Schalter) und ihre Funktionen</vt:lpstr>
      <vt:lpstr>PowerPoint-Präsentation</vt:lpstr>
      <vt:lpstr>Grundlagen</vt:lpstr>
      <vt:lpstr>Notwendigkeit</vt:lpstr>
      <vt:lpstr>Aufbau &amp; Funktion</vt:lpstr>
      <vt:lpstr>PowerPoint-Präsentation</vt:lpstr>
      <vt:lpstr>Einsatzbereiche</vt:lpstr>
      <vt:lpstr>Auswahl &amp; Installation</vt:lpstr>
      <vt:lpstr>Prüfung &amp; Wartung</vt:lpstr>
      <vt:lpstr>Fallbeispiele</vt:lpstr>
      <vt:lpstr>PowerPoint-Präsentation</vt:lpstr>
      <vt:lpstr>Zukunft &amp; Entwicklungen</vt:lpstr>
      <vt:lpstr>Zusammenfassung</vt:lpstr>
      <vt:lpstr>Fragen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3000000076262</cp:lastModifiedBy>
  <cp:revision>6</cp:revision>
  <dcterms:created xsi:type="dcterms:W3CDTF">2013-01-27T09:14:16Z</dcterms:created>
  <dcterms:modified xsi:type="dcterms:W3CDTF">2025-12-09T09:37:22Z</dcterms:modified>
  <cp:category/>
</cp:coreProperties>
</file>