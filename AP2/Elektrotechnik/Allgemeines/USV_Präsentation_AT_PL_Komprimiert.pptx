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8" r:id="rId9"/>
    <p:sldId id="270" r:id="rId10"/>
    <p:sldId id="269" r:id="rId11"/>
    <p:sldId id="271" r:id="rId12"/>
    <p:sldId id="267" r:id="rId13"/>
    <p:sldId id="261" r:id="rId14"/>
    <p:sldId id="266" r:id="rId15"/>
    <p:sldId id="262" r:id="rId16"/>
    <p:sldId id="26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78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3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22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52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59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56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27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2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2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61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2013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70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85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75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37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2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18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jpe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Unterbrechungsfreie Stromversorgung (USV)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Schutz </a:t>
            </a:r>
            <a:r>
              <a:rPr dirty="0" err="1"/>
              <a:t>vor</a:t>
            </a:r>
            <a:r>
              <a:rPr dirty="0"/>
              <a:t> </a:t>
            </a:r>
            <a:r>
              <a:rPr dirty="0" err="1"/>
              <a:t>Stromausfällen</a:t>
            </a:r>
            <a:r>
              <a:rPr dirty="0"/>
              <a:t> in IT- und </a:t>
            </a:r>
            <a:r>
              <a:rPr dirty="0" err="1"/>
              <a:t>Industriesystemen</a:t>
            </a:r>
            <a:endParaRPr dirty="0"/>
          </a:p>
          <a:p>
            <a:endParaRPr dirty="0"/>
          </a:p>
          <a:p>
            <a:pPr algn="r"/>
            <a:r>
              <a:rPr dirty="0" err="1"/>
              <a:t>Präsentiert</a:t>
            </a:r>
            <a:r>
              <a:rPr dirty="0"/>
              <a:t> von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Alwin </a:t>
            </a:r>
            <a:r>
              <a:rPr lang="de-DE" dirty="0" err="1"/>
              <a:t>Trotno</a:t>
            </a:r>
            <a:br>
              <a:rPr lang="de-DE" dirty="0"/>
            </a:br>
            <a:r>
              <a:rPr lang="de-DE" dirty="0"/>
              <a:t>Patrick Latacz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4000" contrast="-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939F02-2277-4F41-AAD9-CCF5389D8F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-528919" y="-1671919"/>
            <a:ext cx="9762565" cy="97625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Was </a:t>
            </a:r>
            <a:r>
              <a:rPr dirty="0" err="1"/>
              <a:t>ist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USV?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Versorgt Geräte bei Stromausfall kurzfristig weiter.</a:t>
            </a:r>
          </a:p>
          <a:p>
            <a:r>
              <a:t>Überbrückt Ausfälle und Spannungsschwankungen.</a:t>
            </a:r>
          </a:p>
          <a:p>
            <a:r>
              <a:t>Ziel: Datenverlust, Hardware-Schäden oder Systemabstürze vermeiden.</a:t>
            </a:r>
          </a:p>
          <a:p>
            <a:r>
              <a:t>Einsatzgebiete: Serverräume, Krankenhäuser, Industrieanlagen, Büros.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3E9FA79-35CC-4863-B100-EA443B3AD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600" y="4519800"/>
            <a:ext cx="2095500" cy="209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ED398A6-23F0-4D89-AE6B-EFC8BEC6712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-89647" y="-1232647"/>
            <a:ext cx="9574306" cy="95743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Aufbau &amp; </a:t>
            </a:r>
            <a:r>
              <a:rPr dirty="0" err="1"/>
              <a:t>Hauptkomponenten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Gleichrichter: Wandelt Netzwechselstrom (AC) in Gleichstrom (DC).</a:t>
            </a:r>
          </a:p>
          <a:p>
            <a:r>
              <a:t>Batterie: Speichert Energie für den Notbetrieb.</a:t>
            </a:r>
          </a:p>
          <a:p>
            <a:r>
              <a:t>Wechselrichter: Wandelt Gleichstrom der Batterie wieder in Wechselstrom um.</a:t>
            </a:r>
          </a:p>
          <a:p>
            <a:r>
              <a:t>Bypass-Schalter: Versorgt Verbraucher direkt mit Netzstrom, falls nötig.</a:t>
            </a:r>
          </a:p>
          <a:p>
            <a:r>
              <a:t>Funktion: Netzbetrieb → Energie fließt durch Gleichrichter &amp; Wechselrichter. Stromausfall → Wechselrichter nutzt Batterie.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2858D5FF-630A-45BD-A716-4E5B964D9B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&amp; Hauptkomponenten (</a:t>
            </a:r>
            <a:r>
              <a:rPr lang="de-DE" i="1" dirty="0" err="1"/>
              <a:t>DiagramM</a:t>
            </a:r>
            <a:r>
              <a:rPr lang="de-DE" dirty="0"/>
              <a:t>)</a:t>
            </a:r>
            <a:endParaRPr dirty="0"/>
          </a:p>
        </p:txBody>
      </p:sp>
      <p:pic>
        <p:nvPicPr>
          <p:cNvPr id="13" name="Inhaltsplatzhalter 12">
            <a:extLst>
              <a:ext uri="{FF2B5EF4-FFF2-40B4-BE49-F238E27FC236}">
                <a16:creationId xmlns:a16="http://schemas.microsoft.com/office/drawing/2014/main" id="{74767163-2104-4334-8C15-94C1331D9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620" y="2249488"/>
            <a:ext cx="7317586" cy="3541712"/>
          </a:xfrm>
          <a:blipFill dpi="0" rotWithShape="1">
            <a:blip r:embed="rId4">
              <a:alphaModFix amt="89000"/>
            </a:blip>
            <a:srcRect/>
            <a:tile tx="0" ty="0" sx="100000" sy="100000" flip="none" algn="tl"/>
          </a:blipFill>
          <a:effectLst>
            <a:softEdge rad="88900"/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0" h="0"/>
          </a:sp3d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FC9078A-42B4-408B-B4CD-A522120179F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0940" y="5791200"/>
            <a:ext cx="1252713" cy="724001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1646DA95-1A10-4C9D-8187-AA99CBF231AF}"/>
              </a:ext>
            </a:extLst>
          </p:cNvPr>
          <p:cNvCxnSpPr>
            <a:cxnSpLocks/>
            <a:stCxn id="17" idx="0"/>
          </p:cNvCxnSpPr>
          <p:nvPr/>
        </p:nvCxnSpPr>
        <p:spPr>
          <a:xfrm rot="5400000" flipH="1" flipV="1">
            <a:off x="1680297" y="4970342"/>
            <a:ext cx="797858" cy="84385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7" name="Grafik 26">
            <a:extLst>
              <a:ext uri="{FF2B5EF4-FFF2-40B4-BE49-F238E27FC236}">
                <a16:creationId xmlns:a16="http://schemas.microsoft.com/office/drawing/2014/main" id="{9C5B5C3A-9756-4C17-9628-885F730BD2A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2958779" y="5469256"/>
            <a:ext cx="711627" cy="1380270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6FB78CDC-343D-4805-BC8A-C1788588FA0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925750" y="5183785"/>
            <a:ext cx="976084" cy="16489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1" name="Grafik 30">
            <a:extLst>
              <a:ext uri="{FF2B5EF4-FFF2-40B4-BE49-F238E27FC236}">
                <a16:creationId xmlns:a16="http://schemas.microsoft.com/office/drawing/2014/main" id="{BF1B6E19-0960-4498-BE35-3213A86E56E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66078" y="5467452"/>
            <a:ext cx="703716" cy="1391782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  <p:cxnSp>
        <p:nvCxnSpPr>
          <p:cNvPr id="32" name="Verbinder: gewinkelt 31">
            <a:extLst>
              <a:ext uri="{FF2B5EF4-FFF2-40B4-BE49-F238E27FC236}">
                <a16:creationId xmlns:a16="http://schemas.microsoft.com/office/drawing/2014/main" id="{E956BA46-A512-4430-B0FA-DAB2FD3CB5EE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29015" y="5128131"/>
            <a:ext cx="976084" cy="276198"/>
          </a:xfrm>
          <a:prstGeom prst="bentConnector3">
            <a:avLst>
              <a:gd name="adj1" fmla="val 72961"/>
            </a:avLst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8" name="Grafik 37">
            <a:extLst>
              <a:ext uri="{FF2B5EF4-FFF2-40B4-BE49-F238E27FC236}">
                <a16:creationId xmlns:a16="http://schemas.microsoft.com/office/drawing/2014/main" id="{414DA96A-0D14-4ACA-94BF-F19D5A44E40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2733" y="5791200"/>
            <a:ext cx="1380271" cy="724001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  <p:cxnSp>
        <p:nvCxnSpPr>
          <p:cNvPr id="39" name="Verbinder: gewinkelt 38">
            <a:extLst>
              <a:ext uri="{FF2B5EF4-FFF2-40B4-BE49-F238E27FC236}">
                <a16:creationId xmlns:a16="http://schemas.microsoft.com/office/drawing/2014/main" id="{6E37FF5D-EA5B-43D5-9397-F966AA10FD1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30817" y="4654808"/>
            <a:ext cx="1193272" cy="1005657"/>
          </a:xfrm>
          <a:prstGeom prst="bentConnector3">
            <a:avLst>
              <a:gd name="adj1" fmla="val 96579"/>
            </a:avLst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Verbinder: gewinkelt 45">
            <a:extLst>
              <a:ext uri="{FF2B5EF4-FFF2-40B4-BE49-F238E27FC236}">
                <a16:creationId xmlns:a16="http://schemas.microsoft.com/office/drawing/2014/main" id="{D2983851-1A8E-4142-B90A-C98FF6DA5EB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474694" y="3816079"/>
            <a:ext cx="299987" cy="10854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ED212B23-C9AC-4D9F-BEF1-AECE8208F84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50509" y="3729444"/>
            <a:ext cx="1019909" cy="299987"/>
          </a:xfrm>
          <a:prstGeom prst="bentConnector3">
            <a:avLst>
              <a:gd name="adj1" fmla="val 100101"/>
            </a:avLst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5" name="Grafik 54">
            <a:extLst>
              <a:ext uri="{FF2B5EF4-FFF2-40B4-BE49-F238E27FC236}">
                <a16:creationId xmlns:a16="http://schemas.microsoft.com/office/drawing/2014/main" id="{A29E7C4D-B639-478F-9B30-00BF9341C29F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0341" y="2863513"/>
            <a:ext cx="814565" cy="1130973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B74C8025-1550-4C22-93DB-DDEE1F773632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912" y="2907631"/>
            <a:ext cx="523948" cy="1097024"/>
          </a:xfrm>
          <a:prstGeom prst="rect">
            <a:avLst/>
          </a:prstGeom>
          <a:effectLst>
            <a:outerShdw blurRad="50800" dist="50800" dir="5400000" sx="64000" sy="64000" algn="ctr" rotWithShape="0">
              <a:schemeClr val="tx1">
                <a:alpha val="43000"/>
              </a:schemeClr>
            </a:outerShdw>
          </a:effectLst>
          <a:scene3d>
            <a:camera prst="orthographicFront"/>
            <a:lightRig rig="threePt" dir="t"/>
          </a:scene3d>
          <a:sp3d contourW="31750">
            <a:bevelT w="0" h="0"/>
            <a:contourClr>
              <a:schemeClr val="tx1"/>
            </a:contourClr>
          </a:sp3d>
        </p:spPr>
      </p:pic>
    </p:spTree>
    <p:extLst>
      <p:ext uri="{BB962C8B-B14F-4D97-AF65-F5344CB8AC3E}">
        <p14:creationId xmlns:p14="http://schemas.microsoft.com/office/powerpoint/2010/main" val="2168332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8DF546C-B1EF-4712-96DF-44AB117FF1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&amp; Hauptkomponenten (</a:t>
            </a:r>
            <a:r>
              <a:rPr lang="de-DE" i="1" dirty="0" err="1"/>
              <a:t>tEARDOWN</a:t>
            </a:r>
            <a:r>
              <a:rPr lang="de-DE" dirty="0"/>
              <a:t>)</a:t>
            </a:r>
            <a:endParaRPr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5EF31BBD-8315-45BF-BFBB-26F7B171C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149" y="2249488"/>
            <a:ext cx="7146527" cy="3541712"/>
          </a:xfrm>
          <a:scene3d>
            <a:camera prst="orthographicFront"/>
            <a:lightRig rig="threePt" dir="t"/>
          </a:scene3d>
          <a:sp3d contourW="25400">
            <a:contourClr>
              <a:schemeClr val="tx1"/>
            </a:contourClr>
          </a:sp3d>
        </p:spPr>
      </p:pic>
    </p:spTree>
    <p:extLst>
      <p:ext uri="{BB962C8B-B14F-4D97-AF65-F5344CB8AC3E}">
        <p14:creationId xmlns:p14="http://schemas.microsoft.com/office/powerpoint/2010/main" val="3788531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60000" contras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704A296-FA9E-46D8-95C7-18E1FE6965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Arten von USV-Systemen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Offline / Standby: Schaltet bei Stromausfall auf Batterie um – günstig, aber Umschaltzeit.</a:t>
            </a:r>
          </a:p>
          <a:p>
            <a:r>
              <a:t>Line-Interactive: Spannung wird stabilisiert – gute Netzqualität, begrenzte Laufzeit.</a:t>
            </a:r>
          </a:p>
          <a:p>
            <a:r>
              <a:t>Online / Doppelwandler: Ständiger Betrieb über Wechselrichter – höchste Sicherheit, aber teuer.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Dimensionierung der USV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e-DE" b="1" dirty="0"/>
              <a:t>Ziel der Dimensionierung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Sicherstellen, dass die USV die </a:t>
            </a:r>
            <a:r>
              <a:rPr lang="de-DE" b="1" dirty="0"/>
              <a:t>erforderliche Leistung (VA/Watt)</a:t>
            </a:r>
            <a:r>
              <a:rPr lang="de-DE" dirty="0"/>
              <a:t> für alle angeschlossenen Verbraucher bereitstellt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Bestimmung der </a:t>
            </a:r>
            <a:r>
              <a:rPr lang="de-DE" b="1" dirty="0"/>
              <a:t>Batteriekapazität</a:t>
            </a:r>
            <a:r>
              <a:rPr lang="de-DE" dirty="0"/>
              <a:t> für die gewünschte Überbrückungszeit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Auswahl einer geeigneten </a:t>
            </a:r>
            <a:r>
              <a:rPr lang="de-DE" b="1" dirty="0"/>
              <a:t>USV-Topologie</a:t>
            </a:r>
            <a:r>
              <a:rPr lang="de-DE" dirty="0"/>
              <a:t> (Offline, Line-Interactive, Online)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34D180A-B837-4629-9C74-1BB9ECE57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869" y="5257800"/>
            <a:ext cx="2847975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Ermittlung der Gesamtlast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Alle zu schützenden Geräte</a:t>
            </a:r>
            <a:r>
              <a:rPr lang="de-DE" dirty="0"/>
              <a:t> (Server, Switches, Steuerungen, etc.) erfassen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Leistungsaufnahme</a:t>
            </a:r>
            <a:r>
              <a:rPr lang="de-DE" dirty="0"/>
              <a:t> jedes Geräts in </a:t>
            </a:r>
            <a:r>
              <a:rPr lang="de-DE" b="1" dirty="0"/>
              <a:t>Watt oder VA</a:t>
            </a:r>
            <a:r>
              <a:rPr lang="de-DE" dirty="0"/>
              <a:t> bestimmen</a:t>
            </a:r>
          </a:p>
          <a:p>
            <a:r>
              <a:rPr lang="de-DE" dirty="0"/>
              <a:t>Summe bilden → </a:t>
            </a:r>
            <a:r>
              <a:rPr lang="de-DE" dirty="0" err="1"/>
              <a:t>Pges</a:t>
            </a:r>
            <a:r>
              <a:rPr lang="de-DE" dirty="0"/>
              <a:t>​ = ∑ P Geräte​</a:t>
            </a:r>
          </a:p>
        </p:txBody>
      </p:sp>
    </p:spTree>
    <p:extLst>
      <p:ext uri="{BB962C8B-B14F-4D97-AF65-F5344CB8AC3E}">
        <p14:creationId xmlns:p14="http://schemas.microsoft.com/office/powerpoint/2010/main" val="36879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Ermittlung der Gesamtlast </a:t>
            </a:r>
            <a:br>
              <a:rPr lang="de-DE" dirty="0"/>
            </a:br>
            <a:r>
              <a:rPr lang="de-DE" dirty="0"/>
              <a:t>( </a:t>
            </a:r>
            <a:r>
              <a:rPr lang="de-DE" i="1" dirty="0"/>
              <a:t>Beispiel Rechnung </a:t>
            </a:r>
            <a:r>
              <a:rPr lang="de-DE" dirty="0"/>
              <a:t>)</a:t>
            </a:r>
            <a:endParaRPr dirty="0"/>
          </a:p>
        </p:txBody>
      </p:sp>
      <p:graphicFrame>
        <p:nvGraphicFramePr>
          <p:cNvPr id="4" name="Tabelle 5">
            <a:extLst>
              <a:ext uri="{FF2B5EF4-FFF2-40B4-BE49-F238E27FC236}">
                <a16:creationId xmlns:a16="http://schemas.microsoft.com/office/drawing/2014/main" id="{6417CE1D-87F4-4AF8-AEE5-2C8E79A896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541019"/>
              </p:ext>
            </p:extLst>
          </p:nvPr>
        </p:nvGraphicFramePr>
        <p:xfrm>
          <a:off x="855663" y="2249487"/>
          <a:ext cx="7429500" cy="36582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14750">
                  <a:extLst>
                    <a:ext uri="{9D8B030D-6E8A-4147-A177-3AD203B41FA5}">
                      <a16:colId xmlns:a16="http://schemas.microsoft.com/office/drawing/2014/main" val="321060129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4793419"/>
                    </a:ext>
                  </a:extLst>
                </a:gridCol>
              </a:tblGrid>
              <a:tr h="609709">
                <a:tc>
                  <a:txBody>
                    <a:bodyPr/>
                    <a:lstStyle/>
                    <a:p>
                      <a:r>
                        <a:rPr lang="de-DE" dirty="0"/>
                        <a:t>Gerät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Leistung (W)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988140"/>
                  </a:ext>
                </a:extLst>
              </a:tr>
              <a:tr h="609709">
                <a:tc>
                  <a:txBody>
                    <a:bodyPr/>
                    <a:lstStyle/>
                    <a:p>
                      <a:r>
                        <a:rPr lang="de-DE"/>
                        <a:t>Server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250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7764556"/>
                  </a:ext>
                </a:extLst>
              </a:tr>
              <a:tr h="609709">
                <a:tc>
                  <a:txBody>
                    <a:bodyPr/>
                    <a:lstStyle/>
                    <a:p>
                      <a:r>
                        <a:rPr lang="de-DE"/>
                        <a:t>Server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200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75450"/>
                  </a:ext>
                </a:extLst>
              </a:tr>
              <a:tr h="609709">
                <a:tc>
                  <a:txBody>
                    <a:bodyPr/>
                    <a:lstStyle/>
                    <a:p>
                      <a:r>
                        <a:rPr lang="de-DE"/>
                        <a:t>Netzwerk-Switch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50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526278"/>
                  </a:ext>
                </a:extLst>
              </a:tr>
              <a:tr h="609709">
                <a:tc>
                  <a:txBody>
                    <a:bodyPr/>
                    <a:lstStyle/>
                    <a:p>
                      <a:r>
                        <a:rPr lang="de-DE"/>
                        <a:t>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100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638200"/>
                  </a:ext>
                </a:extLst>
              </a:tr>
              <a:tr h="609709">
                <a:tc>
                  <a:txBody>
                    <a:bodyPr/>
                    <a:lstStyle/>
                    <a:p>
                      <a:r>
                        <a:rPr lang="de-DE" b="1"/>
                        <a:t>Gesamtlast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600 W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926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5687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Umrechnung in Scheinleistung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de-DE" dirty="0"/>
                  <a:t>USVs werden in </a:t>
                </a:r>
                <a:r>
                  <a:rPr lang="de-DE" b="1" dirty="0"/>
                  <a:t>VA (Voltampere)</a:t>
                </a:r>
                <a:r>
                  <a:rPr lang="de-DE" dirty="0"/>
                  <a:t> angegeben</a:t>
                </a:r>
              </a:p>
              <a:p>
                <a:r>
                  <a:rPr lang="nl-NL" dirty="0"/>
                  <a:t>Formel 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nl-NL"/>
                      <m:t>S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l-NL"/>
                          <m:t>Pges</m:t>
                        </m:r>
                      </m:num>
                      <m:den>
                        <m:r>
                          <m:rPr>
                            <m:nor/>
                          </m:rPr>
                          <a:rPr lang="nl-NL"/>
                          <m:t>cos</m:t>
                        </m:r>
                        <m:r>
                          <m:rPr>
                            <m:nor/>
                          </m:rPr>
                          <a:rPr lang="nl-NL"/>
                          <m:t>(</m:t>
                        </m:r>
                        <m:r>
                          <m:rPr>
                            <m:nor/>
                          </m:rPr>
                          <a:rPr lang="nl-NL"/>
                          <m:t>φ</m:t>
                        </m:r>
                        <m:r>
                          <m:rPr>
                            <m:nor/>
                          </m:rPr>
                          <a:rPr lang="nl-NL"/>
                          <m:t>)</m:t>
                        </m:r>
                      </m:den>
                    </m:f>
                  </m:oMath>
                </a14:m>
                <a:endParaRPr lang="de-DE" i="1" dirty="0">
                  <a:latin typeface="Cambria Math" panose="02040503050406030204" pitchFamily="18" charset="0"/>
                </a:endParaRPr>
              </a:p>
              <a:p>
                <a:r>
                  <a:rPr lang="nl-NL" dirty="0"/>
                  <a:t>In unserem Beispiel 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i="1" smtClean="0"/>
                      <m:t>S</m:t>
                    </m:r>
                    <m:r>
                      <m:rPr>
                        <m:nor/>
                      </m:rPr>
                      <a:rPr lang="de-DE" b="0" i="1" smtClean="0"/>
                      <m:t> </m:t>
                    </m:r>
                    <m:r>
                      <m:rPr>
                        <m:nor/>
                      </m:rPr>
                      <a:rPr lang="nl-NL"/>
                      <m:t>=</m:t>
                    </m:r>
                    <m:r>
                      <m:rPr>
                        <m:nor/>
                      </m:rPr>
                      <a:rPr lang="de-DE" b="0" i="0" smtClean="0"/>
                      <m:t> </m:t>
                    </m:r>
                    <m:f>
                      <m:f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nl-NL"/>
                          <m:t>600</m:t>
                        </m:r>
                        <m:r>
                          <m:rPr>
                            <m:nor/>
                          </m:rPr>
                          <a:rPr lang="nl-NL"/>
                          <m:t>W</m:t>
                        </m:r>
                      </m:num>
                      <m:den>
                        <m:r>
                          <m:rPr>
                            <m:nor/>
                          </m:rPr>
                          <a:rPr lang="nl-NL"/>
                          <m:t>0,8</m:t>
                        </m:r>
                        <m:r>
                          <m:rPr>
                            <m:nor/>
                          </m:rPr>
                          <a:rPr lang="nl-NL"/>
                          <m:t>)</m:t>
                        </m:r>
                      </m:den>
                    </m:f>
                    <m:r>
                      <m:rPr>
                        <m:nor/>
                      </m:rPr>
                      <a:rPr lang="de-D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NL"/>
                      <m:t>=</m:t>
                    </m:r>
                    <m:r>
                      <m:rPr>
                        <m:nor/>
                      </m:rPr>
                      <a:rPr lang="de-DE" b="0" i="0" smtClean="0"/>
                      <m:t> </m:t>
                    </m:r>
                    <m:r>
                      <m:rPr>
                        <m:nor/>
                      </m:rPr>
                      <a:rPr lang="nl-NL"/>
                      <m:t>750</m:t>
                    </m:r>
                    <m:r>
                      <m:rPr>
                        <m:nor/>
                      </m:rPr>
                      <a:rPr lang="nl-NL"/>
                      <m:t>VA</m:t>
                    </m:r>
                  </m:oMath>
                </a14:m>
                <a:endParaRPr lang="de-DE" dirty="0"/>
              </a:p>
              <a:p>
                <a:endParaRPr lang="de-DE" dirty="0"/>
              </a:p>
              <a:p>
                <a:endParaRPr lang="de-DE" dirty="0"/>
              </a:p>
              <a:p>
                <a:r>
                  <a:rPr lang="de-DE" dirty="0"/>
                  <a:t>Für Reserven und künftige Erweiterungen Sicherheitszuschlag</a:t>
                </a:r>
              </a:p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𝑆𝑈𝑆𝑉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=1,2×750 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𝑉𝐴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=900 </m:t>
                    </m:r>
                  </m:oMath>
                </a14:m>
                <a:r>
                  <a:rPr lang="de-DE" dirty="0"/>
                  <a:t>VA</a:t>
                </a:r>
                <a:br>
                  <a:rPr lang="de-DE" dirty="0"/>
                </a:br>
                <a:endParaRPr lang="de-DE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20" t="-206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9B72639E-8DED-4101-A621-9F21D94D0A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949" y="1917708"/>
            <a:ext cx="3425604" cy="267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8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Kompliziertes zurückrechnen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</a:t>
            </a:r>
            <a:r>
              <a:rPr lang="de-DE" b="1" dirty="0"/>
              <a:t>USV</a:t>
            </a:r>
            <a:r>
              <a:rPr lang="de-DE" dirty="0"/>
              <a:t> wird in </a:t>
            </a:r>
            <a:r>
              <a:rPr lang="de-DE" b="1" dirty="0"/>
              <a:t>Scheinleistung (VA)</a:t>
            </a:r>
            <a:r>
              <a:rPr lang="de-DE" dirty="0"/>
              <a:t> angegeben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Die </a:t>
            </a:r>
            <a:r>
              <a:rPr lang="de-DE" b="1" dirty="0"/>
              <a:t>Batteriebelastung</a:t>
            </a:r>
            <a:r>
              <a:rPr lang="de-DE" dirty="0"/>
              <a:t> hängt aber von der </a:t>
            </a:r>
            <a:r>
              <a:rPr lang="de-DE" b="1" dirty="0"/>
              <a:t>Wirkleistung (W)</a:t>
            </a:r>
            <a:r>
              <a:rPr lang="de-DE" dirty="0"/>
              <a:t> ab</a:t>
            </a:r>
          </a:p>
          <a:p>
            <a:r>
              <a:rPr lang="de-DE" dirty="0"/>
              <a:t>Zusammenhang über den </a:t>
            </a:r>
            <a:r>
              <a:rPr lang="de-DE" b="1" dirty="0"/>
              <a:t>Leistungsfaktor</a:t>
            </a:r>
            <a:r>
              <a:rPr lang="de-DE" dirty="0"/>
              <a:t> </a:t>
            </a:r>
          </a:p>
          <a:p>
            <a:r>
              <a:rPr lang="de-DE" dirty="0"/>
              <a:t>S = 900VA , cos(</a:t>
            </a:r>
            <a:r>
              <a:rPr lang="el-GR" dirty="0"/>
              <a:t>φ)=</a:t>
            </a:r>
            <a:r>
              <a:rPr lang="de-DE" dirty="0"/>
              <a:t> </a:t>
            </a:r>
            <a:r>
              <a:rPr lang="el-GR" dirty="0"/>
              <a:t>0,8 </a:t>
            </a:r>
            <a:br>
              <a:rPr lang="de-DE" dirty="0"/>
            </a:br>
            <a:r>
              <a:rPr lang="de-DE" dirty="0"/>
              <a:t>P = 900 VA × 0,8= 720 W</a:t>
            </a:r>
            <a:endParaRPr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E6F00A96-8A91-433C-89F5-B6DE3CB4C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9411" y="3705418"/>
            <a:ext cx="1902199" cy="266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85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EC327EB-35E2-4AEE-BAAD-AB6D3A2C1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Berechnung</a:t>
            </a:r>
            <a:r>
              <a:rPr dirty="0"/>
              <a:t> der </a:t>
            </a:r>
            <a:r>
              <a:rPr dirty="0" err="1"/>
              <a:t>Durchhaltezeit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de-DE" dirty="0"/>
                  <a:t>Ziel: Wie </a:t>
                </a:r>
                <a:r>
                  <a:rPr lang="de-DE" dirty="0" err="1"/>
                  <a:t>lange</a:t>
                </a:r>
                <a:r>
                  <a:rPr lang="de-DE" dirty="0"/>
                  <a:t> </a:t>
                </a:r>
                <a:r>
                  <a:rPr lang="de-DE" dirty="0" err="1"/>
                  <a:t>hält</a:t>
                </a:r>
                <a:r>
                  <a:rPr lang="de-DE" dirty="0"/>
                  <a:t> die Batterie </a:t>
                </a:r>
                <a:r>
                  <a:rPr lang="de-DE" dirty="0" err="1"/>
                  <a:t>bei</a:t>
                </a:r>
                <a:r>
                  <a:rPr lang="de-DE" dirty="0"/>
                  <a:t> </a:t>
                </a:r>
                <a:r>
                  <a:rPr lang="de-DE" dirty="0" err="1"/>
                  <a:t>Stromausfall</a:t>
                </a:r>
                <a:r>
                  <a:rPr lang="de-DE" dirty="0"/>
                  <a:t> </a:t>
                </a:r>
                <a:r>
                  <a:rPr lang="de-DE" dirty="0" err="1"/>
                  <a:t>durch</a:t>
                </a:r>
                <a:r>
                  <a:rPr lang="de-DE" dirty="0"/>
                  <a:t>?</a:t>
                </a:r>
              </a:p>
              <a:p>
                <a:r>
                  <a:rPr lang="de-DE" dirty="0"/>
                  <a:t>Formel : 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de-DE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/>
                          <m:t>U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de-DE" b="0" i="0" smtClean="0"/>
                          <m:t>x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de-DE"/>
                          <m:t>Ah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de-DE" b="0" i="0" smtClean="0"/>
                          <m:t>x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el-GR"/>
                          <m:t>η</m:t>
                        </m:r>
                      </m:num>
                      <m:den>
                        <m:r>
                          <m:rPr>
                            <m:nor/>
                          </m:rPr>
                          <a:rPr lang="de-DE"/>
                          <m:t>P</m:t>
                        </m:r>
                      </m:den>
                    </m:f>
                  </m:oMath>
                </a14:m>
                <a:endParaRPr lang="de-DE" dirty="0"/>
              </a:p>
              <a:p>
                <a:r>
                  <a:rPr lang="de-DE" dirty="0"/>
                  <a:t>U: Batteriespannung (V), </a:t>
                </a:r>
                <a:br>
                  <a:rPr lang="de-DE" dirty="0"/>
                </a:br>
                <a:r>
                  <a:rPr lang="de-DE" dirty="0"/>
                  <a:t>Ah: Kapazität (Amperestunden), </a:t>
                </a:r>
                <a:br>
                  <a:rPr lang="de-DE" dirty="0"/>
                </a:br>
                <a:r>
                  <a:rPr lang="el-GR" dirty="0"/>
                  <a:t>η: </a:t>
                </a:r>
                <a:r>
                  <a:rPr lang="de-DE" dirty="0" err="1"/>
                  <a:t>Wirkungsgrad</a:t>
                </a:r>
                <a:r>
                  <a:rPr lang="de-DE" dirty="0"/>
                  <a:t>, P: Last (W)</a:t>
                </a:r>
              </a:p>
              <a:p>
                <a:r>
                  <a:rPr lang="de-DE" dirty="0" err="1"/>
                  <a:t>Beispiel</a:t>
                </a:r>
                <a:r>
                  <a:rPr lang="de-DE" dirty="0"/>
                  <a:t> :</a:t>
                </a:r>
                <a14:m>
                  <m:oMath xmlns:m="http://schemas.openxmlformats.org/officeDocument/2006/math">
                    <m:r>
                      <a:rPr lang="de-DE" b="0" i="0" dirty="0" smtClean="0"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/>
                          <m:t>24</m:t>
                        </m:r>
                        <m:r>
                          <m:rPr>
                            <m:nor/>
                          </m:rPr>
                          <a:rPr lang="de-DE"/>
                          <m:t>V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de-DE" b="0" i="0" smtClean="0"/>
                          <m:t>x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20</m:t>
                        </m:r>
                        <m:r>
                          <m:rPr>
                            <m:nor/>
                          </m:rPr>
                          <a:rPr lang="de-DE"/>
                          <m:t>Ah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</m:t>
                        </m:r>
                        <m:r>
                          <m:rPr>
                            <m:nor/>
                          </m:rPr>
                          <a:rPr lang="de-DE" b="0" i="0" smtClean="0"/>
                          <m:t>x</m:t>
                        </m:r>
                        <m:r>
                          <m:rPr>
                            <m:nor/>
                          </m:rPr>
                          <a:rPr lang="de-DE" b="0" i="0" smtClean="0"/>
                          <m:t> 0,9</m:t>
                        </m:r>
                      </m:num>
                      <m:den>
                        <m:r>
                          <m:rPr>
                            <m:nor/>
                          </m:rPr>
                          <a:rPr lang="de-DE" b="0" i="0" smtClean="0">
                            <a:latin typeface="Cambria Math" panose="02040503050406030204" pitchFamily="18" charset="0"/>
                          </a:rPr>
                          <m:t>720</m:t>
                        </m:r>
                        <m:r>
                          <m:rPr>
                            <m:nor/>
                          </m:rPr>
                          <a:rPr lang="de-DE"/>
                          <m:t>W</m:t>
                        </m:r>
                      </m:den>
                    </m:f>
                    <m:r>
                      <a:rPr lang="de-D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e-DE"/>
                      <m:t>0,6</m:t>
                    </m:r>
                    <m:r>
                      <m:rPr>
                        <m:nor/>
                      </m:rPr>
                      <a:rPr lang="de-DE"/>
                      <m:t>h</m:t>
                    </m:r>
                    <m:r>
                      <m:rPr>
                        <m:nor/>
                      </m:rPr>
                      <a:rPr lang="de-DE" b="0" i="0" smtClean="0"/>
                      <m:t> </m:t>
                    </m:r>
                    <m:r>
                      <m:rPr>
                        <m:nor/>
                      </m:rPr>
                      <a:rPr lang="de-DE"/>
                      <m:t>≈</m:t>
                    </m:r>
                    <m:r>
                      <m:rPr>
                        <m:nor/>
                      </m:rPr>
                      <a:rPr lang="de-DE" b="0" i="0" smtClean="0"/>
                      <m:t> </m:t>
                    </m:r>
                    <m:r>
                      <m:rPr>
                        <m:nor/>
                      </m:rPr>
                      <a:rPr lang="de-DE"/>
                      <m:t>36</m:t>
                    </m:r>
                    <m:r>
                      <m:rPr>
                        <m:nor/>
                      </m:rPr>
                      <a:rPr lang="de-DE"/>
                      <m:t>Minuten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41" t="-29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6">
            <a:extLst>
              <a:ext uri="{FF2B5EF4-FFF2-40B4-BE49-F238E27FC236}">
                <a16:creationId xmlns:a16="http://schemas.microsoft.com/office/drawing/2014/main" id="{FB8E454F-CCC1-41BF-B186-82A214C03FF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38774" y="2676524"/>
            <a:ext cx="2543175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5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7000" contrast="-6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3536097-8FEB-488C-A023-E1F6A52F2E3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Automatisches</a:t>
            </a:r>
            <a:r>
              <a:rPr dirty="0"/>
              <a:t> </a:t>
            </a:r>
            <a:r>
              <a:rPr dirty="0" err="1"/>
              <a:t>Herunterfahren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Viele USV-Systeme verbinden sich via USB/LAN mit dem Computer oder Server.</a:t>
            </a:r>
          </a:p>
          <a:p>
            <a:r>
              <a:t>USV-Software (z. B. APC PowerChute, Eaton UPS Companion) erkennt Stromausfälle.</a:t>
            </a:r>
          </a:p>
          <a:p>
            <a:r>
              <a:t>Systeme können automatisch und sicher herunterfahren, bevor Batterie leer ist.</a:t>
            </a:r>
          </a:p>
          <a:p>
            <a:r>
              <a:t>Besonders wichtig für Server und NAS-Systeme.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3536097-8FEB-488C-A023-E1F6A52F2E3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-1143000"/>
            <a:ext cx="9144000" cy="91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Automatisches</a:t>
            </a:r>
            <a:r>
              <a:rPr dirty="0"/>
              <a:t> </a:t>
            </a:r>
            <a:r>
              <a:rPr dirty="0" err="1"/>
              <a:t>Herunterfahren</a:t>
            </a:r>
            <a:br>
              <a:rPr lang="de-DE" dirty="0"/>
            </a:br>
            <a:r>
              <a:rPr lang="de-DE" dirty="0"/>
              <a:t>(</a:t>
            </a:r>
            <a:r>
              <a:rPr lang="de-DE" i="1" dirty="0"/>
              <a:t>Interface</a:t>
            </a:r>
            <a:r>
              <a:rPr lang="de-DE" dirty="0"/>
              <a:t>)</a:t>
            </a:r>
            <a:endParaRPr dirty="0"/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161C7781-878F-42B2-ADAA-DF59495F6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0753" y="2267406"/>
            <a:ext cx="5239647" cy="1948696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DF49E55-F7E4-468B-B29D-6E7B65E11999}"/>
              </a:ext>
            </a:extLst>
          </p:cNvPr>
          <p:cNvSpPr txBox="1"/>
          <p:nvPr/>
        </p:nvSpPr>
        <p:spPr>
          <a:xfrm>
            <a:off x="1201270" y="4930589"/>
            <a:ext cx="7216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USB</a:t>
            </a:r>
            <a:r>
              <a:rPr lang="de-DE" b="1" dirty="0"/>
              <a:t>:</a:t>
            </a:r>
            <a:r>
              <a:rPr lang="de-DE" dirty="0"/>
              <a:t> Steuert die USV direkt am PC für automatisches Herunterfahren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9584FE0-3CF9-49E5-8CD4-87BF44A527CB}"/>
              </a:ext>
            </a:extLst>
          </p:cNvPr>
          <p:cNvSpPr txBox="1"/>
          <p:nvPr/>
        </p:nvSpPr>
        <p:spPr>
          <a:xfrm>
            <a:off x="1201269" y="5381975"/>
            <a:ext cx="7754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FFC000"/>
                </a:solidFill>
              </a:rPr>
              <a:t>SERIAL</a:t>
            </a:r>
            <a:r>
              <a:rPr lang="de-DE" b="1" dirty="0"/>
              <a:t>:</a:t>
            </a:r>
            <a:r>
              <a:rPr lang="de-DE" dirty="0"/>
              <a:t> Ältere Schnittstelle zur Steuerung/Signalisierung zum Herunterfahren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969CAB-D13D-40EA-BF0F-0C5659993003}"/>
              </a:ext>
            </a:extLst>
          </p:cNvPr>
          <p:cNvSpPr txBox="1"/>
          <p:nvPr/>
        </p:nvSpPr>
        <p:spPr>
          <a:xfrm>
            <a:off x="1165409" y="5829742"/>
            <a:ext cx="7754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accent1"/>
                </a:solidFill>
              </a:rPr>
              <a:t>NETWORK</a:t>
            </a:r>
            <a:r>
              <a:rPr lang="de-DE" b="1" dirty="0"/>
              <a:t>:</a:t>
            </a:r>
            <a:r>
              <a:rPr lang="de-DE" dirty="0"/>
              <a:t> Netzwerkbasierte Steuerung, ermöglicht Remote-Herunterfahren mehrerer Geräte über LAN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AE26F70-02DA-4E0F-AF53-F81EC7821AE1}"/>
              </a:ext>
            </a:extLst>
          </p:cNvPr>
          <p:cNvSpPr txBox="1"/>
          <p:nvPr/>
        </p:nvSpPr>
        <p:spPr>
          <a:xfrm>
            <a:off x="2029805" y="3547917"/>
            <a:ext cx="712694" cy="41549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2100" kern="1000" dirty="0">
                <a:solidFill>
                  <a:srgbClr val="FF0000"/>
                </a:solidFill>
              </a:rPr>
              <a:t>USB</a:t>
            </a:r>
            <a:endParaRPr lang="de-DE" sz="2100" kern="10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80A0AE5-14A1-48A6-9FD7-5437E38FA54F}"/>
              </a:ext>
            </a:extLst>
          </p:cNvPr>
          <p:cNvSpPr txBox="1"/>
          <p:nvPr/>
        </p:nvSpPr>
        <p:spPr>
          <a:xfrm>
            <a:off x="3183310" y="3680930"/>
            <a:ext cx="1008670" cy="43088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de-DE" sz="2200" kern="1000" dirty="0">
                <a:solidFill>
                  <a:srgbClr val="FFC000"/>
                </a:solidFill>
              </a:rPr>
              <a:t>SERIAL</a:t>
            </a:r>
          </a:p>
        </p:txBody>
      </p:sp>
    </p:spTree>
    <p:extLst>
      <p:ext uri="{BB962C8B-B14F-4D97-AF65-F5344CB8AC3E}">
        <p14:creationId xmlns:p14="http://schemas.microsoft.com/office/powerpoint/2010/main" val="2485555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283DCDB-08C4-40F1-96CA-A1FE7AB51B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0" y="0"/>
            <a:ext cx="9215718" cy="8001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Vorteile &amp; Grenzen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Vorteile: Schutz vor Datenverlust &amp; Hardware-Schäden, Spannung stabilisiert, Überbrückung bis Notstrom startet.</a:t>
            </a:r>
          </a:p>
          <a:p>
            <a:r>
              <a:t>Grenzen: Begrenzte Laufzeit, Batteriewartung nötig, keine Lösung für lange Stromausfälle.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email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000"/>
                    </a14:imgEffect>
                    <a14:imgEffect>
                      <a14:colorTemperature colorTemp="6574"/>
                    </a14:imgEffect>
                    <a14:imgEffect>
                      <a14:saturation sat="53000"/>
                    </a14:imgEffect>
                    <a14:imgEffect>
                      <a14:brightnessContrast bright="44000" contras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USV = essenziell für kritische Systeme.</a:t>
            </a:r>
          </a:p>
          <a:p>
            <a:r>
              <a:t>Wichtige Komponenten: Batterie, Gleichrichter, Wechselrichter.</a:t>
            </a:r>
          </a:p>
          <a:p>
            <a:r>
              <a:t>Auswahl abhängig von Leistung, Laufzeit &amp; Budget.</a:t>
            </a:r>
          </a:p>
          <a:p>
            <a:r>
              <a:t>USV kann Systeme sicher herunterfahren und Ausfallzeiten minimieren.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1CF35C-8F03-4748-BF7C-EA8C61F2408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alphaModFix amt="1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chaltkreis">
  <a:themeElements>
    <a:clrScheme name="Schaltkreis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Schaltkreis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haltkreis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TM04033919[[fn=Schaltkreis]]</Template>
  <TotalTime>0</TotalTime>
  <Words>576</Words>
  <Application>Microsoft Office PowerPoint</Application>
  <PresentationFormat>Bildschirmpräsentation (4:3)</PresentationFormat>
  <Paragraphs>80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Cambria Math</vt:lpstr>
      <vt:lpstr>Tw Cen MT</vt:lpstr>
      <vt:lpstr>Schaltkreis</vt:lpstr>
      <vt:lpstr>Unterbrechungsfreie Stromversorgung (USV)</vt:lpstr>
      <vt:lpstr>Was ist eine USV?</vt:lpstr>
      <vt:lpstr>Aufbau &amp; Hauptkomponenten</vt:lpstr>
      <vt:lpstr>Aufbau &amp; Hauptkomponenten (DiagramM)</vt:lpstr>
      <vt:lpstr>Aufbau &amp; Hauptkomponenten (tEARDOWN)</vt:lpstr>
      <vt:lpstr>Arten von USV-Systemen</vt:lpstr>
      <vt:lpstr>Dimensionierung der USV</vt:lpstr>
      <vt:lpstr>Ermittlung der Gesamtlast</vt:lpstr>
      <vt:lpstr>Ermittlung der Gesamtlast  ( Beispiel Rechnung )</vt:lpstr>
      <vt:lpstr>Umrechnung in Scheinleistung</vt:lpstr>
      <vt:lpstr>Kompliziertes zurückrechnen</vt:lpstr>
      <vt:lpstr>Berechnung der Durchhaltezeit</vt:lpstr>
      <vt:lpstr>Automatisches Herunterfahren</vt:lpstr>
      <vt:lpstr>Automatisches Herunterfahren (Interface)</vt:lpstr>
      <vt:lpstr>Vorteile &amp; Grenzen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Unterbrechungsfreie Stromversorgung (USV)</dc:title>
  <dc:subject/>
  <dc:creator>Patrick Latacz</dc:creator>
  <cp:keywords/>
  <dc:description>generated using python-pptx</dc:description>
  <cp:lastModifiedBy>Patrick Latacz</cp:lastModifiedBy>
  <cp:revision>19</cp:revision>
  <dcterms:created xsi:type="dcterms:W3CDTF">2013-01-27T09:14:16Z</dcterms:created>
  <dcterms:modified xsi:type="dcterms:W3CDTF">2025-10-28T09:07:12Z</dcterms:modified>
  <cp:category/>
</cp:coreProperties>
</file>