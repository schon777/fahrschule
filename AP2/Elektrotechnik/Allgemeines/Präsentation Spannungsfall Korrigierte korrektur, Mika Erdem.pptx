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2" r:id="rId4"/>
    <p:sldId id="263" r:id="rId5"/>
    <p:sldId id="261" r:id="rId6"/>
    <p:sldId id="266" r:id="rId7"/>
    <p:sldId id="270" r:id="rId8"/>
    <p:sldId id="269" r:id="rId9"/>
    <p:sldId id="259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0" r:id="rId19"/>
    <p:sldId id="282" r:id="rId20"/>
    <p:sldId id="277" r:id="rId21"/>
    <p:sldId id="283" r:id="rId22"/>
    <p:sldId id="285" r:id="rId23"/>
    <p:sldId id="286" r:id="rId24"/>
    <p:sldId id="268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6E0984-33B7-4E65-BB90-84FC34F2CB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A09AC6-3603-43FD-80E7-0C94C4E3842A}">
      <dgm:prSet/>
      <dgm:spPr/>
      <dgm:t>
        <a:bodyPr/>
        <a:lstStyle/>
        <a:p>
          <a:r>
            <a:rPr lang="de-DE"/>
            <a:t>Was ist „Spannungsfall“ überhaupt ? </a:t>
          </a:r>
          <a:endParaRPr lang="en-US"/>
        </a:p>
      </dgm:t>
    </dgm:pt>
    <dgm:pt modelId="{01DD2EF0-6144-4C7C-AA44-714B1ACA6AE9}" type="parTrans" cxnId="{7EEE2B7B-0874-44D5-9535-E67CEC9FB667}">
      <dgm:prSet/>
      <dgm:spPr/>
      <dgm:t>
        <a:bodyPr/>
        <a:lstStyle/>
        <a:p>
          <a:endParaRPr lang="en-US"/>
        </a:p>
      </dgm:t>
    </dgm:pt>
    <dgm:pt modelId="{0792FFB6-0D3A-425F-A98D-42D3D1F36297}" type="sibTrans" cxnId="{7EEE2B7B-0874-44D5-9535-E67CEC9FB667}">
      <dgm:prSet/>
      <dgm:spPr/>
      <dgm:t>
        <a:bodyPr/>
        <a:lstStyle/>
        <a:p>
          <a:endParaRPr lang="en-US"/>
        </a:p>
      </dgm:t>
    </dgm:pt>
    <dgm:pt modelId="{CDD3DAA2-0181-451A-8EBA-6A932C9AAFE2}">
      <dgm:prSet/>
      <dgm:spPr/>
      <dgm:t>
        <a:bodyPr/>
        <a:lstStyle/>
        <a:p>
          <a:r>
            <a:rPr lang="de-DE"/>
            <a:t>Spannungsfall und Spannungsabfall ? Ist das nicht das gleiche ? </a:t>
          </a:r>
          <a:endParaRPr lang="en-US"/>
        </a:p>
      </dgm:t>
    </dgm:pt>
    <dgm:pt modelId="{B136D910-B45F-4877-9975-E46A37A2F399}" type="parTrans" cxnId="{7B4A13D6-DBD4-4957-B63D-377AB5838F45}">
      <dgm:prSet/>
      <dgm:spPr/>
      <dgm:t>
        <a:bodyPr/>
        <a:lstStyle/>
        <a:p>
          <a:endParaRPr lang="en-US"/>
        </a:p>
      </dgm:t>
    </dgm:pt>
    <dgm:pt modelId="{6416AFF7-6871-487B-B13F-FFEBC95CDBEE}" type="sibTrans" cxnId="{7B4A13D6-DBD4-4957-B63D-377AB5838F45}">
      <dgm:prSet/>
      <dgm:spPr/>
      <dgm:t>
        <a:bodyPr/>
        <a:lstStyle/>
        <a:p>
          <a:endParaRPr lang="en-US"/>
        </a:p>
      </dgm:t>
    </dgm:pt>
    <dgm:pt modelId="{A92E6749-1BE5-4496-8C92-8565F4F2375E}">
      <dgm:prSet/>
      <dgm:spPr/>
      <dgm:t>
        <a:bodyPr/>
        <a:lstStyle/>
        <a:p>
          <a:r>
            <a:rPr lang="de-DE"/>
            <a:t>Warum beschäftigen wir uns mit Spannungsfall ?</a:t>
          </a:r>
          <a:endParaRPr lang="en-US"/>
        </a:p>
      </dgm:t>
    </dgm:pt>
    <dgm:pt modelId="{43311B97-06E6-493A-9D82-1C80DB43D5EA}" type="parTrans" cxnId="{837B8BD6-04FF-4A5A-BF71-0C48F80D9B55}">
      <dgm:prSet/>
      <dgm:spPr/>
      <dgm:t>
        <a:bodyPr/>
        <a:lstStyle/>
        <a:p>
          <a:endParaRPr lang="en-US"/>
        </a:p>
      </dgm:t>
    </dgm:pt>
    <dgm:pt modelId="{9F700AC1-B2CF-429E-8C3B-B628CCB173C3}" type="sibTrans" cxnId="{837B8BD6-04FF-4A5A-BF71-0C48F80D9B55}">
      <dgm:prSet/>
      <dgm:spPr/>
      <dgm:t>
        <a:bodyPr/>
        <a:lstStyle/>
        <a:p>
          <a:endParaRPr lang="en-US"/>
        </a:p>
      </dgm:t>
    </dgm:pt>
    <dgm:pt modelId="{738CD8AF-CD0B-4432-990D-7829E28E006F}">
      <dgm:prSet/>
      <dgm:spPr/>
      <dgm:t>
        <a:bodyPr/>
        <a:lstStyle/>
        <a:p>
          <a:r>
            <a:rPr lang="de-DE"/>
            <a:t>Minimierung des Spannungsfalls</a:t>
          </a:r>
          <a:endParaRPr lang="en-US"/>
        </a:p>
      </dgm:t>
    </dgm:pt>
    <dgm:pt modelId="{4861B6AD-D77E-45A7-84BA-912FE0445280}" type="parTrans" cxnId="{64FA79FE-0850-4EEF-A7D7-67632C3C46B2}">
      <dgm:prSet/>
      <dgm:spPr/>
      <dgm:t>
        <a:bodyPr/>
        <a:lstStyle/>
        <a:p>
          <a:endParaRPr lang="en-US"/>
        </a:p>
      </dgm:t>
    </dgm:pt>
    <dgm:pt modelId="{24592089-433A-4736-874D-C5EA87920565}" type="sibTrans" cxnId="{64FA79FE-0850-4EEF-A7D7-67632C3C46B2}">
      <dgm:prSet/>
      <dgm:spPr/>
      <dgm:t>
        <a:bodyPr/>
        <a:lstStyle/>
        <a:p>
          <a:endParaRPr lang="en-US"/>
        </a:p>
      </dgm:t>
    </dgm:pt>
    <dgm:pt modelId="{F28D4A2B-AF1F-4ACA-9F98-9D93779CE949}">
      <dgm:prSet/>
      <dgm:spPr/>
      <dgm:t>
        <a:bodyPr/>
        <a:lstStyle/>
        <a:p>
          <a:r>
            <a:rPr lang="de-DE"/>
            <a:t>Zulässiger Spannungsfall</a:t>
          </a:r>
          <a:endParaRPr lang="en-US"/>
        </a:p>
      </dgm:t>
    </dgm:pt>
    <dgm:pt modelId="{78B54C48-3191-4412-B89D-036E3C5F6CAF}" type="parTrans" cxnId="{92181F11-16C9-4DAF-A2C7-C68B43D9E5A8}">
      <dgm:prSet/>
      <dgm:spPr/>
      <dgm:t>
        <a:bodyPr/>
        <a:lstStyle/>
        <a:p>
          <a:endParaRPr lang="en-US"/>
        </a:p>
      </dgm:t>
    </dgm:pt>
    <dgm:pt modelId="{F839AAE4-68B9-483E-AF86-5D8A4B668C91}" type="sibTrans" cxnId="{92181F11-16C9-4DAF-A2C7-C68B43D9E5A8}">
      <dgm:prSet/>
      <dgm:spPr/>
      <dgm:t>
        <a:bodyPr/>
        <a:lstStyle/>
        <a:p>
          <a:endParaRPr lang="en-US"/>
        </a:p>
      </dgm:t>
    </dgm:pt>
    <dgm:pt modelId="{834AC1F7-7589-44CB-90DB-C43CDCC68038}">
      <dgm:prSet/>
      <dgm:spPr/>
      <dgm:t>
        <a:bodyPr/>
        <a:lstStyle/>
        <a:p>
          <a:r>
            <a:rPr lang="de-DE"/>
            <a:t>Wichtige Formeln</a:t>
          </a:r>
          <a:endParaRPr lang="en-US"/>
        </a:p>
      </dgm:t>
    </dgm:pt>
    <dgm:pt modelId="{9A9ED7D7-9120-49DE-B7AC-B382B049E173}" type="parTrans" cxnId="{123FE882-F376-4A78-9CED-D880747D5BA4}">
      <dgm:prSet/>
      <dgm:spPr/>
      <dgm:t>
        <a:bodyPr/>
        <a:lstStyle/>
        <a:p>
          <a:endParaRPr lang="en-US"/>
        </a:p>
      </dgm:t>
    </dgm:pt>
    <dgm:pt modelId="{4DA87634-2DD3-4881-870B-3C930BB6CF09}" type="sibTrans" cxnId="{123FE882-F376-4A78-9CED-D880747D5BA4}">
      <dgm:prSet/>
      <dgm:spPr/>
      <dgm:t>
        <a:bodyPr/>
        <a:lstStyle/>
        <a:p>
          <a:endParaRPr lang="en-US"/>
        </a:p>
      </dgm:t>
    </dgm:pt>
    <dgm:pt modelId="{A8AF7082-EE75-41A3-B107-50238738CCA3}" type="pres">
      <dgm:prSet presAssocID="{B96E0984-33B7-4E65-BB90-84FC34F2CBDA}" presName="linear" presStyleCnt="0">
        <dgm:presLayoutVars>
          <dgm:animLvl val="lvl"/>
          <dgm:resizeHandles val="exact"/>
        </dgm:presLayoutVars>
      </dgm:prSet>
      <dgm:spPr/>
    </dgm:pt>
    <dgm:pt modelId="{324B705B-F1BA-4688-AE62-8D9B635E7CE6}" type="pres">
      <dgm:prSet presAssocID="{C1A09AC6-3603-43FD-80E7-0C94C4E3842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4F04C61-3C0C-4432-AC95-B7B3D523602C}" type="pres">
      <dgm:prSet presAssocID="{0792FFB6-0D3A-425F-A98D-42D3D1F36297}" presName="spacer" presStyleCnt="0"/>
      <dgm:spPr/>
    </dgm:pt>
    <dgm:pt modelId="{DA0F76C7-D392-4861-8234-BBE4B90DD69A}" type="pres">
      <dgm:prSet presAssocID="{CDD3DAA2-0181-451A-8EBA-6A932C9AAFE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4E6E691-1F64-4E4B-B94F-413005A1187B}" type="pres">
      <dgm:prSet presAssocID="{6416AFF7-6871-487B-B13F-FFEBC95CDBEE}" presName="spacer" presStyleCnt="0"/>
      <dgm:spPr/>
    </dgm:pt>
    <dgm:pt modelId="{4B00EDB6-8C9E-47E5-BE75-32EC5CF7CCE3}" type="pres">
      <dgm:prSet presAssocID="{A92E6749-1BE5-4496-8C92-8565F4F2375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57B1D6B-D400-45D2-90A5-E70C1E879018}" type="pres">
      <dgm:prSet presAssocID="{9F700AC1-B2CF-429E-8C3B-B628CCB173C3}" presName="spacer" presStyleCnt="0"/>
      <dgm:spPr/>
    </dgm:pt>
    <dgm:pt modelId="{97C95478-3DAE-4402-9B0F-73ACA963AC83}" type="pres">
      <dgm:prSet presAssocID="{738CD8AF-CD0B-4432-990D-7829E28E006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2F0C0E3-D52D-4EE4-8E57-5D33C90F0BCD}" type="pres">
      <dgm:prSet presAssocID="{24592089-433A-4736-874D-C5EA87920565}" presName="spacer" presStyleCnt="0"/>
      <dgm:spPr/>
    </dgm:pt>
    <dgm:pt modelId="{FF6528C1-1342-4C63-8FB8-5523AF88437C}" type="pres">
      <dgm:prSet presAssocID="{F28D4A2B-AF1F-4ACA-9F98-9D93779CE94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DC0F16E-A625-4667-9BA0-40BC6B2DE917}" type="pres">
      <dgm:prSet presAssocID="{F839AAE4-68B9-483E-AF86-5D8A4B668C91}" presName="spacer" presStyleCnt="0"/>
      <dgm:spPr/>
    </dgm:pt>
    <dgm:pt modelId="{7529B9ED-E095-4613-90B8-414FE7C457B5}" type="pres">
      <dgm:prSet presAssocID="{834AC1F7-7589-44CB-90DB-C43CDCC6803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181F11-16C9-4DAF-A2C7-C68B43D9E5A8}" srcId="{B96E0984-33B7-4E65-BB90-84FC34F2CBDA}" destId="{F28D4A2B-AF1F-4ACA-9F98-9D93779CE949}" srcOrd="4" destOrd="0" parTransId="{78B54C48-3191-4412-B89D-036E3C5F6CAF}" sibTransId="{F839AAE4-68B9-483E-AF86-5D8A4B668C91}"/>
    <dgm:cxn modelId="{0CC41578-57B2-467C-A611-3309F88FE567}" type="presOf" srcId="{B96E0984-33B7-4E65-BB90-84FC34F2CBDA}" destId="{A8AF7082-EE75-41A3-B107-50238738CCA3}" srcOrd="0" destOrd="0" presId="urn:microsoft.com/office/officeart/2005/8/layout/vList2"/>
    <dgm:cxn modelId="{7EEE2B7B-0874-44D5-9535-E67CEC9FB667}" srcId="{B96E0984-33B7-4E65-BB90-84FC34F2CBDA}" destId="{C1A09AC6-3603-43FD-80E7-0C94C4E3842A}" srcOrd="0" destOrd="0" parTransId="{01DD2EF0-6144-4C7C-AA44-714B1ACA6AE9}" sibTransId="{0792FFB6-0D3A-425F-A98D-42D3D1F36297}"/>
    <dgm:cxn modelId="{123FE882-F376-4A78-9CED-D880747D5BA4}" srcId="{B96E0984-33B7-4E65-BB90-84FC34F2CBDA}" destId="{834AC1F7-7589-44CB-90DB-C43CDCC68038}" srcOrd="5" destOrd="0" parTransId="{9A9ED7D7-9120-49DE-B7AC-B382B049E173}" sibTransId="{4DA87634-2DD3-4881-870B-3C930BB6CF09}"/>
    <dgm:cxn modelId="{CA9EB088-8752-47D9-A109-AF7F72532D72}" type="presOf" srcId="{738CD8AF-CD0B-4432-990D-7829E28E006F}" destId="{97C95478-3DAE-4402-9B0F-73ACA963AC83}" srcOrd="0" destOrd="0" presId="urn:microsoft.com/office/officeart/2005/8/layout/vList2"/>
    <dgm:cxn modelId="{EBB9E2BB-BFDD-42D0-8863-AD2A4A6BDE40}" type="presOf" srcId="{C1A09AC6-3603-43FD-80E7-0C94C4E3842A}" destId="{324B705B-F1BA-4688-AE62-8D9B635E7CE6}" srcOrd="0" destOrd="0" presId="urn:microsoft.com/office/officeart/2005/8/layout/vList2"/>
    <dgm:cxn modelId="{95B25CC1-A0DB-4A6E-A316-4DB263787400}" type="presOf" srcId="{CDD3DAA2-0181-451A-8EBA-6A932C9AAFE2}" destId="{DA0F76C7-D392-4861-8234-BBE4B90DD69A}" srcOrd="0" destOrd="0" presId="urn:microsoft.com/office/officeart/2005/8/layout/vList2"/>
    <dgm:cxn modelId="{FC108DCC-F1CE-4EDB-9620-4760581C9421}" type="presOf" srcId="{F28D4A2B-AF1F-4ACA-9F98-9D93779CE949}" destId="{FF6528C1-1342-4C63-8FB8-5523AF88437C}" srcOrd="0" destOrd="0" presId="urn:microsoft.com/office/officeart/2005/8/layout/vList2"/>
    <dgm:cxn modelId="{7B4A13D6-DBD4-4957-B63D-377AB5838F45}" srcId="{B96E0984-33B7-4E65-BB90-84FC34F2CBDA}" destId="{CDD3DAA2-0181-451A-8EBA-6A932C9AAFE2}" srcOrd="1" destOrd="0" parTransId="{B136D910-B45F-4877-9975-E46A37A2F399}" sibTransId="{6416AFF7-6871-487B-B13F-FFEBC95CDBEE}"/>
    <dgm:cxn modelId="{837B8BD6-04FF-4A5A-BF71-0C48F80D9B55}" srcId="{B96E0984-33B7-4E65-BB90-84FC34F2CBDA}" destId="{A92E6749-1BE5-4496-8C92-8565F4F2375E}" srcOrd="2" destOrd="0" parTransId="{43311B97-06E6-493A-9D82-1C80DB43D5EA}" sibTransId="{9F700AC1-B2CF-429E-8C3B-B628CCB173C3}"/>
    <dgm:cxn modelId="{536641ED-7AA2-4F88-9018-C428181697FF}" type="presOf" srcId="{834AC1F7-7589-44CB-90DB-C43CDCC68038}" destId="{7529B9ED-E095-4613-90B8-414FE7C457B5}" srcOrd="0" destOrd="0" presId="urn:microsoft.com/office/officeart/2005/8/layout/vList2"/>
    <dgm:cxn modelId="{DB2D26F5-A630-481D-8451-4105104323CC}" type="presOf" srcId="{A92E6749-1BE5-4496-8C92-8565F4F2375E}" destId="{4B00EDB6-8C9E-47E5-BE75-32EC5CF7CCE3}" srcOrd="0" destOrd="0" presId="urn:microsoft.com/office/officeart/2005/8/layout/vList2"/>
    <dgm:cxn modelId="{64FA79FE-0850-4EEF-A7D7-67632C3C46B2}" srcId="{B96E0984-33B7-4E65-BB90-84FC34F2CBDA}" destId="{738CD8AF-CD0B-4432-990D-7829E28E006F}" srcOrd="3" destOrd="0" parTransId="{4861B6AD-D77E-45A7-84BA-912FE0445280}" sibTransId="{24592089-433A-4736-874D-C5EA87920565}"/>
    <dgm:cxn modelId="{5BD4C380-AE6A-431A-B1A1-BBE6ED82C1E4}" type="presParOf" srcId="{A8AF7082-EE75-41A3-B107-50238738CCA3}" destId="{324B705B-F1BA-4688-AE62-8D9B635E7CE6}" srcOrd="0" destOrd="0" presId="urn:microsoft.com/office/officeart/2005/8/layout/vList2"/>
    <dgm:cxn modelId="{F8BEDEBB-41E6-4255-8D89-14952D4D65DD}" type="presParOf" srcId="{A8AF7082-EE75-41A3-B107-50238738CCA3}" destId="{B4F04C61-3C0C-4432-AC95-B7B3D523602C}" srcOrd="1" destOrd="0" presId="urn:microsoft.com/office/officeart/2005/8/layout/vList2"/>
    <dgm:cxn modelId="{F209A6EA-2C89-48D5-9496-5DFF410F221F}" type="presParOf" srcId="{A8AF7082-EE75-41A3-B107-50238738CCA3}" destId="{DA0F76C7-D392-4861-8234-BBE4B90DD69A}" srcOrd="2" destOrd="0" presId="urn:microsoft.com/office/officeart/2005/8/layout/vList2"/>
    <dgm:cxn modelId="{AFAFD279-498E-4394-B1B4-27D301A8DE94}" type="presParOf" srcId="{A8AF7082-EE75-41A3-B107-50238738CCA3}" destId="{14E6E691-1F64-4E4B-B94F-413005A1187B}" srcOrd="3" destOrd="0" presId="urn:microsoft.com/office/officeart/2005/8/layout/vList2"/>
    <dgm:cxn modelId="{195AE0CB-0600-415D-8FCA-4017F63DDC06}" type="presParOf" srcId="{A8AF7082-EE75-41A3-B107-50238738CCA3}" destId="{4B00EDB6-8C9E-47E5-BE75-32EC5CF7CCE3}" srcOrd="4" destOrd="0" presId="urn:microsoft.com/office/officeart/2005/8/layout/vList2"/>
    <dgm:cxn modelId="{17296391-45E8-431F-B598-4B01A91C961E}" type="presParOf" srcId="{A8AF7082-EE75-41A3-B107-50238738CCA3}" destId="{F57B1D6B-D400-45D2-90A5-E70C1E879018}" srcOrd="5" destOrd="0" presId="urn:microsoft.com/office/officeart/2005/8/layout/vList2"/>
    <dgm:cxn modelId="{61378280-FBA2-432D-A284-6FD72D499DDD}" type="presParOf" srcId="{A8AF7082-EE75-41A3-B107-50238738CCA3}" destId="{97C95478-3DAE-4402-9B0F-73ACA963AC83}" srcOrd="6" destOrd="0" presId="urn:microsoft.com/office/officeart/2005/8/layout/vList2"/>
    <dgm:cxn modelId="{F406D268-8F14-4C30-B66D-2958AA817BCD}" type="presParOf" srcId="{A8AF7082-EE75-41A3-B107-50238738CCA3}" destId="{32F0C0E3-D52D-4EE4-8E57-5D33C90F0BCD}" srcOrd="7" destOrd="0" presId="urn:microsoft.com/office/officeart/2005/8/layout/vList2"/>
    <dgm:cxn modelId="{A5956B1C-30A9-4595-9076-59828B2556D7}" type="presParOf" srcId="{A8AF7082-EE75-41A3-B107-50238738CCA3}" destId="{FF6528C1-1342-4C63-8FB8-5523AF88437C}" srcOrd="8" destOrd="0" presId="urn:microsoft.com/office/officeart/2005/8/layout/vList2"/>
    <dgm:cxn modelId="{5B03850D-A910-456E-8024-CB5E3ED261BA}" type="presParOf" srcId="{A8AF7082-EE75-41A3-B107-50238738CCA3}" destId="{EDC0F16E-A625-4667-9BA0-40BC6B2DE917}" srcOrd="9" destOrd="0" presId="urn:microsoft.com/office/officeart/2005/8/layout/vList2"/>
    <dgm:cxn modelId="{80E2C0A9-C306-43FA-9D88-1F89B4536D78}" type="presParOf" srcId="{A8AF7082-EE75-41A3-B107-50238738CCA3}" destId="{7529B9ED-E095-4613-90B8-414FE7C457B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B705B-F1BA-4688-AE62-8D9B635E7CE6}">
      <dsp:nvSpPr>
        <dsp:cNvPr id="0" name=""/>
        <dsp:cNvSpPr/>
      </dsp:nvSpPr>
      <dsp:spPr>
        <a:xfrm>
          <a:off x="0" y="5287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Was ist „Spannungsfall“ überhaupt ? </a:t>
          </a:r>
          <a:endParaRPr lang="en-US" sz="1800" kern="1200"/>
        </a:p>
      </dsp:txBody>
      <dsp:txXfrm>
        <a:off x="21589" y="550368"/>
        <a:ext cx="6519260" cy="399082"/>
      </dsp:txXfrm>
    </dsp:sp>
    <dsp:sp modelId="{DA0F76C7-D392-4861-8234-BBE4B90DD69A}">
      <dsp:nvSpPr>
        <dsp:cNvPr id="0" name=""/>
        <dsp:cNvSpPr/>
      </dsp:nvSpPr>
      <dsp:spPr>
        <a:xfrm>
          <a:off x="0" y="10228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Spannungsfall und Spannungsabfall ? Ist das nicht das gleiche ? </a:t>
          </a:r>
          <a:endParaRPr lang="en-US" sz="1800" kern="1200"/>
        </a:p>
      </dsp:txBody>
      <dsp:txXfrm>
        <a:off x="21589" y="1044468"/>
        <a:ext cx="6519260" cy="399082"/>
      </dsp:txXfrm>
    </dsp:sp>
    <dsp:sp modelId="{4B00EDB6-8C9E-47E5-BE75-32EC5CF7CCE3}">
      <dsp:nvSpPr>
        <dsp:cNvPr id="0" name=""/>
        <dsp:cNvSpPr/>
      </dsp:nvSpPr>
      <dsp:spPr>
        <a:xfrm>
          <a:off x="0" y="15169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Warum beschäftigen wir uns mit Spannungsfall ?</a:t>
          </a:r>
          <a:endParaRPr lang="en-US" sz="1800" kern="1200"/>
        </a:p>
      </dsp:txBody>
      <dsp:txXfrm>
        <a:off x="21589" y="1538568"/>
        <a:ext cx="6519260" cy="399082"/>
      </dsp:txXfrm>
    </dsp:sp>
    <dsp:sp modelId="{97C95478-3DAE-4402-9B0F-73ACA963AC83}">
      <dsp:nvSpPr>
        <dsp:cNvPr id="0" name=""/>
        <dsp:cNvSpPr/>
      </dsp:nvSpPr>
      <dsp:spPr>
        <a:xfrm>
          <a:off x="0" y="20110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Minimierung des Spannungsfalls</a:t>
          </a:r>
          <a:endParaRPr lang="en-US" sz="1800" kern="1200"/>
        </a:p>
      </dsp:txBody>
      <dsp:txXfrm>
        <a:off x="21589" y="2032668"/>
        <a:ext cx="6519260" cy="399082"/>
      </dsp:txXfrm>
    </dsp:sp>
    <dsp:sp modelId="{FF6528C1-1342-4C63-8FB8-5523AF88437C}">
      <dsp:nvSpPr>
        <dsp:cNvPr id="0" name=""/>
        <dsp:cNvSpPr/>
      </dsp:nvSpPr>
      <dsp:spPr>
        <a:xfrm>
          <a:off x="0" y="25051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Zulässiger Spannungsfall</a:t>
          </a:r>
          <a:endParaRPr lang="en-US" sz="1800" kern="1200"/>
        </a:p>
      </dsp:txBody>
      <dsp:txXfrm>
        <a:off x="21589" y="2526768"/>
        <a:ext cx="6519260" cy="399082"/>
      </dsp:txXfrm>
    </dsp:sp>
    <dsp:sp modelId="{7529B9ED-E095-4613-90B8-414FE7C457B5}">
      <dsp:nvSpPr>
        <dsp:cNvPr id="0" name=""/>
        <dsp:cNvSpPr/>
      </dsp:nvSpPr>
      <dsp:spPr>
        <a:xfrm>
          <a:off x="0" y="2999279"/>
          <a:ext cx="6562438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Wichtige Formeln</a:t>
          </a:r>
          <a:endParaRPr lang="en-US" sz="1800" kern="1200"/>
        </a:p>
      </dsp:txBody>
      <dsp:txXfrm>
        <a:off x="21589" y="3020868"/>
        <a:ext cx="6519260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7E3A2-FBD2-41C7-8EA6-788901B5E5C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F6EB3-5425-4801-86A2-0E5E48406A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250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18EA8-DAF0-8909-3044-B28381E5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33B728-BFB7-C966-B2BE-B80AF7788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95B31B-361B-6D45-12B7-C02ED093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70C2-8F05-40F1-9722-06EDD86FADF0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41139B-67CF-3931-9B6E-38B40270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BD5775-BCFB-44B2-230A-47C2C831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91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F6687-C64B-9B5A-BF9E-B175A100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9DD525-D726-136F-7090-2D341FE17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904C4F-6CD6-5792-6CEF-17FFC618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7E9D-E973-40F4-9753-21381384732E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5E2263-D640-B2CB-77BD-6ADC45BA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95E0E1-3832-0FBC-11B5-8BF34202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49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060B8-1054-E4BD-E479-FE4D2B251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4289EB-6255-FD2E-8AAE-58382F160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C8268-662B-AC09-1C5A-492AC5D2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704E1-6841-4FA8-8C38-FF7E3E9C28A0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E44459-CE05-44BF-A1E6-D51AC7BC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9E20AB-8B2B-4411-BA1D-AC7C681D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35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DE964-2A9F-E071-BC7C-93B7F992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734D8C-127F-19B8-FE8C-2EA5245BB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621262-E218-426E-BDCE-64E325589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741E73-A46F-0B2D-2B0B-CC9ED548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2CC0-D768-4F54-93C9-78759B5488CE}" type="datetime1">
              <a:rPr lang="de-DE" smtClean="0"/>
              <a:t>28.10.2025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C966B7-A762-AF21-9C0F-DA216C82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2D6F76-61E2-0008-A7A3-68E2D5D4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68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95168-2BB0-0395-A673-B272A51B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AFF92A-B7D7-1AD1-C6F9-679FA6D9B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803600-2140-8D3C-C661-A60C4508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F883D4-0919-AC0A-16E8-83AE51C21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F1E966A-B5F9-6905-E898-6EFFC3A4F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6933D5B-6958-490A-8899-A9EDBAF1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914C1-7B8E-4926-AC40-5C4237EC7A1D}" type="datetime1">
              <a:rPr lang="de-DE" smtClean="0"/>
              <a:t>28.10.2025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EB1133-E71B-0D70-0EBA-7002284B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8EF881-1B44-C8FB-C2A3-0C0BFAB3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10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61A5BE-938C-1FC2-ED59-A9F25A70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F2C8D8-0E6E-B6FD-C756-7A30B7D24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9B7B-0A76-4971-9CEB-DE5FCFF1E875}" type="datetime1">
              <a:rPr lang="de-DE" smtClean="0"/>
              <a:t>28.10.2025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CE6DC1-7891-18A3-3AB1-C1866FE0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4B2E97-EDE3-6C6E-05F0-F2E8EB66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83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098065-D7BA-EF0C-341E-EFCBFFA6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A0C7A-B640-4700-985E-44A9F030E7EF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3D53815-5ADA-41B5-71D6-3315EEA71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D11319-2539-E4E9-2FAF-9DD479F4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91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AA205-B9CF-B920-3525-D90D0153C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B5AB5A-3674-9A47-8919-19D7DC24E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15FEF0-1253-7595-8178-EA3755FF0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F08E7C-88F0-6DAB-4FB0-81A9CD83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F4492-A87D-4D98-A4F4-45720FCC198C}" type="datetime1">
              <a:rPr lang="de-DE" smtClean="0"/>
              <a:t>28.10.2025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456788-B481-5E12-C551-58964892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A62FCB-B3A3-0E72-8F08-2037D82E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68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4619D-E473-4CC6-8549-4ADC62FF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6D93A1-ABE2-8FA8-F873-4C1D5AC78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BA59C0-381A-8F22-EB41-277351401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513E6D-6D95-C0BC-38AB-F1B0CA4B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D04-E5A8-4A32-A42F-3E63AA77F0E3}" type="datetime1">
              <a:rPr lang="de-DE" smtClean="0"/>
              <a:t>28.10.2025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A86278-C930-B66B-0052-0DA3410D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D76B4C-723C-C912-762F-908875A1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90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CADC7-5537-9D76-7769-8E260555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F0327D-CE52-AEF5-332C-3F7FE968E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F7D037-06F1-EA94-1FD6-BB8523B4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FB07B-A378-4A02-88AF-2FA9203E6194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81FD45-F3EE-4884-6A68-3CDD363DF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E69BF0-4CA2-05EA-11F5-BFB18B61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27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3A9F9DB-BD09-3EF3-C6E7-48DBCCCDF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481176-FA9E-F7C4-AA4A-7E5A61011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1245B9-B1BD-D6DD-F655-3342372B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EB54-28FA-4743-8AE3-28B677DF92EC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6414B6-5C6F-C80D-8BC6-8D9E30FE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2AA7F8-6F27-9D0B-45A1-DBE7369F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07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6B1AEAB-F60E-1827-39D5-73E50AD7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A6BB2F-7EEA-FC8D-E79C-A59D77D5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CB30AA-C949-E4F3-7DFA-36670CF76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090F0-AC0A-4E94-8780-9179C7E08CF0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028F43-B932-EF98-B6E9-89EF43337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8F324-2003-3499-D9B4-D61DB1AF7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F05C9-A18D-4C86-897B-1A96735D72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525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4.wdp"/><Relationship Id="rId10" Type="http://schemas.microsoft.com/office/2007/relationships/hdphoto" Target="../media/hdphoto5.wdp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gesemi.com/blog/industry-news-7/how-does-a-zener-diode-regulate-voltage-243#:~:text=The%20key%20to%20Zener%20diode,receives%20a%20stable%20voltage%20supply" TargetMode="External"/><Relationship Id="rId3" Type="http://schemas.openxmlformats.org/officeDocument/2006/relationships/hyperlink" Target="https://elektriker-wissen.de/theorie/meistervorbereitung-teil-2/leitungsdimensionierung/zulaessiger-spannungsfall" TargetMode="External"/><Relationship Id="rId7" Type="http://schemas.openxmlformats.org/officeDocument/2006/relationships/hyperlink" Target="https://studyflix.de/elektrotechnik/z-diode-zener-diode-2580/video" TargetMode="External"/><Relationship Id="rId2" Type="http://schemas.openxmlformats.org/officeDocument/2006/relationships/hyperlink" Target="https://www.drivecon.de/de/lexikon/spannungsfall?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ocS_PwFPynw" TargetMode="External"/><Relationship Id="rId11" Type="http://schemas.openxmlformats.org/officeDocument/2006/relationships/hyperlink" Target="https://www.elektrikerwissen.de/spannungsfall" TargetMode="External"/><Relationship Id="rId5" Type="http://schemas.openxmlformats.org/officeDocument/2006/relationships/hyperlink" Target="https://de.wikipedia.org/wiki/Spannungsfall" TargetMode="External"/><Relationship Id="rId10" Type="http://schemas.openxmlformats.org/officeDocument/2006/relationships/hyperlink" Target="https://heinen-elektronik.de/glossar/spannungsregler" TargetMode="External"/><Relationship Id="rId4" Type="http://schemas.openxmlformats.org/officeDocument/2006/relationships/hyperlink" Target="https://www.energie-lexikon.info/spannungsabfall.html?.com" TargetMode="External"/><Relationship Id="rId9" Type="http://schemas.openxmlformats.org/officeDocument/2006/relationships/hyperlink" Target="https://www.elektronik-kompendium.de/sites/slt/101215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8897640-D6B7-85A7-4F3B-D4FD0D57066B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Warnschild gefährliche elektrische Spannung, Elektrospannung">
            <a:extLst>
              <a:ext uri="{FF2B5EF4-FFF2-40B4-BE49-F238E27FC236}">
                <a16:creationId xmlns:a16="http://schemas.microsoft.com/office/drawing/2014/main" id="{BE530F45-7FF5-91E0-BB6C-0A54BA1E9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00" b="92750" l="3417" r="97667">
                        <a14:foregroundMark x1="35000" y1="30250" x2="35000" y2="30250"/>
                        <a14:foregroundMark x1="46167" y1="16833" x2="9917" y2="83083"/>
                        <a14:foregroundMark x1="9917" y1="83083" x2="81167" y2="92583"/>
                        <a14:foregroundMark x1="81167" y1="92583" x2="93417" y2="90333"/>
                        <a14:foregroundMark x1="93417" y1="90333" x2="58917" y2="22167"/>
                        <a14:foregroundMark x1="58917" y1="22167" x2="49667" y2="13667"/>
                        <a14:foregroundMark x1="49667" y1="13667" x2="39417" y2="21417"/>
                        <a14:foregroundMark x1="39417" y1="21417" x2="39333" y2="21750"/>
                        <a14:foregroundMark x1="51250" y1="8500" x2="45917" y2="8500"/>
                        <a14:foregroundMark x1="8583" y1="75583" x2="2083" y2="85917"/>
                        <a14:foregroundMark x1="2083" y1="85917" x2="20500" y2="92750"/>
                        <a14:foregroundMark x1="20500" y1="92750" x2="71083" y2="92750"/>
                        <a14:foregroundMark x1="7750" y1="92417" x2="7500" y2="79917"/>
                        <a14:foregroundMark x1="7500" y1="79917" x2="14833" y2="83167"/>
                        <a14:foregroundMark x1="3417" y1="84250" x2="3917" y2="89917"/>
                        <a14:foregroundMark x1="97083" y1="83500" x2="97667" y2="8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92942">
            <a:off x="-1357692" y="1427347"/>
            <a:ext cx="5010526" cy="501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75DC4D6-1B18-6945-7E82-F86FA4ECF1AD}"/>
              </a:ext>
            </a:extLst>
          </p:cNvPr>
          <p:cNvSpPr txBox="1"/>
          <p:nvPr/>
        </p:nvSpPr>
        <p:spPr>
          <a:xfrm flipH="1">
            <a:off x="2295144" y="2644170"/>
            <a:ext cx="8357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Spannungsfall</a:t>
            </a:r>
          </a:p>
        </p:txBody>
      </p:sp>
      <p:pic>
        <p:nvPicPr>
          <p:cNvPr id="1028" name="Picture 4" descr="BizLink Healthcare | Standard- &amp; Spezial-Kupferkabel">
            <a:extLst>
              <a:ext uri="{FF2B5EF4-FFF2-40B4-BE49-F238E27FC236}">
                <a16:creationId xmlns:a16="http://schemas.microsoft.com/office/drawing/2014/main" id="{FDD09AED-D38E-1B91-F97E-BF8BF065E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3093" l="10000" r="97835">
                        <a14:foregroundMark x1="83814" y1="47423" x2="91237" y2="48454"/>
                        <a14:foregroundMark x1="91237" y1="48454" x2="85361" y2="49691"/>
                        <a14:foregroundMark x1="91546" y1="34536" x2="97938" y2="37216"/>
                        <a14:foregroundMark x1="61649" y1="90412" x2="56495" y2="93093"/>
                        <a14:foregroundMark x1="41959" y1="76804" x2="41649" y2="78144"/>
                        <a14:foregroundMark x1="41134" y1="78144" x2="24948" y2="86495"/>
                        <a14:foregroundMark x1="34536" y1="81031" x2="24227" y2="87216"/>
                        <a14:foregroundMark x1="28454" y1="84433" x2="23918" y2="86907"/>
                        <a14:foregroundMark x1="28454" y1="83918" x2="25258" y2="85464"/>
                        <a14:foregroundMark x1="24433" y1="85876" x2="22887" y2="86907"/>
                        <a14:foregroundMark x1="67423" y1="82577" x2="53608" y2="90619"/>
                        <a14:foregroundMark x1="53505" y1="89897" x2="52474" y2="90928"/>
                        <a14:foregroundMark x1="55155" y1="89175" x2="61134" y2="86082"/>
                        <a14:backgroundMark x1="69485" y1="80000" x2="68041" y2="808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55527">
            <a:off x="7901897" y="2706177"/>
            <a:ext cx="5019097" cy="501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189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D3E815-4264-01B4-6B50-C0F19C4F4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Inhaltsverzeichnis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732009-DB2D-97B7-341C-E06FC2E9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2</a:t>
            </a:fld>
            <a:endParaRPr lang="de-DE"/>
          </a:p>
        </p:txBody>
      </p:sp>
      <p:graphicFrame>
        <p:nvGraphicFramePr>
          <p:cNvPr id="17" name="Textfeld 6">
            <a:extLst>
              <a:ext uri="{FF2B5EF4-FFF2-40B4-BE49-F238E27FC236}">
                <a16:creationId xmlns:a16="http://schemas.microsoft.com/office/drawing/2014/main" id="{8D39108F-534C-1D5F-ED84-50C20C90A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268164"/>
              </p:ext>
            </p:extLst>
          </p:nvPr>
        </p:nvGraphicFramePr>
        <p:xfrm>
          <a:off x="757381" y="1443841"/>
          <a:ext cx="6562438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D3DFCED6-7045-20EA-E17E-492CF80803AD}"/>
              </a:ext>
            </a:extLst>
          </p:cNvPr>
          <p:cNvSpPr/>
          <p:nvPr/>
        </p:nvSpPr>
        <p:spPr>
          <a:xfrm>
            <a:off x="757381" y="900112"/>
            <a:ext cx="6562438" cy="695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800" b="1" dirty="0"/>
              <a:t>Inhaltsverzeichnis</a:t>
            </a:r>
          </a:p>
        </p:txBody>
      </p:sp>
    </p:spTree>
    <p:extLst>
      <p:ext uri="{BB962C8B-B14F-4D97-AF65-F5344CB8AC3E}">
        <p14:creationId xmlns:p14="http://schemas.microsoft.com/office/powerpoint/2010/main" val="107581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A099-8E17-763F-B058-02578FB41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2BCBF7-6B8E-3A82-6461-BDC4E28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Was ist „Spannungsfall“ überhaupt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7612B4-61B3-D02B-AEF9-B903A7B7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3</a:t>
            </a:fld>
            <a:endParaRPr lang="de-DE"/>
          </a:p>
        </p:txBody>
      </p:sp>
      <p:pic>
        <p:nvPicPr>
          <p:cNvPr id="2054" name="Picture 6" descr="LED-Glühbirne E27 | 7,1 Watt dimmbar | 2700K warmweiß | Hell | Feiner  Glühfaden | Lybardo Premium">
            <a:extLst>
              <a:ext uri="{FF2B5EF4-FFF2-40B4-BE49-F238E27FC236}">
                <a16:creationId xmlns:a16="http://schemas.microsoft.com/office/drawing/2014/main" id="{4B724438-40BB-D50A-CCAE-622648BDE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3993">
            <a:off x="5907564" y="622282"/>
            <a:ext cx="2920966" cy="29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uracell Duracell Plus Power AAA-Batterien, Alkali, 1.5V">
            <a:extLst>
              <a:ext uri="{FF2B5EF4-FFF2-40B4-BE49-F238E27FC236}">
                <a16:creationId xmlns:a16="http://schemas.microsoft.com/office/drawing/2014/main" id="{E82F48A9-5891-6588-CEC8-6483EE045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117" b="90569" l="9920" r="89980">
                        <a14:foregroundMark x1="46393" y1="15125" x2="53507" y2="9431"/>
                        <a14:foregroundMark x1="53507" y1="9431" x2="54309" y2="9786"/>
                        <a14:foregroundMark x1="51002" y1="7295" x2="47395" y2="7295"/>
                        <a14:foregroundMark x1="54810" y1="87011" x2="48898" y2="90569"/>
                        <a14:foregroundMark x1="48898" y1="90569" x2="48397" y2="90214"/>
                        <a14:backgroundMark x1="48597" y1="95907" x2="51303" y2="95907"/>
                        <a14:backgroundMark x1="51804" y1="95552" x2="48898" y2="95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77597">
            <a:off x="269373" y="1041121"/>
            <a:ext cx="4834910" cy="272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Elektro Symbole, Leitungen, Verbindungen - Elektricks.com">
            <a:extLst>
              <a:ext uri="{FF2B5EF4-FFF2-40B4-BE49-F238E27FC236}">
                <a16:creationId xmlns:a16="http://schemas.microsoft.com/office/drawing/2014/main" id="{B172F78C-8C67-10EE-67D7-AF40715FC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84120">
            <a:off x="4965860" y="6500513"/>
            <a:ext cx="30670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Lampe Symbol Vektor Symbol Design Illustration 26627627 Vektor Kunst bei  Vecteezy">
            <a:extLst>
              <a:ext uri="{FF2B5EF4-FFF2-40B4-BE49-F238E27FC236}">
                <a16:creationId xmlns:a16="http://schemas.microsoft.com/office/drawing/2014/main" id="{B09F132C-3E20-E0F6-FD5E-E9667809F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17714">
            <a:off x="11915504" y="3325263"/>
            <a:ext cx="1690287" cy="169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Stromquellen — Grundwissen Elektronik">
            <a:extLst>
              <a:ext uri="{FF2B5EF4-FFF2-40B4-BE49-F238E27FC236}">
                <a16:creationId xmlns:a16="http://schemas.microsoft.com/office/drawing/2014/main" id="{2CA28E6D-F457-1A82-FDEC-2AC8C31A2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0784" y="2484446"/>
            <a:ext cx="1839580" cy="129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C357964-1B1E-6F37-CEFB-0B490FFDE07D}"/>
              </a:ext>
            </a:extLst>
          </p:cNvPr>
          <p:cNvCxnSpPr/>
          <p:nvPr/>
        </p:nvCxnSpPr>
        <p:spPr>
          <a:xfrm>
            <a:off x="2165033" y="4656836"/>
            <a:ext cx="6717792" cy="4754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27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5CB8-E98F-32AB-6257-6E975A9E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40A104-769D-F31C-831F-F4D00BE7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Was ist „Spannungsfall“ überhaupt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AC0628-4135-E2EE-FF39-FA1108F2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4</a:t>
            </a:fld>
            <a:endParaRPr lang="de-DE"/>
          </a:p>
        </p:txBody>
      </p:sp>
      <p:pic>
        <p:nvPicPr>
          <p:cNvPr id="2054" name="Picture 6" descr="LED-Glühbirne E27 | 7,1 Watt dimmbar | 2700K warmweiß | Hell | Feiner  Glühfaden | Lybardo Premium">
            <a:extLst>
              <a:ext uri="{FF2B5EF4-FFF2-40B4-BE49-F238E27FC236}">
                <a16:creationId xmlns:a16="http://schemas.microsoft.com/office/drawing/2014/main" id="{FC3723BA-CF1D-ACE1-942E-CE7D0F4F4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3993">
            <a:off x="5907564" y="622282"/>
            <a:ext cx="2920966" cy="292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uracell Duracell Plus Power AAA-Batterien, Alkali, 1.5V">
            <a:extLst>
              <a:ext uri="{FF2B5EF4-FFF2-40B4-BE49-F238E27FC236}">
                <a16:creationId xmlns:a16="http://schemas.microsoft.com/office/drawing/2014/main" id="{3DDEF1A0-D994-FA8F-A99B-6FE8E32C0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117" b="90569" l="9920" r="89980">
                        <a14:foregroundMark x1="46393" y1="15125" x2="53507" y2="9431"/>
                        <a14:foregroundMark x1="53507" y1="9431" x2="54309" y2="9786"/>
                        <a14:foregroundMark x1="51002" y1="7295" x2="47395" y2="7295"/>
                        <a14:foregroundMark x1="54810" y1="87011" x2="48898" y2="90569"/>
                        <a14:foregroundMark x1="48898" y1="90569" x2="48397" y2="90214"/>
                        <a14:backgroundMark x1="48597" y1="95907" x2="51303" y2="95907"/>
                        <a14:backgroundMark x1="51804" y1="95552" x2="48898" y2="95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77597">
            <a:off x="269373" y="1041121"/>
            <a:ext cx="4834910" cy="272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tromquellen — Grundwissen Elektronik">
            <a:extLst>
              <a:ext uri="{FF2B5EF4-FFF2-40B4-BE49-F238E27FC236}">
                <a16:creationId xmlns:a16="http://schemas.microsoft.com/office/drawing/2014/main" id="{7AA389BD-9331-E1DB-3934-404EC54AD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234" y="1216152"/>
            <a:ext cx="1839580" cy="129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Lampe Symbol Vektor Symbol Design Illustration 26627627 Vektor Kunst bei  Vecteezy">
            <a:extLst>
              <a:ext uri="{FF2B5EF4-FFF2-40B4-BE49-F238E27FC236}">
                <a16:creationId xmlns:a16="http://schemas.microsoft.com/office/drawing/2014/main" id="{55C03708-1E03-D6E7-B0C0-346DE5ECA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17714">
            <a:off x="7425799" y="1898799"/>
            <a:ext cx="1690287" cy="169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Elektro Symbole, Leitungen, Verbindungen - Elektricks.com">
            <a:extLst>
              <a:ext uri="{FF2B5EF4-FFF2-40B4-BE49-F238E27FC236}">
                <a16:creationId xmlns:a16="http://schemas.microsoft.com/office/drawing/2014/main" id="{B851742F-56A6-8774-A6CD-6DD5C279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685" y="3489047"/>
            <a:ext cx="30670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6027BF7-66ED-291B-7447-DC984B29D67D}"/>
              </a:ext>
            </a:extLst>
          </p:cNvPr>
          <p:cNvSpPr txBox="1"/>
          <p:nvPr/>
        </p:nvSpPr>
        <p:spPr>
          <a:xfrm rot="603332">
            <a:off x="2237899" y="814664"/>
            <a:ext cx="2467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Arial Rounded MT Bold" panose="020F0704030504030204" pitchFamily="34" charset="0"/>
              </a:rPr>
              <a:t>Stromquelle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F0826F5-9043-95E5-97F0-BA5F29349237}"/>
              </a:ext>
            </a:extLst>
          </p:cNvPr>
          <p:cNvSpPr txBox="1"/>
          <p:nvPr/>
        </p:nvSpPr>
        <p:spPr>
          <a:xfrm rot="21373639">
            <a:off x="8312987" y="1055989"/>
            <a:ext cx="2467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Arial Rounded MT Bold" panose="020F0704030504030204" pitchFamily="34" charset="0"/>
              </a:rPr>
              <a:t>Verbraucher (Hier Licht)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DB702C2-EFAA-E0C9-795E-E68BFC8C8D2F}"/>
              </a:ext>
            </a:extLst>
          </p:cNvPr>
          <p:cNvSpPr txBox="1"/>
          <p:nvPr/>
        </p:nvSpPr>
        <p:spPr>
          <a:xfrm rot="424054">
            <a:off x="4432525" y="5290185"/>
            <a:ext cx="2467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Arial Rounded MT Bold" panose="020F0704030504030204" pitchFamily="34" charset="0"/>
              </a:rPr>
              <a:t>Leitung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CE73D8C-4A63-6A20-6590-F74F8A10F25D}"/>
              </a:ext>
            </a:extLst>
          </p:cNvPr>
          <p:cNvCxnSpPr/>
          <p:nvPr/>
        </p:nvCxnSpPr>
        <p:spPr>
          <a:xfrm>
            <a:off x="2165033" y="4656836"/>
            <a:ext cx="6717792" cy="4754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06D30BC-4D6B-5F2B-0F45-E5CCB407B30C}"/>
              </a:ext>
            </a:extLst>
          </p:cNvPr>
          <p:cNvCxnSpPr>
            <a:cxnSpLocks/>
          </p:cNvCxnSpPr>
          <p:nvPr/>
        </p:nvCxnSpPr>
        <p:spPr>
          <a:xfrm>
            <a:off x="2165033" y="4656836"/>
            <a:ext cx="230695" cy="19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8505CD6-8F9E-BAFF-BC60-3A2430C044C8}"/>
              </a:ext>
            </a:extLst>
          </p:cNvPr>
          <p:cNvCxnSpPr>
            <a:cxnSpLocks/>
          </p:cNvCxnSpPr>
          <p:nvPr/>
        </p:nvCxnSpPr>
        <p:spPr>
          <a:xfrm>
            <a:off x="2304604" y="4666627"/>
            <a:ext cx="230695" cy="19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316C8E3-EF21-76BA-5151-B2EDC932E4E6}"/>
              </a:ext>
            </a:extLst>
          </p:cNvPr>
          <p:cNvCxnSpPr>
            <a:cxnSpLocks/>
          </p:cNvCxnSpPr>
          <p:nvPr/>
        </p:nvCxnSpPr>
        <p:spPr>
          <a:xfrm>
            <a:off x="2532539" y="4683221"/>
            <a:ext cx="230695" cy="19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A72F4EF-088F-C277-1B06-4448B3933E91}"/>
              </a:ext>
            </a:extLst>
          </p:cNvPr>
          <p:cNvCxnSpPr>
            <a:cxnSpLocks/>
          </p:cNvCxnSpPr>
          <p:nvPr/>
        </p:nvCxnSpPr>
        <p:spPr>
          <a:xfrm>
            <a:off x="2842321" y="4697246"/>
            <a:ext cx="230695" cy="19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AD443D8F-5680-6864-BC05-65A36344C6CF}"/>
              </a:ext>
            </a:extLst>
          </p:cNvPr>
          <p:cNvSpPr/>
          <p:nvPr/>
        </p:nvSpPr>
        <p:spPr>
          <a:xfrm>
            <a:off x="4409711" y="4032504"/>
            <a:ext cx="1114218" cy="2312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6961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023E-443E-E0D0-61A5-508547E3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uracell Duracell Plus Power AAA-Batterien, Alkali, 1.5V">
            <a:extLst>
              <a:ext uri="{FF2B5EF4-FFF2-40B4-BE49-F238E27FC236}">
                <a16:creationId xmlns:a16="http://schemas.microsoft.com/office/drawing/2014/main" id="{A32EE7FE-4FCD-8887-7D00-4F78866D6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7" b="90569" l="9920" r="89980">
                        <a14:foregroundMark x1="46393" y1="15125" x2="53507" y2="9431"/>
                        <a14:foregroundMark x1="53507" y1="9431" x2="54309" y2="9786"/>
                        <a14:foregroundMark x1="51002" y1="7295" x2="47395" y2="7295"/>
                        <a14:foregroundMark x1="54810" y1="87011" x2="48898" y2="90569"/>
                        <a14:foregroundMark x1="48898" y1="90569" x2="48397" y2="90214"/>
                        <a14:backgroundMark x1="48597" y1="95907" x2="51303" y2="95907"/>
                        <a14:backgroundMark x1="51804" y1="95552" x2="48898" y2="95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9" y="1980326"/>
            <a:ext cx="3925789" cy="221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876DE-E078-8134-9369-316458CE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Was ist „Spannungsfall“ überhaupt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5710F6-0347-B9A6-D59E-E517D03C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5</a:t>
            </a:fld>
            <a:endParaRPr lang="de-DE"/>
          </a:p>
        </p:txBody>
      </p:sp>
      <p:pic>
        <p:nvPicPr>
          <p:cNvPr id="2054" name="Picture 6" descr="LED-Glühbirne E27 | 7,1 Watt dimmbar | 2700K warmweiß | Hell | Feiner  Glühfaden | Lybardo Premium">
            <a:extLst>
              <a:ext uri="{FF2B5EF4-FFF2-40B4-BE49-F238E27FC236}">
                <a16:creationId xmlns:a16="http://schemas.microsoft.com/office/drawing/2014/main" id="{0BDD9016-02CB-1079-CDF0-37FEE1765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48068">
            <a:off x="7923357" y="1550968"/>
            <a:ext cx="2288882" cy="228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C82E005-4FC0-6295-146E-0AACD3A565A2}"/>
              </a:ext>
            </a:extLst>
          </p:cNvPr>
          <p:cNvCxnSpPr>
            <a:cxnSpLocks/>
          </p:cNvCxnSpPr>
          <p:nvPr/>
        </p:nvCxnSpPr>
        <p:spPr>
          <a:xfrm>
            <a:off x="2379933" y="1300988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641742C-5381-F92D-FBAF-7347BC124AB3}"/>
              </a:ext>
            </a:extLst>
          </p:cNvPr>
          <p:cNvCxnSpPr>
            <a:cxnSpLocks/>
          </p:cNvCxnSpPr>
          <p:nvPr/>
        </p:nvCxnSpPr>
        <p:spPr>
          <a:xfrm>
            <a:off x="2379933" y="4864100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3F985AF-8AD0-1E5F-2EED-C2D824601177}"/>
              </a:ext>
            </a:extLst>
          </p:cNvPr>
          <p:cNvCxnSpPr>
            <a:cxnSpLocks/>
          </p:cNvCxnSpPr>
          <p:nvPr/>
        </p:nvCxnSpPr>
        <p:spPr>
          <a:xfrm flipV="1">
            <a:off x="2379933" y="3977640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E2724CA1-4BBC-A46F-27F8-30901DB0A9AE}"/>
              </a:ext>
            </a:extLst>
          </p:cNvPr>
          <p:cNvCxnSpPr>
            <a:cxnSpLocks/>
          </p:cNvCxnSpPr>
          <p:nvPr/>
        </p:nvCxnSpPr>
        <p:spPr>
          <a:xfrm flipV="1">
            <a:off x="2379933" y="1291683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02FF49C-52AE-A2F1-6A3A-58AA153232C6}"/>
              </a:ext>
            </a:extLst>
          </p:cNvPr>
          <p:cNvCxnSpPr>
            <a:cxnSpLocks/>
          </p:cNvCxnSpPr>
          <p:nvPr/>
        </p:nvCxnSpPr>
        <p:spPr>
          <a:xfrm flipV="1">
            <a:off x="8439357" y="1300988"/>
            <a:ext cx="0" cy="1515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3B4D427-8B2F-7AF5-63DB-5E1AD0061381}"/>
              </a:ext>
            </a:extLst>
          </p:cNvPr>
          <p:cNvCxnSpPr>
            <a:cxnSpLocks/>
          </p:cNvCxnSpPr>
          <p:nvPr/>
        </p:nvCxnSpPr>
        <p:spPr>
          <a:xfrm flipV="1">
            <a:off x="8439357" y="3085683"/>
            <a:ext cx="0" cy="1760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56F779F-CE91-BA35-2380-638EBFA7543D}"/>
              </a:ext>
            </a:extLst>
          </p:cNvPr>
          <p:cNvCxnSpPr/>
          <p:nvPr/>
        </p:nvCxnSpPr>
        <p:spPr>
          <a:xfrm>
            <a:off x="2898648" y="1936150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71661A2-D5E1-6709-3FBB-4BE3B049CB31}"/>
              </a:ext>
            </a:extLst>
          </p:cNvPr>
          <p:cNvCxnSpPr/>
          <p:nvPr/>
        </p:nvCxnSpPr>
        <p:spPr>
          <a:xfrm>
            <a:off x="8150352" y="1891975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66F170B3-77EE-ABB0-123D-B322FBB9564E}"/>
              </a:ext>
            </a:extLst>
          </p:cNvPr>
          <p:cNvSpPr txBox="1"/>
          <p:nvPr/>
        </p:nvSpPr>
        <p:spPr>
          <a:xfrm>
            <a:off x="2910655" y="289787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12V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57BACE0-4A31-C03D-A255-E5CE32FAE6C3}"/>
              </a:ext>
            </a:extLst>
          </p:cNvPr>
          <p:cNvSpPr txBox="1"/>
          <p:nvPr/>
        </p:nvSpPr>
        <p:spPr>
          <a:xfrm>
            <a:off x="7524699" y="2856842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11V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C69B732F-6E52-98D2-4F1F-313DB9F44929}"/>
              </a:ext>
            </a:extLst>
          </p:cNvPr>
          <p:cNvCxnSpPr>
            <a:cxnSpLocks/>
          </p:cNvCxnSpPr>
          <p:nvPr/>
        </p:nvCxnSpPr>
        <p:spPr>
          <a:xfrm>
            <a:off x="3476836" y="1627632"/>
            <a:ext cx="40953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B2898046-4BB0-226B-D6F7-85A0115C8165}"/>
              </a:ext>
            </a:extLst>
          </p:cNvPr>
          <p:cNvCxnSpPr>
            <a:cxnSpLocks/>
          </p:cNvCxnSpPr>
          <p:nvPr/>
        </p:nvCxnSpPr>
        <p:spPr>
          <a:xfrm flipH="1">
            <a:off x="3476836" y="4590288"/>
            <a:ext cx="40478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F034E365-909F-1FC9-20CD-6D40A074ACA3}"/>
              </a:ext>
            </a:extLst>
          </p:cNvPr>
          <p:cNvSpPr txBox="1"/>
          <p:nvPr/>
        </p:nvSpPr>
        <p:spPr>
          <a:xfrm>
            <a:off x="4985907" y="167936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F118F03A-2910-4B0B-75B3-CF8E3E51FAD5}"/>
              </a:ext>
            </a:extLst>
          </p:cNvPr>
          <p:cNvSpPr txBox="1"/>
          <p:nvPr/>
        </p:nvSpPr>
        <p:spPr>
          <a:xfrm>
            <a:off x="4985907" y="420599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3890BA9-B9D3-5D2D-6159-4B8957C71594}"/>
              </a:ext>
            </a:extLst>
          </p:cNvPr>
          <p:cNvSpPr txBox="1"/>
          <p:nvPr/>
        </p:nvSpPr>
        <p:spPr>
          <a:xfrm>
            <a:off x="8701130" y="698383"/>
            <a:ext cx="199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Spannungs(ab)fall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A79C5A71-61D6-E285-1125-45616D48E344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5737274" y="1067715"/>
            <a:ext cx="3960988" cy="724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48" name="Gerade Verbindung mit Pfeil 2047">
            <a:extLst>
              <a:ext uri="{FF2B5EF4-FFF2-40B4-BE49-F238E27FC236}">
                <a16:creationId xmlns:a16="http://schemas.microsoft.com/office/drawing/2014/main" id="{5DCC925D-F3A6-E703-CF66-FDF6742EAB5E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5737274" y="1067715"/>
            <a:ext cx="3960988" cy="33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842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1E0B-03A4-BE70-73EA-65C003BA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5F2F89-DCEE-45D1-52E4-439D1656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Was ist „Spannungsfall“ überhaupt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C4C166-E3AD-E02A-7D70-23166889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6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BA65BC7-7269-D773-F0CE-3F527735F905}"/>
              </a:ext>
            </a:extLst>
          </p:cNvPr>
          <p:cNvSpPr txBox="1"/>
          <p:nvPr/>
        </p:nvSpPr>
        <p:spPr>
          <a:xfrm>
            <a:off x="2282952" y="2128908"/>
            <a:ext cx="79827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de-DE" sz="2800" dirty="0">
                <a:latin typeface="Arial Rounded MT Bold" panose="020F0704030504030204" pitchFamily="34" charset="0"/>
              </a:rPr>
              <a:t>Spannung an Quelle und an Verbraucher ungleich </a:t>
            </a:r>
          </a:p>
          <a:p>
            <a:endParaRPr lang="de-DE" sz="2800" dirty="0">
              <a:latin typeface="Arial Rounded MT Bold" panose="020F0704030504030204" pitchFamily="34" charset="0"/>
            </a:endParaRPr>
          </a:p>
          <a:p>
            <a:r>
              <a:rPr lang="de-DE" sz="28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de-DE" sz="2800" dirty="0">
                <a:latin typeface="Arial Rounded MT Bold" panose="020F0704030504030204" pitchFamily="34" charset="0"/>
              </a:rPr>
              <a:t>Spannung/Energie wird in Wärme umgewandelt</a:t>
            </a:r>
          </a:p>
        </p:txBody>
      </p:sp>
    </p:spTree>
    <p:extLst>
      <p:ext uri="{BB962C8B-B14F-4D97-AF65-F5344CB8AC3E}">
        <p14:creationId xmlns:p14="http://schemas.microsoft.com/office/powerpoint/2010/main" val="156804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BB67-0F56-C261-DAEE-11735774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uracell Duracell Plus Power AAA-Batterien, Alkali, 1.5V">
            <a:extLst>
              <a:ext uri="{FF2B5EF4-FFF2-40B4-BE49-F238E27FC236}">
                <a16:creationId xmlns:a16="http://schemas.microsoft.com/office/drawing/2014/main" id="{0822A842-A480-D319-9D3C-A8326675D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7" b="90569" l="9920" r="89980">
                        <a14:foregroundMark x1="46393" y1="15125" x2="53507" y2="9431"/>
                        <a14:foregroundMark x1="53507" y1="9431" x2="54309" y2="9786"/>
                        <a14:foregroundMark x1="51002" y1="7295" x2="47395" y2="7295"/>
                        <a14:foregroundMark x1="54810" y1="87011" x2="48898" y2="90569"/>
                        <a14:foregroundMark x1="48898" y1="90569" x2="48397" y2="90214"/>
                        <a14:backgroundMark x1="48597" y1="95907" x2="51303" y2="95907"/>
                        <a14:backgroundMark x1="51804" y1="95552" x2="48898" y2="95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9" y="1980326"/>
            <a:ext cx="3925789" cy="221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575DB5-9FDC-0964-A972-6A09ED72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Was ist „Spannungsfall“ überhaupt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EA7246-37D1-9914-D937-338AEAEA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7</a:t>
            </a:fld>
            <a:endParaRPr lang="de-DE"/>
          </a:p>
        </p:txBody>
      </p:sp>
      <p:pic>
        <p:nvPicPr>
          <p:cNvPr id="2054" name="Picture 6" descr="LED-Glühbirne E27 | 7,1 Watt dimmbar | 2700K warmweiß | Hell | Feiner  Glühfaden | Lybardo Premium">
            <a:extLst>
              <a:ext uri="{FF2B5EF4-FFF2-40B4-BE49-F238E27FC236}">
                <a16:creationId xmlns:a16="http://schemas.microsoft.com/office/drawing/2014/main" id="{3753647D-D8D2-C246-5D25-6D3A975E5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48068">
            <a:off x="7923357" y="1550968"/>
            <a:ext cx="2288882" cy="228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E14A84F-3EA1-9267-1138-8F9B40E6BAF7}"/>
              </a:ext>
            </a:extLst>
          </p:cNvPr>
          <p:cNvCxnSpPr>
            <a:cxnSpLocks/>
          </p:cNvCxnSpPr>
          <p:nvPr/>
        </p:nvCxnSpPr>
        <p:spPr>
          <a:xfrm>
            <a:off x="2379933" y="1300988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B653042-C02C-BD18-FB00-CA7F09F05F04}"/>
              </a:ext>
            </a:extLst>
          </p:cNvPr>
          <p:cNvCxnSpPr>
            <a:cxnSpLocks/>
          </p:cNvCxnSpPr>
          <p:nvPr/>
        </p:nvCxnSpPr>
        <p:spPr>
          <a:xfrm>
            <a:off x="2379933" y="4864100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6D7969-DCB3-90D2-26DF-16933DA34EBD}"/>
              </a:ext>
            </a:extLst>
          </p:cNvPr>
          <p:cNvCxnSpPr>
            <a:cxnSpLocks/>
          </p:cNvCxnSpPr>
          <p:nvPr/>
        </p:nvCxnSpPr>
        <p:spPr>
          <a:xfrm flipV="1">
            <a:off x="2379933" y="3977640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99F2CF1-B669-3385-1CB0-9DEBFC4EB3DE}"/>
              </a:ext>
            </a:extLst>
          </p:cNvPr>
          <p:cNvCxnSpPr>
            <a:cxnSpLocks/>
          </p:cNvCxnSpPr>
          <p:nvPr/>
        </p:nvCxnSpPr>
        <p:spPr>
          <a:xfrm flipV="1">
            <a:off x="2379933" y="1291683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8E6DBF43-57B2-BC45-347A-C593AC5AA1D6}"/>
              </a:ext>
            </a:extLst>
          </p:cNvPr>
          <p:cNvCxnSpPr>
            <a:cxnSpLocks/>
          </p:cNvCxnSpPr>
          <p:nvPr/>
        </p:nvCxnSpPr>
        <p:spPr>
          <a:xfrm flipV="1">
            <a:off x="8439357" y="1300988"/>
            <a:ext cx="0" cy="1515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5B4288A-2AC0-F812-4445-A213DDBA0161}"/>
              </a:ext>
            </a:extLst>
          </p:cNvPr>
          <p:cNvCxnSpPr>
            <a:cxnSpLocks/>
          </p:cNvCxnSpPr>
          <p:nvPr/>
        </p:nvCxnSpPr>
        <p:spPr>
          <a:xfrm flipV="1">
            <a:off x="8439357" y="3085683"/>
            <a:ext cx="0" cy="1760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5F258C6-107F-C88B-A00A-B44988F48255}"/>
              </a:ext>
            </a:extLst>
          </p:cNvPr>
          <p:cNvCxnSpPr/>
          <p:nvPr/>
        </p:nvCxnSpPr>
        <p:spPr>
          <a:xfrm>
            <a:off x="2898648" y="1936150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43D588C-D350-0EC8-260C-AAA00F7B01E4}"/>
              </a:ext>
            </a:extLst>
          </p:cNvPr>
          <p:cNvCxnSpPr/>
          <p:nvPr/>
        </p:nvCxnSpPr>
        <p:spPr>
          <a:xfrm>
            <a:off x="8150352" y="1891975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4979F4BE-B314-AAA8-C1E7-2BB20F24D4E1}"/>
              </a:ext>
            </a:extLst>
          </p:cNvPr>
          <p:cNvSpPr txBox="1"/>
          <p:nvPr/>
        </p:nvSpPr>
        <p:spPr>
          <a:xfrm>
            <a:off x="2910655" y="289787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12V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D9D88A7-F861-2998-642B-625FC803371E}"/>
              </a:ext>
            </a:extLst>
          </p:cNvPr>
          <p:cNvSpPr txBox="1"/>
          <p:nvPr/>
        </p:nvSpPr>
        <p:spPr>
          <a:xfrm>
            <a:off x="7524699" y="2856842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11V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9FEED13-D14F-C744-75AD-134BDF9CA16D}"/>
              </a:ext>
            </a:extLst>
          </p:cNvPr>
          <p:cNvCxnSpPr>
            <a:cxnSpLocks/>
          </p:cNvCxnSpPr>
          <p:nvPr/>
        </p:nvCxnSpPr>
        <p:spPr>
          <a:xfrm>
            <a:off x="3476836" y="1627632"/>
            <a:ext cx="40953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6190C60E-526B-A1D2-70FE-7C2A5DC33521}"/>
              </a:ext>
            </a:extLst>
          </p:cNvPr>
          <p:cNvCxnSpPr>
            <a:cxnSpLocks/>
          </p:cNvCxnSpPr>
          <p:nvPr/>
        </p:nvCxnSpPr>
        <p:spPr>
          <a:xfrm flipH="1">
            <a:off x="3476836" y="4590288"/>
            <a:ext cx="40478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55B0C2C8-2711-B6F0-2EF3-E0717DF4254D}"/>
              </a:ext>
            </a:extLst>
          </p:cNvPr>
          <p:cNvSpPr txBox="1"/>
          <p:nvPr/>
        </p:nvSpPr>
        <p:spPr>
          <a:xfrm>
            <a:off x="4985907" y="167936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5EA728C8-19D3-4D17-A209-2AA7D558F750}"/>
              </a:ext>
            </a:extLst>
          </p:cNvPr>
          <p:cNvSpPr txBox="1"/>
          <p:nvPr/>
        </p:nvSpPr>
        <p:spPr>
          <a:xfrm>
            <a:off x="4985907" y="420599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7D413E1E-6368-4AEB-7FE0-13BA49E2E281}"/>
              </a:ext>
            </a:extLst>
          </p:cNvPr>
          <p:cNvSpPr txBox="1"/>
          <p:nvPr/>
        </p:nvSpPr>
        <p:spPr>
          <a:xfrm>
            <a:off x="8701130" y="698383"/>
            <a:ext cx="199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Spannungs(ab)fall</a:t>
            </a: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8B105818-A1CC-AA14-13D1-F8E8AF26CEF9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5737274" y="1067715"/>
            <a:ext cx="3960988" cy="724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48" name="Gerade Verbindung mit Pfeil 2047">
            <a:extLst>
              <a:ext uri="{FF2B5EF4-FFF2-40B4-BE49-F238E27FC236}">
                <a16:creationId xmlns:a16="http://schemas.microsoft.com/office/drawing/2014/main" id="{A5F8E841-B4B3-A858-BB9B-E7E2DD1C5A35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5737274" y="1067715"/>
            <a:ext cx="3960988" cy="33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63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0FF5-EF9F-E9C7-9A6D-A6E6D559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uracell Duracell Plus Power AAA-Batterien, Alkali, 1.5V">
            <a:extLst>
              <a:ext uri="{FF2B5EF4-FFF2-40B4-BE49-F238E27FC236}">
                <a16:creationId xmlns:a16="http://schemas.microsoft.com/office/drawing/2014/main" id="{24DAF92B-BB93-ED92-CEE9-D4031D407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7" b="90569" l="9920" r="89980">
                        <a14:foregroundMark x1="46393" y1="15125" x2="53507" y2="9431"/>
                        <a14:foregroundMark x1="53507" y1="9431" x2="54309" y2="9786"/>
                        <a14:foregroundMark x1="51002" y1="7295" x2="47395" y2="7295"/>
                        <a14:foregroundMark x1="54810" y1="87011" x2="48898" y2="90569"/>
                        <a14:foregroundMark x1="48898" y1="90569" x2="48397" y2="90214"/>
                        <a14:backgroundMark x1="48597" y1="95907" x2="51303" y2="95907"/>
                        <a14:backgroundMark x1="51804" y1="95552" x2="48898" y2="951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9" y="1980326"/>
            <a:ext cx="3925789" cy="221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C11DD6-1F12-7974-3951-F928892D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Spannungsfall und Spannungsabfall ? Ist das nicht das gleiche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6E904A-F6D9-28ED-3638-C29F3369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8</a:t>
            </a:fld>
            <a:endParaRPr lang="de-DE"/>
          </a:p>
        </p:txBody>
      </p:sp>
      <p:pic>
        <p:nvPicPr>
          <p:cNvPr id="2054" name="Picture 6" descr="LED-Glühbirne E27 | 7,1 Watt dimmbar | 2700K warmweiß | Hell | Feiner  Glühfaden | Lybardo Premium">
            <a:extLst>
              <a:ext uri="{FF2B5EF4-FFF2-40B4-BE49-F238E27FC236}">
                <a16:creationId xmlns:a16="http://schemas.microsoft.com/office/drawing/2014/main" id="{EEF6C523-6B47-6965-4694-521AC1ADA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48068">
            <a:off x="7923357" y="1550968"/>
            <a:ext cx="2288882" cy="228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1F96015-0913-D58F-757E-66EF5E78B120}"/>
              </a:ext>
            </a:extLst>
          </p:cNvPr>
          <p:cNvCxnSpPr>
            <a:cxnSpLocks/>
          </p:cNvCxnSpPr>
          <p:nvPr/>
        </p:nvCxnSpPr>
        <p:spPr>
          <a:xfrm>
            <a:off x="2379933" y="1300988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2CF76A0-6699-003E-9A06-BF4CCF7BB728}"/>
              </a:ext>
            </a:extLst>
          </p:cNvPr>
          <p:cNvCxnSpPr>
            <a:cxnSpLocks/>
          </p:cNvCxnSpPr>
          <p:nvPr/>
        </p:nvCxnSpPr>
        <p:spPr>
          <a:xfrm>
            <a:off x="2379933" y="4864100"/>
            <a:ext cx="60599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6534650-AE97-CB88-4099-C3A40453885D}"/>
              </a:ext>
            </a:extLst>
          </p:cNvPr>
          <p:cNvCxnSpPr>
            <a:cxnSpLocks/>
          </p:cNvCxnSpPr>
          <p:nvPr/>
        </p:nvCxnSpPr>
        <p:spPr>
          <a:xfrm flipV="1">
            <a:off x="2379933" y="3977640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EA2341C-BA91-9F5E-A2DD-56F78A20D539}"/>
              </a:ext>
            </a:extLst>
          </p:cNvPr>
          <p:cNvCxnSpPr>
            <a:cxnSpLocks/>
          </p:cNvCxnSpPr>
          <p:nvPr/>
        </p:nvCxnSpPr>
        <p:spPr>
          <a:xfrm flipV="1">
            <a:off x="2379933" y="1291683"/>
            <a:ext cx="0" cy="8864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D9AAB79-5162-F1A9-92B4-5FD8654A7F2B}"/>
              </a:ext>
            </a:extLst>
          </p:cNvPr>
          <p:cNvCxnSpPr>
            <a:cxnSpLocks/>
          </p:cNvCxnSpPr>
          <p:nvPr/>
        </p:nvCxnSpPr>
        <p:spPr>
          <a:xfrm flipV="1">
            <a:off x="8439357" y="1300988"/>
            <a:ext cx="0" cy="1515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8BF0134-41D0-B149-EA0F-AD8D0ECEF4F1}"/>
              </a:ext>
            </a:extLst>
          </p:cNvPr>
          <p:cNvCxnSpPr>
            <a:cxnSpLocks/>
          </p:cNvCxnSpPr>
          <p:nvPr/>
        </p:nvCxnSpPr>
        <p:spPr>
          <a:xfrm flipV="1">
            <a:off x="8439357" y="3085683"/>
            <a:ext cx="0" cy="17606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2B407840-B74B-6827-62DD-1C5AD5211279}"/>
              </a:ext>
            </a:extLst>
          </p:cNvPr>
          <p:cNvCxnSpPr/>
          <p:nvPr/>
        </p:nvCxnSpPr>
        <p:spPr>
          <a:xfrm>
            <a:off x="2898648" y="1936150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07E52AA-0669-4119-2FC0-C8ACB8C6A0BC}"/>
              </a:ext>
            </a:extLst>
          </p:cNvPr>
          <p:cNvCxnSpPr/>
          <p:nvPr/>
        </p:nvCxnSpPr>
        <p:spPr>
          <a:xfrm>
            <a:off x="8150352" y="1891975"/>
            <a:ext cx="0" cy="2299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78D1F948-AD0C-FB54-1CAC-1602C2870D97}"/>
              </a:ext>
            </a:extLst>
          </p:cNvPr>
          <p:cNvSpPr txBox="1"/>
          <p:nvPr/>
        </p:nvSpPr>
        <p:spPr>
          <a:xfrm>
            <a:off x="2910655" y="289787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12V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E780A6A-EF5B-AB5C-2B3D-F5C41F8EB1C3}"/>
              </a:ext>
            </a:extLst>
          </p:cNvPr>
          <p:cNvSpPr txBox="1"/>
          <p:nvPr/>
        </p:nvSpPr>
        <p:spPr>
          <a:xfrm>
            <a:off x="7524699" y="2856842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11V</a:t>
            </a:r>
          </a:p>
        </p:txBody>
      </p:sp>
      <p:sp>
        <p:nvSpPr>
          <p:cNvPr id="2058" name="Textfeld 2057">
            <a:extLst>
              <a:ext uri="{FF2B5EF4-FFF2-40B4-BE49-F238E27FC236}">
                <a16:creationId xmlns:a16="http://schemas.microsoft.com/office/drawing/2014/main" id="{B006F328-B0E0-E611-2EB0-1BAC8AE0838E}"/>
              </a:ext>
            </a:extLst>
          </p:cNvPr>
          <p:cNvSpPr txBox="1"/>
          <p:nvPr/>
        </p:nvSpPr>
        <p:spPr>
          <a:xfrm rot="20806370">
            <a:off x="264018" y="593477"/>
            <a:ext cx="359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Arial Rounded MT Bold" panose="020F0704030504030204" pitchFamily="34" charset="0"/>
              </a:rPr>
              <a:t>Spannungsfall</a:t>
            </a:r>
          </a:p>
        </p:txBody>
      </p:sp>
      <p:sp>
        <p:nvSpPr>
          <p:cNvPr id="2059" name="Textfeld 2058">
            <a:extLst>
              <a:ext uri="{FF2B5EF4-FFF2-40B4-BE49-F238E27FC236}">
                <a16:creationId xmlns:a16="http://schemas.microsoft.com/office/drawing/2014/main" id="{8E1F4346-CD06-6CBD-9AD3-358ED94AD817}"/>
              </a:ext>
            </a:extLst>
          </p:cNvPr>
          <p:cNvSpPr txBox="1"/>
          <p:nvPr/>
        </p:nvSpPr>
        <p:spPr>
          <a:xfrm rot="520755">
            <a:off x="7831523" y="5401653"/>
            <a:ext cx="437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latin typeface="Arial Rounded MT Bold" panose="020F0704030504030204" pitchFamily="34" charset="0"/>
              </a:rPr>
              <a:t>Spannungsabfall</a:t>
            </a:r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F71F0A62-F87F-4338-BC92-F018631F97A5}"/>
              </a:ext>
            </a:extLst>
          </p:cNvPr>
          <p:cNvSpPr/>
          <p:nvPr/>
        </p:nvSpPr>
        <p:spPr>
          <a:xfrm rot="21398871">
            <a:off x="4333411" y="478057"/>
            <a:ext cx="2199176" cy="877169"/>
          </a:xfrm>
          <a:custGeom>
            <a:avLst/>
            <a:gdLst>
              <a:gd name="connsiteX0" fmla="*/ 0 w 1260627"/>
              <a:gd name="connsiteY0" fmla="*/ 365769 h 425409"/>
              <a:gd name="connsiteX1" fmla="*/ 484632 w 1260627"/>
              <a:gd name="connsiteY1" fmla="*/ 9 h 425409"/>
              <a:gd name="connsiteX2" fmla="*/ 1161288 w 1260627"/>
              <a:gd name="connsiteY2" fmla="*/ 374913 h 425409"/>
              <a:gd name="connsiteX3" fmla="*/ 1243584 w 1260627"/>
              <a:gd name="connsiteY3" fmla="*/ 411489 h 425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627" h="425409">
                <a:moveTo>
                  <a:pt x="0" y="365769"/>
                </a:moveTo>
                <a:cubicBezTo>
                  <a:pt x="145542" y="182127"/>
                  <a:pt x="291084" y="-1515"/>
                  <a:pt x="484632" y="9"/>
                </a:cubicBezTo>
                <a:cubicBezTo>
                  <a:pt x="678180" y="1533"/>
                  <a:pt x="1034796" y="306333"/>
                  <a:pt x="1161288" y="374913"/>
                </a:cubicBezTo>
                <a:cubicBezTo>
                  <a:pt x="1287780" y="443493"/>
                  <a:pt x="1265682" y="427491"/>
                  <a:pt x="1243584" y="411489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CCA6D6C-113F-BFBF-015A-B7FB498FE5E6}"/>
              </a:ext>
            </a:extLst>
          </p:cNvPr>
          <p:cNvSpPr/>
          <p:nvPr/>
        </p:nvSpPr>
        <p:spPr>
          <a:xfrm>
            <a:off x="4948367" y="261067"/>
            <a:ext cx="484632" cy="484631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V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D7327D0-69CD-5A4D-6EF4-EDE3E0A8E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4193951" y="4874789"/>
            <a:ext cx="2231329" cy="104860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7D0C5140-0EAC-0D95-695F-51E814B67D22}"/>
              </a:ext>
            </a:extLst>
          </p:cNvPr>
          <p:cNvSpPr/>
          <p:nvPr/>
        </p:nvSpPr>
        <p:spPr>
          <a:xfrm>
            <a:off x="4715375" y="1199776"/>
            <a:ext cx="1242121" cy="2367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14204ED-2672-C7A7-3D48-62B9EEE9251A}"/>
              </a:ext>
            </a:extLst>
          </p:cNvPr>
          <p:cNvSpPr/>
          <p:nvPr/>
        </p:nvSpPr>
        <p:spPr>
          <a:xfrm>
            <a:off x="4853879" y="4756422"/>
            <a:ext cx="1242121" cy="2367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542D1E8-2018-4359-CFBB-2656E3F6C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980698">
            <a:off x="8468388" y="2085160"/>
            <a:ext cx="1295253" cy="60869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C89DB7F-86AC-7F01-4D59-944B9E76E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285293" y="2737158"/>
            <a:ext cx="1295253" cy="608698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3250510-A776-FE30-14CE-C2262D0E3EEC}"/>
              </a:ext>
            </a:extLst>
          </p:cNvPr>
          <p:cNvCxnSpPr>
            <a:cxnSpLocks/>
          </p:cNvCxnSpPr>
          <p:nvPr/>
        </p:nvCxnSpPr>
        <p:spPr>
          <a:xfrm>
            <a:off x="3476836" y="1627632"/>
            <a:ext cx="40953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0C670CE-AAE4-AFDF-5D02-2E322FB3103E}"/>
              </a:ext>
            </a:extLst>
          </p:cNvPr>
          <p:cNvCxnSpPr>
            <a:cxnSpLocks/>
          </p:cNvCxnSpPr>
          <p:nvPr/>
        </p:nvCxnSpPr>
        <p:spPr>
          <a:xfrm flipH="1">
            <a:off x="3476836" y="4590288"/>
            <a:ext cx="40478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F4C15C4E-82AD-AD1D-DE07-05017E312CEE}"/>
              </a:ext>
            </a:extLst>
          </p:cNvPr>
          <p:cNvSpPr txBox="1"/>
          <p:nvPr/>
        </p:nvSpPr>
        <p:spPr>
          <a:xfrm>
            <a:off x="4985907" y="167936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56D831C-C954-3030-3DBF-89EEE7042C8A}"/>
              </a:ext>
            </a:extLst>
          </p:cNvPr>
          <p:cNvSpPr txBox="1"/>
          <p:nvPr/>
        </p:nvSpPr>
        <p:spPr>
          <a:xfrm>
            <a:off x="4985907" y="420599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0,5V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1970DE9-5FB4-AD49-CE3A-991A2BBA25F5}"/>
              </a:ext>
            </a:extLst>
          </p:cNvPr>
          <p:cNvSpPr txBox="1"/>
          <p:nvPr/>
        </p:nvSpPr>
        <p:spPr>
          <a:xfrm>
            <a:off x="5850344" y="45982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V1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3AC77AF-3F16-D04F-C90D-050CECA130F7}"/>
              </a:ext>
            </a:extLst>
          </p:cNvPr>
          <p:cNvSpPr txBox="1"/>
          <p:nvPr/>
        </p:nvSpPr>
        <p:spPr>
          <a:xfrm>
            <a:off x="6070590" y="533804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V2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79A110C-A442-802B-B5E6-9734FD783FF4}"/>
              </a:ext>
            </a:extLst>
          </p:cNvPr>
          <p:cNvSpPr txBox="1"/>
          <p:nvPr/>
        </p:nvSpPr>
        <p:spPr>
          <a:xfrm>
            <a:off x="9911539" y="244702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V3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C011BB7-57A7-D6D7-C0C9-21616FA6073E}"/>
              </a:ext>
            </a:extLst>
          </p:cNvPr>
          <p:cNvSpPr txBox="1"/>
          <p:nvPr/>
        </p:nvSpPr>
        <p:spPr>
          <a:xfrm>
            <a:off x="1062845" y="289787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V4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205654A-FDD5-F294-4FD9-9712E61635C2}"/>
              </a:ext>
            </a:extLst>
          </p:cNvPr>
          <p:cNvSpPr txBox="1"/>
          <p:nvPr/>
        </p:nvSpPr>
        <p:spPr>
          <a:xfrm rot="529275">
            <a:off x="7941346" y="5840031"/>
            <a:ext cx="3013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Spannungsabfall R1+R2</a:t>
            </a:r>
          </a:p>
          <a:p>
            <a:r>
              <a:rPr lang="de-DE" dirty="0"/>
              <a:t>(gemessen durch V1 und V2)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DA8E9FD8-63EB-CF7A-512B-8DBF3F9931ED}"/>
              </a:ext>
            </a:extLst>
          </p:cNvPr>
          <p:cNvSpPr txBox="1"/>
          <p:nvPr/>
        </p:nvSpPr>
        <p:spPr>
          <a:xfrm>
            <a:off x="5027381" y="887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R1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A205803-16FB-EA10-0EDA-BFCCEF29330A}"/>
              </a:ext>
            </a:extLst>
          </p:cNvPr>
          <p:cNvSpPr txBox="1"/>
          <p:nvPr/>
        </p:nvSpPr>
        <p:spPr>
          <a:xfrm>
            <a:off x="5276988" y="498093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R2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50AB656-C19B-E61B-5764-07B31AB83CB0}"/>
              </a:ext>
            </a:extLst>
          </p:cNvPr>
          <p:cNvSpPr txBox="1"/>
          <p:nvPr/>
        </p:nvSpPr>
        <p:spPr>
          <a:xfrm rot="20669779">
            <a:off x="233384" y="1410718"/>
            <a:ext cx="211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Differenz V4 und V3</a:t>
            </a:r>
          </a:p>
        </p:txBody>
      </p:sp>
    </p:spTree>
    <p:extLst>
      <p:ext uri="{BB962C8B-B14F-4D97-AF65-F5344CB8AC3E}">
        <p14:creationId xmlns:p14="http://schemas.microsoft.com/office/powerpoint/2010/main" val="74478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4B9B-236D-991F-F143-D29C912E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A0B38D-AD71-F299-0B6C-FBE6E773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Warum beschäftigen wir uns mit Spannungsfall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58D89E-74C0-53AB-CE62-22A0543C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9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5EF9B19-7BB7-7980-80E2-D02999E65AE4}"/>
              </a:ext>
            </a:extLst>
          </p:cNvPr>
          <p:cNvSpPr/>
          <p:nvPr/>
        </p:nvSpPr>
        <p:spPr>
          <a:xfrm>
            <a:off x="1993392" y="1097280"/>
            <a:ext cx="731520" cy="40965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1BAB23-DD5A-D04F-357D-32A57B8A8D6E}"/>
              </a:ext>
            </a:extLst>
          </p:cNvPr>
          <p:cNvSpPr/>
          <p:nvPr/>
        </p:nvSpPr>
        <p:spPr>
          <a:xfrm>
            <a:off x="3105912" y="1664207"/>
            <a:ext cx="731520" cy="35295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9CB3B9-6D84-8B26-6417-0F78C939F6B9}"/>
              </a:ext>
            </a:extLst>
          </p:cNvPr>
          <p:cNvSpPr/>
          <p:nvPr/>
        </p:nvSpPr>
        <p:spPr>
          <a:xfrm>
            <a:off x="3105912" y="1097280"/>
            <a:ext cx="731520" cy="139903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32F244B-8AC8-C589-E335-A707360F93E3}"/>
              </a:ext>
            </a:extLst>
          </p:cNvPr>
          <p:cNvCxnSpPr/>
          <p:nvPr/>
        </p:nvCxnSpPr>
        <p:spPr>
          <a:xfrm>
            <a:off x="1463040" y="1097280"/>
            <a:ext cx="0" cy="40965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1266043-259E-0230-10A5-444A8CC329BF}"/>
              </a:ext>
            </a:extLst>
          </p:cNvPr>
          <p:cNvCxnSpPr>
            <a:cxnSpLocks/>
          </p:cNvCxnSpPr>
          <p:nvPr/>
        </p:nvCxnSpPr>
        <p:spPr>
          <a:xfrm>
            <a:off x="1463040" y="1097280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1127314-F53A-6C56-C3A3-46AD766141ED}"/>
              </a:ext>
            </a:extLst>
          </p:cNvPr>
          <p:cNvCxnSpPr>
            <a:cxnSpLocks/>
          </p:cNvCxnSpPr>
          <p:nvPr/>
        </p:nvCxnSpPr>
        <p:spPr>
          <a:xfrm>
            <a:off x="1463040" y="519074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A52AFC0-9F4B-77B9-0671-4A9B0E5F6076}"/>
              </a:ext>
            </a:extLst>
          </p:cNvPr>
          <p:cNvCxnSpPr>
            <a:cxnSpLocks/>
          </p:cNvCxnSpPr>
          <p:nvPr/>
        </p:nvCxnSpPr>
        <p:spPr>
          <a:xfrm flipH="1">
            <a:off x="1051560" y="3666744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324B592-17C6-49CC-131F-BAEC49E9295F}"/>
              </a:ext>
            </a:extLst>
          </p:cNvPr>
          <p:cNvCxnSpPr>
            <a:cxnSpLocks/>
          </p:cNvCxnSpPr>
          <p:nvPr/>
        </p:nvCxnSpPr>
        <p:spPr>
          <a:xfrm>
            <a:off x="4523232" y="2569463"/>
            <a:ext cx="0" cy="26243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2FB9EFF-F59D-E8B3-9D10-0FD32C651D9A}"/>
              </a:ext>
            </a:extLst>
          </p:cNvPr>
          <p:cNvCxnSpPr>
            <a:cxnSpLocks/>
          </p:cNvCxnSpPr>
          <p:nvPr/>
        </p:nvCxnSpPr>
        <p:spPr>
          <a:xfrm>
            <a:off x="4303776" y="2496311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5E95EC7-5A61-AA64-4BF6-A00776453961}"/>
              </a:ext>
            </a:extLst>
          </p:cNvPr>
          <p:cNvCxnSpPr>
            <a:cxnSpLocks/>
          </p:cNvCxnSpPr>
          <p:nvPr/>
        </p:nvCxnSpPr>
        <p:spPr>
          <a:xfrm>
            <a:off x="4303776" y="519074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5DE2259-E0DD-9269-3267-FE434540E2D3}"/>
              </a:ext>
            </a:extLst>
          </p:cNvPr>
          <p:cNvCxnSpPr>
            <a:cxnSpLocks/>
          </p:cNvCxnSpPr>
          <p:nvPr/>
        </p:nvCxnSpPr>
        <p:spPr>
          <a:xfrm>
            <a:off x="4303776" y="2569463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9588E57-CC42-6250-2B7A-4A454FC652DE}"/>
              </a:ext>
            </a:extLst>
          </p:cNvPr>
          <p:cNvCxnSpPr>
            <a:cxnSpLocks/>
          </p:cNvCxnSpPr>
          <p:nvPr/>
        </p:nvCxnSpPr>
        <p:spPr>
          <a:xfrm>
            <a:off x="4303776" y="110642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30BDB2A-E386-AD55-1580-A79E6EDA7B48}"/>
              </a:ext>
            </a:extLst>
          </p:cNvPr>
          <p:cNvCxnSpPr>
            <a:cxnSpLocks/>
          </p:cNvCxnSpPr>
          <p:nvPr/>
        </p:nvCxnSpPr>
        <p:spPr>
          <a:xfrm>
            <a:off x="4523232" y="1097280"/>
            <a:ext cx="0" cy="13990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B35FE582-5E56-57B0-C9B3-8F7A764AD396}"/>
              </a:ext>
            </a:extLst>
          </p:cNvPr>
          <p:cNvCxnSpPr>
            <a:cxnSpLocks/>
          </p:cNvCxnSpPr>
          <p:nvPr/>
        </p:nvCxnSpPr>
        <p:spPr>
          <a:xfrm>
            <a:off x="4523232" y="3828288"/>
            <a:ext cx="231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061481EA-61AD-7E69-FA5B-1E428075456A}"/>
              </a:ext>
            </a:extLst>
          </p:cNvPr>
          <p:cNvCxnSpPr>
            <a:cxnSpLocks/>
          </p:cNvCxnSpPr>
          <p:nvPr/>
        </p:nvCxnSpPr>
        <p:spPr>
          <a:xfrm>
            <a:off x="4523232" y="1539240"/>
            <a:ext cx="231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E7F8CF5-4718-86F0-905E-0199A746540F}"/>
              </a:ext>
            </a:extLst>
          </p:cNvPr>
          <p:cNvSpPr txBox="1"/>
          <p:nvPr/>
        </p:nvSpPr>
        <p:spPr>
          <a:xfrm>
            <a:off x="4742689" y="1334762"/>
            <a:ext cx="240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Abgefallene Spannung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2BA35C9-C5CB-639F-E375-77E68699B981}"/>
              </a:ext>
            </a:extLst>
          </p:cNvPr>
          <p:cNvSpPr txBox="1"/>
          <p:nvPr/>
        </p:nvSpPr>
        <p:spPr>
          <a:xfrm rot="16200000">
            <a:off x="-1074029" y="3016142"/>
            <a:ext cx="372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 der Quelle anliegende Spannung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1A6DAD7-DFA1-2FE9-9FCC-CB6406E40A55}"/>
              </a:ext>
            </a:extLst>
          </p:cNvPr>
          <p:cNvSpPr txBox="1"/>
          <p:nvPr/>
        </p:nvSpPr>
        <p:spPr>
          <a:xfrm>
            <a:off x="4895088" y="3796022"/>
            <a:ext cx="397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Am Verbraucher anliegende Spannung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72A9F9A-3821-BB41-1B55-A230686F194F}"/>
              </a:ext>
            </a:extLst>
          </p:cNvPr>
          <p:cNvSpPr txBox="1"/>
          <p:nvPr/>
        </p:nvSpPr>
        <p:spPr>
          <a:xfrm>
            <a:off x="2779144" y="27762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3169DA6-B413-FF10-4C97-154CE6023F66}"/>
              </a:ext>
            </a:extLst>
          </p:cNvPr>
          <p:cNvSpPr txBox="1"/>
          <p:nvPr/>
        </p:nvSpPr>
        <p:spPr>
          <a:xfrm>
            <a:off x="2557273" y="5488931"/>
            <a:ext cx="7746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Niedrigere Spannungen können die Effektivität von Geräten beeinflussen</a:t>
            </a:r>
          </a:p>
        </p:txBody>
      </p:sp>
    </p:spTree>
    <p:extLst>
      <p:ext uri="{BB962C8B-B14F-4D97-AF65-F5344CB8AC3E}">
        <p14:creationId xmlns:p14="http://schemas.microsoft.com/office/powerpoint/2010/main" val="191312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C124-8D42-DFD8-160B-9D6B3B13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4ABDFF-43DB-230E-DD57-4668C699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Warum beschäftigen wir uns mit Spannungsfall ?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56EA41-DF9D-3884-8C4C-74A84904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10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13F1D7-54ED-9224-E6CB-F30C86C22758}"/>
              </a:ext>
            </a:extLst>
          </p:cNvPr>
          <p:cNvSpPr/>
          <p:nvPr/>
        </p:nvSpPr>
        <p:spPr>
          <a:xfrm>
            <a:off x="1993392" y="1097280"/>
            <a:ext cx="731520" cy="40965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586B4FE-9443-849F-6671-BC5FD228DF70}"/>
              </a:ext>
            </a:extLst>
          </p:cNvPr>
          <p:cNvSpPr/>
          <p:nvPr/>
        </p:nvSpPr>
        <p:spPr>
          <a:xfrm>
            <a:off x="3105912" y="1664207"/>
            <a:ext cx="731520" cy="35295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9356FFB-1389-5BAF-1110-5B90925DB564}"/>
              </a:ext>
            </a:extLst>
          </p:cNvPr>
          <p:cNvSpPr/>
          <p:nvPr/>
        </p:nvSpPr>
        <p:spPr>
          <a:xfrm>
            <a:off x="3105912" y="1097280"/>
            <a:ext cx="731520" cy="5669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94219E8-25C6-D452-7BB0-FDE40D7F3671}"/>
              </a:ext>
            </a:extLst>
          </p:cNvPr>
          <p:cNvCxnSpPr/>
          <p:nvPr/>
        </p:nvCxnSpPr>
        <p:spPr>
          <a:xfrm>
            <a:off x="1463040" y="1097280"/>
            <a:ext cx="0" cy="40965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F59998D-DAD5-6D79-058E-E923D34843D1}"/>
              </a:ext>
            </a:extLst>
          </p:cNvPr>
          <p:cNvCxnSpPr>
            <a:cxnSpLocks/>
          </p:cNvCxnSpPr>
          <p:nvPr/>
        </p:nvCxnSpPr>
        <p:spPr>
          <a:xfrm>
            <a:off x="1463040" y="1097280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B364395-DF39-E289-432E-BEAFD689F04C}"/>
              </a:ext>
            </a:extLst>
          </p:cNvPr>
          <p:cNvCxnSpPr>
            <a:cxnSpLocks/>
          </p:cNvCxnSpPr>
          <p:nvPr/>
        </p:nvCxnSpPr>
        <p:spPr>
          <a:xfrm>
            <a:off x="1463040" y="519074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9096B47-9B4C-4AD2-16C2-929F592047DE}"/>
              </a:ext>
            </a:extLst>
          </p:cNvPr>
          <p:cNvCxnSpPr>
            <a:cxnSpLocks/>
          </p:cNvCxnSpPr>
          <p:nvPr/>
        </p:nvCxnSpPr>
        <p:spPr>
          <a:xfrm flipH="1">
            <a:off x="1051560" y="3666744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F8A76B7-323A-06C7-15B2-38D9745BE43B}"/>
              </a:ext>
            </a:extLst>
          </p:cNvPr>
          <p:cNvCxnSpPr>
            <a:cxnSpLocks/>
          </p:cNvCxnSpPr>
          <p:nvPr/>
        </p:nvCxnSpPr>
        <p:spPr>
          <a:xfrm>
            <a:off x="4523232" y="1704094"/>
            <a:ext cx="0" cy="3489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C07F085-0F4B-CA39-1095-A03EC7F68701}"/>
              </a:ext>
            </a:extLst>
          </p:cNvPr>
          <p:cNvCxnSpPr>
            <a:cxnSpLocks/>
          </p:cNvCxnSpPr>
          <p:nvPr/>
        </p:nvCxnSpPr>
        <p:spPr>
          <a:xfrm>
            <a:off x="4303776" y="170409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0BFD618-C519-CC48-DD90-5191FC1628B9}"/>
              </a:ext>
            </a:extLst>
          </p:cNvPr>
          <p:cNvCxnSpPr>
            <a:cxnSpLocks/>
          </p:cNvCxnSpPr>
          <p:nvPr/>
        </p:nvCxnSpPr>
        <p:spPr>
          <a:xfrm>
            <a:off x="4303776" y="519074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E721E55-38D5-C3B5-3C6C-193BB3022F94}"/>
              </a:ext>
            </a:extLst>
          </p:cNvPr>
          <p:cNvCxnSpPr>
            <a:cxnSpLocks/>
          </p:cNvCxnSpPr>
          <p:nvPr/>
        </p:nvCxnSpPr>
        <p:spPr>
          <a:xfrm>
            <a:off x="4303776" y="1664207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727CC93-62BB-4187-FC80-E92F83C7CC33}"/>
              </a:ext>
            </a:extLst>
          </p:cNvPr>
          <p:cNvCxnSpPr>
            <a:cxnSpLocks/>
          </p:cNvCxnSpPr>
          <p:nvPr/>
        </p:nvCxnSpPr>
        <p:spPr>
          <a:xfrm>
            <a:off x="4303776" y="1106424"/>
            <a:ext cx="2194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5796EF5-E412-FD70-2C5F-3EA2BD986F96}"/>
              </a:ext>
            </a:extLst>
          </p:cNvPr>
          <p:cNvCxnSpPr>
            <a:cxnSpLocks/>
          </p:cNvCxnSpPr>
          <p:nvPr/>
        </p:nvCxnSpPr>
        <p:spPr>
          <a:xfrm>
            <a:off x="4523232" y="1097280"/>
            <a:ext cx="0" cy="566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FF2619C-88F3-0C56-05FB-8819824CCDCB}"/>
              </a:ext>
            </a:extLst>
          </p:cNvPr>
          <p:cNvCxnSpPr>
            <a:cxnSpLocks/>
          </p:cNvCxnSpPr>
          <p:nvPr/>
        </p:nvCxnSpPr>
        <p:spPr>
          <a:xfrm>
            <a:off x="4523232" y="3828288"/>
            <a:ext cx="231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119F7DF-CC9C-918F-09DB-747D56348ACB}"/>
              </a:ext>
            </a:extLst>
          </p:cNvPr>
          <p:cNvCxnSpPr>
            <a:cxnSpLocks/>
          </p:cNvCxnSpPr>
          <p:nvPr/>
        </p:nvCxnSpPr>
        <p:spPr>
          <a:xfrm>
            <a:off x="4523232" y="1539240"/>
            <a:ext cx="2316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25C1CF34-DDD4-3F3D-5ABB-3826573631AF}"/>
              </a:ext>
            </a:extLst>
          </p:cNvPr>
          <p:cNvSpPr txBox="1"/>
          <p:nvPr/>
        </p:nvSpPr>
        <p:spPr>
          <a:xfrm>
            <a:off x="4742689" y="1334762"/>
            <a:ext cx="240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Abgefallene Spannung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2CDCC93-1EC4-53C9-D094-D5DD0071C7FB}"/>
              </a:ext>
            </a:extLst>
          </p:cNvPr>
          <p:cNvSpPr txBox="1"/>
          <p:nvPr/>
        </p:nvSpPr>
        <p:spPr>
          <a:xfrm rot="16200000">
            <a:off x="-1074029" y="3016142"/>
            <a:ext cx="372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 der Quelle anliegende Spannung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7257A28-5F8C-9271-0F89-8FBB5C987A80}"/>
              </a:ext>
            </a:extLst>
          </p:cNvPr>
          <p:cNvSpPr txBox="1"/>
          <p:nvPr/>
        </p:nvSpPr>
        <p:spPr>
          <a:xfrm>
            <a:off x="4895088" y="3796022"/>
            <a:ext cx="397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Am Verbraucher anliegende Spannung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10044E4-9CA1-D6D8-BA57-7883AD97D5C8}"/>
              </a:ext>
            </a:extLst>
          </p:cNvPr>
          <p:cNvSpPr txBox="1"/>
          <p:nvPr/>
        </p:nvSpPr>
        <p:spPr>
          <a:xfrm>
            <a:off x="2779144" y="27762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C5237F1-413C-CF0E-E2FB-8E237AEB1505}"/>
              </a:ext>
            </a:extLst>
          </p:cNvPr>
          <p:cNvSpPr txBox="1"/>
          <p:nvPr/>
        </p:nvSpPr>
        <p:spPr>
          <a:xfrm>
            <a:off x="2557273" y="5488931"/>
            <a:ext cx="7746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Niedrigere Spannungen können die Effektivität von Geräten beeinflussen</a:t>
            </a:r>
          </a:p>
        </p:txBody>
      </p:sp>
    </p:spTree>
    <p:extLst>
      <p:ext uri="{BB962C8B-B14F-4D97-AF65-F5344CB8AC3E}">
        <p14:creationId xmlns:p14="http://schemas.microsoft.com/office/powerpoint/2010/main" val="123143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6CEB-3D66-31B2-2149-AE9706D9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6692CF6A-D757-2221-0041-6D6CC260543A}"/>
              </a:ext>
            </a:extLst>
          </p:cNvPr>
          <p:cNvSpPr/>
          <p:nvPr/>
        </p:nvSpPr>
        <p:spPr>
          <a:xfrm>
            <a:off x="2298192" y="1591690"/>
            <a:ext cx="2142744" cy="2005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83FE63-86B5-A39D-7A89-7886A832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7CB548-3921-5678-7D6A-42C6B7AD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11</a:t>
            </a:fld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5AE6D41-D4E6-BF10-6516-B79246E0CED0}"/>
              </a:ext>
            </a:extLst>
          </p:cNvPr>
          <p:cNvSpPr/>
          <p:nvPr/>
        </p:nvSpPr>
        <p:spPr>
          <a:xfrm>
            <a:off x="1149096" y="1325880"/>
            <a:ext cx="2142744" cy="7040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7003A32-8B12-96CA-752E-6CD869BAF89D}"/>
              </a:ext>
            </a:extLst>
          </p:cNvPr>
          <p:cNvSpPr/>
          <p:nvPr/>
        </p:nvSpPr>
        <p:spPr>
          <a:xfrm>
            <a:off x="0" y="1228724"/>
            <a:ext cx="3143250" cy="9109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Nym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2C800BB-EB09-C239-1DBF-0E4BD2291A4B}"/>
              </a:ext>
            </a:extLst>
          </p:cNvPr>
          <p:cNvSpPr txBox="1"/>
          <p:nvPr/>
        </p:nvSpPr>
        <p:spPr>
          <a:xfrm>
            <a:off x="2523744" y="504474"/>
            <a:ext cx="9022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 Rounded MT Bold" panose="020F0704030504030204" pitchFamily="34" charset="0"/>
              </a:rPr>
              <a:t>Welche Faktoren beeinflussen den Spannungsfall ?</a:t>
            </a:r>
          </a:p>
        </p:txBody>
      </p:sp>
    </p:spTree>
    <p:extLst>
      <p:ext uri="{BB962C8B-B14F-4D97-AF65-F5344CB8AC3E}">
        <p14:creationId xmlns:p14="http://schemas.microsoft.com/office/powerpoint/2010/main" val="2570006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A49C-A54B-192B-BD25-27E9B5D5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75015DCB-3220-771C-A200-F9FC2AA757CB}"/>
              </a:ext>
            </a:extLst>
          </p:cNvPr>
          <p:cNvSpPr/>
          <p:nvPr/>
        </p:nvSpPr>
        <p:spPr>
          <a:xfrm>
            <a:off x="2298192" y="1399032"/>
            <a:ext cx="2142744" cy="5577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37CBE3-415B-3027-1DA7-4B46E9F9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BCBCF2-AE8A-8F4C-1B49-0FE8172C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12</a:t>
            </a:fld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3D44911-C39F-AB89-4EEE-FE38DFD64C49}"/>
              </a:ext>
            </a:extLst>
          </p:cNvPr>
          <p:cNvSpPr/>
          <p:nvPr/>
        </p:nvSpPr>
        <p:spPr>
          <a:xfrm>
            <a:off x="1149096" y="1325880"/>
            <a:ext cx="2142744" cy="7040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903400A-D6BF-B0D6-59FA-AB3FC877BE82}"/>
              </a:ext>
            </a:extLst>
          </p:cNvPr>
          <p:cNvSpPr/>
          <p:nvPr/>
        </p:nvSpPr>
        <p:spPr>
          <a:xfrm>
            <a:off x="0" y="1228724"/>
            <a:ext cx="3143250" cy="9109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Nym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30C992F-3C3A-2E05-1025-C082905C09D1}"/>
              </a:ext>
            </a:extLst>
          </p:cNvPr>
          <p:cNvSpPr txBox="1"/>
          <p:nvPr/>
        </p:nvSpPr>
        <p:spPr>
          <a:xfrm>
            <a:off x="2523744" y="504474"/>
            <a:ext cx="9022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 Rounded MT Bold" panose="020F0704030504030204" pitchFamily="34" charset="0"/>
              </a:rPr>
              <a:t>Welche Faktoren beeinflussen den Spannungsfall 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3E25937-46BB-BF5B-7B53-E947C522D197}"/>
              </a:ext>
            </a:extLst>
          </p:cNvPr>
          <p:cNvSpPr txBox="1"/>
          <p:nvPr/>
        </p:nvSpPr>
        <p:spPr>
          <a:xfrm>
            <a:off x="3642800" y="2765060"/>
            <a:ext cx="3011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ym typeface="Wingdings" panose="05000000000000000000" pitchFamily="2" charset="2"/>
              </a:rPr>
              <a:t></a:t>
            </a:r>
            <a:r>
              <a:rPr lang="de-DE" sz="3600" dirty="0"/>
              <a:t>Querschnitt</a:t>
            </a:r>
          </a:p>
        </p:txBody>
      </p:sp>
    </p:spTree>
    <p:extLst>
      <p:ext uri="{BB962C8B-B14F-4D97-AF65-F5344CB8AC3E}">
        <p14:creationId xmlns:p14="http://schemas.microsoft.com/office/powerpoint/2010/main" val="2060382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0190-837B-2FBA-4B7A-A759A0EA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E02EA721-F43B-305A-E560-F7D47CE2EC89}"/>
              </a:ext>
            </a:extLst>
          </p:cNvPr>
          <p:cNvSpPr/>
          <p:nvPr/>
        </p:nvSpPr>
        <p:spPr>
          <a:xfrm>
            <a:off x="3363458" y="1399032"/>
            <a:ext cx="4424182" cy="5577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8116C7-90B4-BAA1-DF9F-D33EF273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95ADE4-A72F-EF42-0DE3-F5F63F72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13</a:t>
            </a:fld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2CBAB08-EAF5-7BC1-4C4E-36F93448A45D}"/>
              </a:ext>
            </a:extLst>
          </p:cNvPr>
          <p:cNvSpPr/>
          <p:nvPr/>
        </p:nvSpPr>
        <p:spPr>
          <a:xfrm>
            <a:off x="2214362" y="1325880"/>
            <a:ext cx="4424182" cy="7040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0AD4604-86A2-54C5-485A-ED5554254EB6}"/>
              </a:ext>
            </a:extLst>
          </p:cNvPr>
          <p:cNvSpPr/>
          <p:nvPr/>
        </p:nvSpPr>
        <p:spPr>
          <a:xfrm>
            <a:off x="0" y="1228724"/>
            <a:ext cx="6489954" cy="9109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Nym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D83E25C-C031-4D7B-7A10-D29EEE992429}"/>
              </a:ext>
            </a:extLst>
          </p:cNvPr>
          <p:cNvSpPr txBox="1"/>
          <p:nvPr/>
        </p:nvSpPr>
        <p:spPr>
          <a:xfrm>
            <a:off x="2523744" y="504474"/>
            <a:ext cx="9022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 Rounded MT Bold" panose="020F0704030504030204" pitchFamily="34" charset="0"/>
              </a:rPr>
              <a:t>Welche Faktoren beeinflussen den Spannungsfall 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40B379A-94EA-BC70-E31F-788388E194EF}"/>
              </a:ext>
            </a:extLst>
          </p:cNvPr>
          <p:cNvSpPr txBox="1"/>
          <p:nvPr/>
        </p:nvSpPr>
        <p:spPr>
          <a:xfrm>
            <a:off x="3642800" y="2765060"/>
            <a:ext cx="30110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ym typeface="Wingdings" panose="05000000000000000000" pitchFamily="2" charset="2"/>
              </a:rPr>
              <a:t></a:t>
            </a:r>
            <a:r>
              <a:rPr lang="de-DE" sz="3600" dirty="0"/>
              <a:t>Querschnitt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Länge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354756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B7B0-C264-6144-3FD1-98142B9D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046D8378-9CFD-87E0-C7DD-762C7CC380AE}"/>
              </a:ext>
            </a:extLst>
          </p:cNvPr>
          <p:cNvSpPr/>
          <p:nvPr/>
        </p:nvSpPr>
        <p:spPr>
          <a:xfrm>
            <a:off x="3363458" y="1399032"/>
            <a:ext cx="4424182" cy="55778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D7C404-E532-1DAD-BEAC-7ADA4604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E73D7-9F6E-B5EE-9003-BA3A788E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14</a:t>
            </a:fld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FBD6382-2140-DCE2-11B9-D6C94D7CEEA0}"/>
              </a:ext>
            </a:extLst>
          </p:cNvPr>
          <p:cNvSpPr/>
          <p:nvPr/>
        </p:nvSpPr>
        <p:spPr>
          <a:xfrm>
            <a:off x="2214362" y="1325880"/>
            <a:ext cx="4424182" cy="7040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1BB3464-F191-3105-2070-672AC0C391C6}"/>
              </a:ext>
            </a:extLst>
          </p:cNvPr>
          <p:cNvSpPr/>
          <p:nvPr/>
        </p:nvSpPr>
        <p:spPr>
          <a:xfrm>
            <a:off x="0" y="1228724"/>
            <a:ext cx="6489954" cy="9109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Nym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45B1D7D-3902-2DDC-3D31-997F0B2286E4}"/>
              </a:ext>
            </a:extLst>
          </p:cNvPr>
          <p:cNvSpPr txBox="1"/>
          <p:nvPr/>
        </p:nvSpPr>
        <p:spPr>
          <a:xfrm>
            <a:off x="2523744" y="504474"/>
            <a:ext cx="9022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 Rounded MT Bold" panose="020F0704030504030204" pitchFamily="34" charset="0"/>
              </a:rPr>
              <a:t>Welche Faktoren beeinflussen den Spannungsfall 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9D13F89-92EE-DC59-F39E-34374A12ECF2}"/>
              </a:ext>
            </a:extLst>
          </p:cNvPr>
          <p:cNvSpPr txBox="1"/>
          <p:nvPr/>
        </p:nvSpPr>
        <p:spPr>
          <a:xfrm>
            <a:off x="3642800" y="2765060"/>
            <a:ext cx="30110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ym typeface="Wingdings" panose="05000000000000000000" pitchFamily="2" charset="2"/>
              </a:rPr>
              <a:t></a:t>
            </a:r>
            <a:r>
              <a:rPr lang="de-DE" sz="3600" dirty="0"/>
              <a:t>Querschnitt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Länge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Material</a:t>
            </a:r>
            <a:endParaRPr lang="de-DE" sz="3600" dirty="0"/>
          </a:p>
        </p:txBody>
      </p:sp>
      <p:pic>
        <p:nvPicPr>
          <p:cNvPr id="16386" name="Picture 2" descr="PEAKTECH Amperemeter, analog, Tischgerät, 0 - 50 µA DC | Multimeter, analog  günstig kaufen | reichelt elektronik">
            <a:extLst>
              <a:ext uri="{FF2B5EF4-FFF2-40B4-BE49-F238E27FC236}">
                <a16:creationId xmlns:a16="http://schemas.microsoft.com/office/drawing/2014/main" id="{436CA3B9-573C-4227-93F9-651319C45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394" y="3557646"/>
            <a:ext cx="1870482" cy="192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07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77741-E4B1-A823-BCA2-8075E3E0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C8C04B42-1B9E-15CE-B54B-DA4F5ACE4B64}"/>
              </a:ext>
            </a:extLst>
          </p:cNvPr>
          <p:cNvSpPr/>
          <p:nvPr/>
        </p:nvSpPr>
        <p:spPr>
          <a:xfrm>
            <a:off x="3363458" y="1399032"/>
            <a:ext cx="4424182" cy="55778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321865-A727-45B3-2470-FAE66403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B0A876-3DA3-0926-B464-E92739C7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15</a:t>
            </a:fld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99805B8-7358-6D8F-B057-C7F08B52B108}"/>
              </a:ext>
            </a:extLst>
          </p:cNvPr>
          <p:cNvSpPr/>
          <p:nvPr/>
        </p:nvSpPr>
        <p:spPr>
          <a:xfrm>
            <a:off x="2214362" y="1325880"/>
            <a:ext cx="4424182" cy="7040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35622CA-F703-C4A3-D28B-1E7E35845022}"/>
              </a:ext>
            </a:extLst>
          </p:cNvPr>
          <p:cNvSpPr/>
          <p:nvPr/>
        </p:nvSpPr>
        <p:spPr>
          <a:xfrm>
            <a:off x="0" y="1228724"/>
            <a:ext cx="6489954" cy="9109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Nym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B888311-FBF6-7D68-C9E6-4E147ADC0722}"/>
              </a:ext>
            </a:extLst>
          </p:cNvPr>
          <p:cNvSpPr txBox="1"/>
          <p:nvPr/>
        </p:nvSpPr>
        <p:spPr>
          <a:xfrm>
            <a:off x="2523744" y="504474"/>
            <a:ext cx="9022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latin typeface="Arial Rounded MT Bold" panose="020F0704030504030204" pitchFamily="34" charset="0"/>
              </a:rPr>
              <a:t>Welche Faktoren beeinflussen den Spannungsfall ?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E1ACA39-47C9-369F-B331-1AC2CF614076}"/>
              </a:ext>
            </a:extLst>
          </p:cNvPr>
          <p:cNvSpPr txBox="1"/>
          <p:nvPr/>
        </p:nvSpPr>
        <p:spPr>
          <a:xfrm>
            <a:off x="3642800" y="2765060"/>
            <a:ext cx="416024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ym typeface="Wingdings" panose="05000000000000000000" pitchFamily="2" charset="2"/>
              </a:rPr>
              <a:t></a:t>
            </a:r>
            <a:r>
              <a:rPr lang="de-DE" sz="3600" dirty="0"/>
              <a:t>Querschnitt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Länge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Material</a:t>
            </a:r>
          </a:p>
          <a:p>
            <a:r>
              <a:rPr lang="de-DE" sz="3600" dirty="0">
                <a:sym typeface="Wingdings" panose="05000000000000000000" pitchFamily="2" charset="2"/>
              </a:rPr>
              <a:t>Fließenden Strom</a:t>
            </a:r>
            <a:endParaRPr lang="de-DE" sz="3600" dirty="0"/>
          </a:p>
        </p:txBody>
      </p:sp>
      <p:pic>
        <p:nvPicPr>
          <p:cNvPr id="15362" name="Picture 2" descr="PEAKTECH Amperemeter, analog, Tischgerät, 0 - 50 µA DC | Multimeter, analog  günstig kaufen | reichelt elektronik">
            <a:extLst>
              <a:ext uri="{FF2B5EF4-FFF2-40B4-BE49-F238E27FC236}">
                <a16:creationId xmlns:a16="http://schemas.microsoft.com/office/drawing/2014/main" id="{10F911FA-476F-BE05-7962-CEE0DD445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81805">
            <a:off x="7661740" y="1600976"/>
            <a:ext cx="2121747" cy="218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949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224E-DC33-692A-B13C-3FD0A2CFF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4F68E6-7B7B-AC9E-DCFE-13396AF2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AB5C5D-DE42-7690-58AF-215A6B82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16</a:t>
            </a:fld>
            <a:endParaRPr lang="de-DE"/>
          </a:p>
        </p:txBody>
      </p:sp>
      <p:sp>
        <p:nvSpPr>
          <p:cNvPr id="15370" name="Textfeld 15369">
            <a:extLst>
              <a:ext uri="{FF2B5EF4-FFF2-40B4-BE49-F238E27FC236}">
                <a16:creationId xmlns:a16="http://schemas.microsoft.com/office/drawing/2014/main" id="{6C38B6C8-81CD-5105-736C-41B8B5D8E5CE}"/>
              </a:ext>
            </a:extLst>
          </p:cNvPr>
          <p:cNvSpPr txBox="1"/>
          <p:nvPr/>
        </p:nvSpPr>
        <p:spPr>
          <a:xfrm>
            <a:off x="3438145" y="1810512"/>
            <a:ext cx="51724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Den Widerstand so niedrig wie möglich halten, um Spannungsfall zu minimieren </a:t>
            </a:r>
          </a:p>
        </p:txBody>
      </p:sp>
    </p:spTree>
    <p:extLst>
      <p:ext uri="{BB962C8B-B14F-4D97-AF65-F5344CB8AC3E}">
        <p14:creationId xmlns:p14="http://schemas.microsoft.com/office/powerpoint/2010/main" val="50380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7FF8-AF24-F954-ECA2-3F9318BB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5D1FBE-4120-C369-323F-2E625C2E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259C18-0E7C-B21D-C919-E11065E6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17</a:t>
            </a:fld>
            <a:endParaRPr lang="de-DE"/>
          </a:p>
        </p:txBody>
      </p:sp>
      <p:sp>
        <p:nvSpPr>
          <p:cNvPr id="15370" name="Textfeld 15369">
            <a:extLst>
              <a:ext uri="{FF2B5EF4-FFF2-40B4-BE49-F238E27FC236}">
                <a16:creationId xmlns:a16="http://schemas.microsoft.com/office/drawing/2014/main" id="{DCC5271F-3A9B-78F7-1BA5-099C601742B1}"/>
              </a:ext>
            </a:extLst>
          </p:cNvPr>
          <p:cNvSpPr txBox="1"/>
          <p:nvPr/>
        </p:nvSpPr>
        <p:spPr>
          <a:xfrm>
            <a:off x="5157217" y="667512"/>
            <a:ext cx="2587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/>
              <a:t>Z-Diode</a:t>
            </a:r>
          </a:p>
          <a:p>
            <a:endParaRPr lang="de-DE" sz="2000" b="1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DA371C3-F141-8541-D46F-C36B1B66AF7A}"/>
              </a:ext>
            </a:extLst>
          </p:cNvPr>
          <p:cNvSpPr txBox="1"/>
          <p:nvPr/>
        </p:nvSpPr>
        <p:spPr>
          <a:xfrm>
            <a:off x="1121667" y="1556254"/>
            <a:ext cx="68854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ym typeface="Wingdings" panose="05000000000000000000" pitchFamily="2" charset="2"/>
              </a:rPr>
              <a:t></a:t>
            </a:r>
            <a:r>
              <a:rPr lang="de-DE" sz="3600" dirty="0"/>
              <a:t>Wird in Sperrichtung betrieben</a:t>
            </a:r>
          </a:p>
          <a:p>
            <a:endParaRPr lang="de-DE" sz="2000" b="1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AF21360-5A23-019F-2EA1-03E80556D829}"/>
              </a:ext>
            </a:extLst>
          </p:cNvPr>
          <p:cNvCxnSpPr/>
          <p:nvPr/>
        </p:nvCxnSpPr>
        <p:spPr>
          <a:xfrm>
            <a:off x="9034272" y="2558534"/>
            <a:ext cx="0" cy="3447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391C8BC-D350-AFF5-E796-B9587589BDD1}"/>
              </a:ext>
            </a:extLst>
          </p:cNvPr>
          <p:cNvCxnSpPr>
            <a:cxnSpLocks/>
          </p:cNvCxnSpPr>
          <p:nvPr/>
        </p:nvCxnSpPr>
        <p:spPr>
          <a:xfrm>
            <a:off x="7484364" y="4282178"/>
            <a:ext cx="30998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0BA22C3-D0DC-38FA-98CE-6A0A6CFC04D3}"/>
              </a:ext>
            </a:extLst>
          </p:cNvPr>
          <p:cNvSpPr txBox="1"/>
          <p:nvPr/>
        </p:nvSpPr>
        <p:spPr>
          <a:xfrm>
            <a:off x="8191615" y="2103485"/>
            <a:ext cx="226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 (Durchlassrichtung)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EA20E62-2CE8-47DF-645A-EFEA1A45C915}"/>
              </a:ext>
            </a:extLst>
          </p:cNvPr>
          <p:cNvSpPr txBox="1"/>
          <p:nvPr/>
        </p:nvSpPr>
        <p:spPr>
          <a:xfrm>
            <a:off x="8432098" y="6005822"/>
            <a:ext cx="1785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 (Sperrrichtung)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131ED59-0A04-BE43-F8E3-A54F800FAFA4}"/>
              </a:ext>
            </a:extLst>
          </p:cNvPr>
          <p:cNvSpPr txBox="1"/>
          <p:nvPr/>
        </p:nvSpPr>
        <p:spPr>
          <a:xfrm>
            <a:off x="6270512" y="3916933"/>
            <a:ext cx="1882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 (Sperrrichtung)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E5DDD5-FFA4-2399-5C85-9C0CAC402E1A}"/>
              </a:ext>
            </a:extLst>
          </p:cNvPr>
          <p:cNvSpPr txBox="1"/>
          <p:nvPr/>
        </p:nvSpPr>
        <p:spPr>
          <a:xfrm>
            <a:off x="9828148" y="3912846"/>
            <a:ext cx="2363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 (Durchlassrichtung)</a:t>
            </a: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DFA53E4B-4C14-9777-6BFE-1CD868E36348}"/>
              </a:ext>
            </a:extLst>
          </p:cNvPr>
          <p:cNvSpPr/>
          <p:nvPr/>
        </p:nvSpPr>
        <p:spPr>
          <a:xfrm>
            <a:off x="7946136" y="2834640"/>
            <a:ext cx="2277831" cy="2770632"/>
          </a:xfrm>
          <a:custGeom>
            <a:avLst/>
            <a:gdLst>
              <a:gd name="connsiteX0" fmla="*/ 36576 w 2277831"/>
              <a:gd name="connsiteY0" fmla="*/ 2770632 h 2770632"/>
              <a:gd name="connsiteX1" fmla="*/ 9144 w 2277831"/>
              <a:gd name="connsiteY1" fmla="*/ 2532888 h 2770632"/>
              <a:gd name="connsiteX2" fmla="*/ 0 w 2277831"/>
              <a:gd name="connsiteY2" fmla="*/ 2432304 h 2770632"/>
              <a:gd name="connsiteX3" fmla="*/ 18288 w 2277831"/>
              <a:gd name="connsiteY3" fmla="*/ 2048256 h 2770632"/>
              <a:gd name="connsiteX4" fmla="*/ 36576 w 2277831"/>
              <a:gd name="connsiteY4" fmla="*/ 1975104 h 2770632"/>
              <a:gd name="connsiteX5" fmla="*/ 73152 w 2277831"/>
              <a:gd name="connsiteY5" fmla="*/ 1911096 h 2770632"/>
              <a:gd name="connsiteX6" fmla="*/ 91440 w 2277831"/>
              <a:gd name="connsiteY6" fmla="*/ 1847088 h 2770632"/>
              <a:gd name="connsiteX7" fmla="*/ 192024 w 2277831"/>
              <a:gd name="connsiteY7" fmla="*/ 1709928 h 2770632"/>
              <a:gd name="connsiteX8" fmla="*/ 228600 w 2277831"/>
              <a:gd name="connsiteY8" fmla="*/ 1682496 h 2770632"/>
              <a:gd name="connsiteX9" fmla="*/ 265176 w 2277831"/>
              <a:gd name="connsiteY9" fmla="*/ 1664208 h 2770632"/>
              <a:gd name="connsiteX10" fmla="*/ 301752 w 2277831"/>
              <a:gd name="connsiteY10" fmla="*/ 1627632 h 2770632"/>
              <a:gd name="connsiteX11" fmla="*/ 356616 w 2277831"/>
              <a:gd name="connsiteY11" fmla="*/ 1609344 h 2770632"/>
              <a:gd name="connsiteX12" fmla="*/ 521208 w 2277831"/>
              <a:gd name="connsiteY12" fmla="*/ 1536192 h 2770632"/>
              <a:gd name="connsiteX13" fmla="*/ 576072 w 2277831"/>
              <a:gd name="connsiteY13" fmla="*/ 1517904 h 2770632"/>
              <a:gd name="connsiteX14" fmla="*/ 621792 w 2277831"/>
              <a:gd name="connsiteY14" fmla="*/ 1499616 h 2770632"/>
              <a:gd name="connsiteX15" fmla="*/ 1024128 w 2277831"/>
              <a:gd name="connsiteY15" fmla="*/ 1472184 h 2770632"/>
              <a:gd name="connsiteX16" fmla="*/ 1252728 w 2277831"/>
              <a:gd name="connsiteY16" fmla="*/ 1463040 h 2770632"/>
              <a:gd name="connsiteX17" fmla="*/ 1344168 w 2277831"/>
              <a:gd name="connsiteY17" fmla="*/ 1444752 h 2770632"/>
              <a:gd name="connsiteX18" fmla="*/ 1508760 w 2277831"/>
              <a:gd name="connsiteY18" fmla="*/ 1426464 h 2770632"/>
              <a:gd name="connsiteX19" fmla="*/ 1591056 w 2277831"/>
              <a:gd name="connsiteY19" fmla="*/ 1399032 h 2770632"/>
              <a:gd name="connsiteX20" fmla="*/ 1755648 w 2277831"/>
              <a:gd name="connsiteY20" fmla="*/ 1335024 h 2770632"/>
              <a:gd name="connsiteX21" fmla="*/ 1892808 w 2277831"/>
              <a:gd name="connsiteY21" fmla="*/ 1243584 h 2770632"/>
              <a:gd name="connsiteX22" fmla="*/ 2020824 w 2277831"/>
              <a:gd name="connsiteY22" fmla="*/ 1115568 h 2770632"/>
              <a:gd name="connsiteX23" fmla="*/ 2084832 w 2277831"/>
              <a:gd name="connsiteY23" fmla="*/ 1051560 h 2770632"/>
              <a:gd name="connsiteX24" fmla="*/ 2121408 w 2277831"/>
              <a:gd name="connsiteY24" fmla="*/ 996696 h 2770632"/>
              <a:gd name="connsiteX25" fmla="*/ 2185416 w 2277831"/>
              <a:gd name="connsiteY25" fmla="*/ 859536 h 2770632"/>
              <a:gd name="connsiteX26" fmla="*/ 2212848 w 2277831"/>
              <a:gd name="connsiteY26" fmla="*/ 786384 h 2770632"/>
              <a:gd name="connsiteX27" fmla="*/ 2258568 w 2277831"/>
              <a:gd name="connsiteY27" fmla="*/ 548640 h 2770632"/>
              <a:gd name="connsiteX28" fmla="*/ 2276856 w 2277831"/>
              <a:gd name="connsiteY28" fmla="*/ 329184 h 2770632"/>
              <a:gd name="connsiteX29" fmla="*/ 2276856 w 2277831"/>
              <a:gd name="connsiteY29" fmla="*/ 0 h 277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77831" h="2770632">
                <a:moveTo>
                  <a:pt x="36576" y="2770632"/>
                </a:moveTo>
                <a:cubicBezTo>
                  <a:pt x="14963" y="2662565"/>
                  <a:pt x="28324" y="2737478"/>
                  <a:pt x="9144" y="2532888"/>
                </a:cubicBezTo>
                <a:cubicBezTo>
                  <a:pt x="6002" y="2499369"/>
                  <a:pt x="0" y="2432304"/>
                  <a:pt x="0" y="2432304"/>
                </a:cubicBezTo>
                <a:cubicBezTo>
                  <a:pt x="6096" y="2304288"/>
                  <a:pt x="8068" y="2176009"/>
                  <a:pt x="18288" y="2048256"/>
                </a:cubicBezTo>
                <a:cubicBezTo>
                  <a:pt x="20292" y="2023202"/>
                  <a:pt x="27241" y="1998441"/>
                  <a:pt x="36576" y="1975104"/>
                </a:cubicBezTo>
                <a:cubicBezTo>
                  <a:pt x="45702" y="1952288"/>
                  <a:pt x="63472" y="1933683"/>
                  <a:pt x="73152" y="1911096"/>
                </a:cubicBezTo>
                <a:cubicBezTo>
                  <a:pt x="81893" y="1890700"/>
                  <a:pt x="82905" y="1867571"/>
                  <a:pt x="91440" y="1847088"/>
                </a:cubicBezTo>
                <a:cubicBezTo>
                  <a:pt x="106212" y="1811636"/>
                  <a:pt x="179681" y="1719185"/>
                  <a:pt x="192024" y="1709928"/>
                </a:cubicBezTo>
                <a:cubicBezTo>
                  <a:pt x="204216" y="1700784"/>
                  <a:pt x="215677" y="1690573"/>
                  <a:pt x="228600" y="1682496"/>
                </a:cubicBezTo>
                <a:cubicBezTo>
                  <a:pt x="240159" y="1675272"/>
                  <a:pt x="254271" y="1672387"/>
                  <a:pt x="265176" y="1664208"/>
                </a:cubicBezTo>
                <a:cubicBezTo>
                  <a:pt x="278970" y="1653863"/>
                  <a:pt x="286967" y="1636503"/>
                  <a:pt x="301752" y="1627632"/>
                </a:cubicBezTo>
                <a:cubicBezTo>
                  <a:pt x="318282" y="1617714"/>
                  <a:pt x="339374" y="1617965"/>
                  <a:pt x="356616" y="1609344"/>
                </a:cubicBezTo>
                <a:cubicBezTo>
                  <a:pt x="530503" y="1522401"/>
                  <a:pt x="238120" y="1630555"/>
                  <a:pt x="521208" y="1536192"/>
                </a:cubicBezTo>
                <a:cubicBezTo>
                  <a:pt x="539496" y="1530096"/>
                  <a:pt x="558174" y="1525063"/>
                  <a:pt x="576072" y="1517904"/>
                </a:cubicBezTo>
                <a:cubicBezTo>
                  <a:pt x="591312" y="1511808"/>
                  <a:pt x="605697" y="1502835"/>
                  <a:pt x="621792" y="1499616"/>
                </a:cubicBezTo>
                <a:cubicBezTo>
                  <a:pt x="757190" y="1472536"/>
                  <a:pt x="884340" y="1477361"/>
                  <a:pt x="1024128" y="1472184"/>
                </a:cubicBezTo>
                <a:lnTo>
                  <a:pt x="1252728" y="1463040"/>
                </a:lnTo>
                <a:cubicBezTo>
                  <a:pt x="1283208" y="1456944"/>
                  <a:pt x="1313397" y="1449148"/>
                  <a:pt x="1344168" y="1444752"/>
                </a:cubicBezTo>
                <a:cubicBezTo>
                  <a:pt x="1398815" y="1436945"/>
                  <a:pt x="1508760" y="1426464"/>
                  <a:pt x="1508760" y="1426464"/>
                </a:cubicBezTo>
                <a:cubicBezTo>
                  <a:pt x="1536192" y="1417320"/>
                  <a:pt x="1563940" y="1409075"/>
                  <a:pt x="1591056" y="1399032"/>
                </a:cubicBezTo>
                <a:cubicBezTo>
                  <a:pt x="1646258" y="1378587"/>
                  <a:pt x="1755648" y="1335024"/>
                  <a:pt x="1755648" y="1335024"/>
                </a:cubicBezTo>
                <a:cubicBezTo>
                  <a:pt x="1905386" y="1210242"/>
                  <a:pt x="1696416" y="1378604"/>
                  <a:pt x="1892808" y="1243584"/>
                </a:cubicBezTo>
                <a:cubicBezTo>
                  <a:pt x="1955578" y="1200430"/>
                  <a:pt x="1968103" y="1172055"/>
                  <a:pt x="2020824" y="1115568"/>
                </a:cubicBezTo>
                <a:cubicBezTo>
                  <a:pt x="2041412" y="1093509"/>
                  <a:pt x="2065342" y="1074594"/>
                  <a:pt x="2084832" y="1051560"/>
                </a:cubicBezTo>
                <a:cubicBezTo>
                  <a:pt x="2099029" y="1034781"/>
                  <a:pt x="2110503" y="1015779"/>
                  <a:pt x="2121408" y="996696"/>
                </a:cubicBezTo>
                <a:cubicBezTo>
                  <a:pt x="2142751" y="959346"/>
                  <a:pt x="2169055" y="900439"/>
                  <a:pt x="2185416" y="859536"/>
                </a:cubicBezTo>
                <a:cubicBezTo>
                  <a:pt x="2195088" y="835356"/>
                  <a:pt x="2206078" y="811531"/>
                  <a:pt x="2212848" y="786384"/>
                </a:cubicBezTo>
                <a:cubicBezTo>
                  <a:pt x="2241553" y="679767"/>
                  <a:pt x="2248225" y="641723"/>
                  <a:pt x="2258568" y="548640"/>
                </a:cubicBezTo>
                <a:cubicBezTo>
                  <a:pt x="2264521" y="495063"/>
                  <a:pt x="2275931" y="375424"/>
                  <a:pt x="2276856" y="329184"/>
                </a:cubicBezTo>
                <a:cubicBezTo>
                  <a:pt x="2279050" y="219478"/>
                  <a:pt x="2276856" y="109728"/>
                  <a:pt x="227685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95E8C34-E8D7-D8BF-6B90-C4F25CFD9DEA}"/>
              </a:ext>
            </a:extLst>
          </p:cNvPr>
          <p:cNvCxnSpPr/>
          <p:nvPr/>
        </p:nvCxnSpPr>
        <p:spPr>
          <a:xfrm>
            <a:off x="7484364" y="3739896"/>
            <a:ext cx="15499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1BDF131-E3B1-418F-6020-1878B479CE71}"/>
              </a:ext>
            </a:extLst>
          </p:cNvPr>
          <p:cNvCxnSpPr>
            <a:cxnSpLocks/>
          </p:cNvCxnSpPr>
          <p:nvPr/>
        </p:nvCxnSpPr>
        <p:spPr>
          <a:xfrm flipV="1">
            <a:off x="8918829" y="3759708"/>
            <a:ext cx="108204" cy="8839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17EDB38-E13D-DB99-0F41-4D089EB1A28B}"/>
              </a:ext>
            </a:extLst>
          </p:cNvPr>
          <p:cNvCxnSpPr>
            <a:cxnSpLocks/>
          </p:cNvCxnSpPr>
          <p:nvPr/>
        </p:nvCxnSpPr>
        <p:spPr>
          <a:xfrm>
            <a:off x="8911590" y="3619501"/>
            <a:ext cx="122682" cy="12039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D96FAAE-8B3C-AA63-7E56-AEB15D76C87B}"/>
              </a:ext>
            </a:extLst>
          </p:cNvPr>
          <p:cNvCxnSpPr>
            <a:cxnSpLocks/>
          </p:cNvCxnSpPr>
          <p:nvPr/>
        </p:nvCxnSpPr>
        <p:spPr>
          <a:xfrm flipH="1" flipV="1">
            <a:off x="7495097" y="3739896"/>
            <a:ext cx="90826" cy="8571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85287F1-9B38-5359-1A78-37E19EBC8F5E}"/>
              </a:ext>
            </a:extLst>
          </p:cNvPr>
          <p:cNvCxnSpPr>
            <a:cxnSpLocks/>
          </p:cNvCxnSpPr>
          <p:nvPr/>
        </p:nvCxnSpPr>
        <p:spPr>
          <a:xfrm flipH="1">
            <a:off x="7503786" y="3679698"/>
            <a:ext cx="82137" cy="5611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25156FBF-8F5F-E116-0216-D2EEAA258CE0}"/>
              </a:ext>
            </a:extLst>
          </p:cNvPr>
          <p:cNvSpPr txBox="1"/>
          <p:nvPr/>
        </p:nvSpPr>
        <p:spPr>
          <a:xfrm>
            <a:off x="7524148" y="3413422"/>
            <a:ext cx="147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Sperrbereich</a:t>
            </a:r>
          </a:p>
        </p:txBody>
      </p:sp>
      <p:pic>
        <p:nvPicPr>
          <p:cNvPr id="19458" name="Picture 2" descr="Diode • einfach erklärt und veranschaulicht · [mit Video]">
            <a:extLst>
              <a:ext uri="{FF2B5EF4-FFF2-40B4-BE49-F238E27FC236}">
                <a16:creationId xmlns:a16="http://schemas.microsoft.com/office/drawing/2014/main" id="{A4AE012C-3109-D124-47F6-607105E8A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986" y="2958104"/>
            <a:ext cx="3398147" cy="189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637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43C438-611A-B2AB-7C35-3022F956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EE3FB7-99DB-9B67-05B7-86ACFCDF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18</a:t>
            </a:fld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D61ACED-6826-725D-5797-4932DCCC7A2A}"/>
              </a:ext>
            </a:extLst>
          </p:cNvPr>
          <p:cNvCxnSpPr>
            <a:cxnSpLocks/>
          </p:cNvCxnSpPr>
          <p:nvPr/>
        </p:nvCxnSpPr>
        <p:spPr>
          <a:xfrm>
            <a:off x="2777299" y="3429000"/>
            <a:ext cx="23890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1AFD1E6-0704-F7CB-4CD3-D962FF47B71D}"/>
              </a:ext>
            </a:extLst>
          </p:cNvPr>
          <p:cNvCxnSpPr>
            <a:cxnSpLocks/>
          </p:cNvCxnSpPr>
          <p:nvPr/>
        </p:nvCxnSpPr>
        <p:spPr>
          <a:xfrm>
            <a:off x="2777299" y="969516"/>
            <a:ext cx="0" cy="4707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8660655E-EA88-A170-13DE-D3B231C6831E}"/>
              </a:ext>
            </a:extLst>
          </p:cNvPr>
          <p:cNvSpPr txBox="1"/>
          <p:nvPr/>
        </p:nvSpPr>
        <p:spPr>
          <a:xfrm>
            <a:off x="5734812" y="4239339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  <a:sym typeface="Wingdings" panose="05000000000000000000" pitchFamily="2" charset="2"/>
              </a:rPr>
              <a:t>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Wenn der Laststrom sinkt, erhöht sich automatisch der Z-Dioden-Strom. </a:t>
            </a:r>
          </a:p>
          <a:p>
            <a:r>
              <a:rPr lang="de-DE" dirty="0">
                <a:solidFill>
                  <a:srgbClr val="2B2B2B"/>
                </a:solidFill>
                <a:latin typeface="Helvetica Neue"/>
                <a:sym typeface="Wingdings" panose="05000000000000000000" pitchFamily="2" charset="2"/>
              </a:rPr>
              <a:t></a:t>
            </a:r>
            <a:r>
              <a:rPr lang="de-DE" b="0" i="0" dirty="0">
                <a:solidFill>
                  <a:srgbClr val="2B2B2B"/>
                </a:solidFill>
                <a:effectLst/>
                <a:latin typeface="Helvetica Neue"/>
              </a:rPr>
              <a:t>Steigt dagegen der Laststrom, dann sinkt der Z-Dioden-Strom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0490369-9476-BC29-B28C-406E69F24260}"/>
              </a:ext>
            </a:extLst>
          </p:cNvPr>
          <p:cNvCxnSpPr>
            <a:cxnSpLocks/>
          </p:cNvCxnSpPr>
          <p:nvPr/>
        </p:nvCxnSpPr>
        <p:spPr>
          <a:xfrm flipV="1">
            <a:off x="5166360" y="3429000"/>
            <a:ext cx="0" cy="2247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FBDE32F-069E-9D53-A0B7-7E5B0BB73619}"/>
              </a:ext>
            </a:extLst>
          </p:cNvPr>
          <p:cNvCxnSpPr>
            <a:cxnSpLocks/>
          </p:cNvCxnSpPr>
          <p:nvPr/>
        </p:nvCxnSpPr>
        <p:spPr>
          <a:xfrm>
            <a:off x="2770632" y="5676764"/>
            <a:ext cx="23957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792DEBDC-3B57-57ED-4AE9-E5A798C02021}"/>
              </a:ext>
            </a:extLst>
          </p:cNvPr>
          <p:cNvSpPr/>
          <p:nvPr/>
        </p:nvSpPr>
        <p:spPr>
          <a:xfrm>
            <a:off x="5025390" y="4104826"/>
            <a:ext cx="281940" cy="89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58D98C-FEF1-3D9B-E635-56C25C1B45DB}"/>
              </a:ext>
            </a:extLst>
          </p:cNvPr>
          <p:cNvSpPr/>
          <p:nvPr/>
        </p:nvSpPr>
        <p:spPr>
          <a:xfrm>
            <a:off x="2636329" y="1796092"/>
            <a:ext cx="281940" cy="8961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39E20779-326E-4A2A-0C18-70A5B8C7A1F3}"/>
              </a:ext>
            </a:extLst>
          </p:cNvPr>
          <p:cNvSpPr/>
          <p:nvPr/>
        </p:nvSpPr>
        <p:spPr>
          <a:xfrm>
            <a:off x="2534317" y="4337311"/>
            <a:ext cx="485963" cy="47769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F612B1F-123E-2EB6-3641-3D8904778911}"/>
              </a:ext>
            </a:extLst>
          </p:cNvPr>
          <p:cNvCxnSpPr/>
          <p:nvPr/>
        </p:nvCxnSpPr>
        <p:spPr>
          <a:xfrm>
            <a:off x="2523744" y="4334256"/>
            <a:ext cx="4937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8B0BC26-2FD7-BB12-8C3D-0CDD6713E0D7}"/>
              </a:ext>
            </a:extLst>
          </p:cNvPr>
          <p:cNvCxnSpPr>
            <a:cxnSpLocks/>
          </p:cNvCxnSpPr>
          <p:nvPr/>
        </p:nvCxnSpPr>
        <p:spPr>
          <a:xfrm flipV="1">
            <a:off x="3017520" y="4334256"/>
            <a:ext cx="0" cy="1424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449FC84-15D7-DDFF-91DD-C3A19E7E7463}"/>
              </a:ext>
            </a:extLst>
          </p:cNvPr>
          <p:cNvCxnSpPr>
            <a:cxnSpLocks/>
          </p:cNvCxnSpPr>
          <p:nvPr/>
        </p:nvCxnSpPr>
        <p:spPr>
          <a:xfrm>
            <a:off x="885825" y="984756"/>
            <a:ext cx="18848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F5A80E52-E78A-5B23-5074-020602A329E0}"/>
              </a:ext>
            </a:extLst>
          </p:cNvPr>
          <p:cNvCxnSpPr>
            <a:cxnSpLocks/>
          </p:cNvCxnSpPr>
          <p:nvPr/>
        </p:nvCxnSpPr>
        <p:spPr>
          <a:xfrm>
            <a:off x="892491" y="5676764"/>
            <a:ext cx="18848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284559F-71E5-2E94-A6CA-E6325DB2B410}"/>
              </a:ext>
            </a:extLst>
          </p:cNvPr>
          <p:cNvCxnSpPr/>
          <p:nvPr/>
        </p:nvCxnSpPr>
        <p:spPr>
          <a:xfrm>
            <a:off x="892491" y="1152144"/>
            <a:ext cx="0" cy="4287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7AA4C8B-472E-9B5F-E784-A243E7DE72EF}"/>
              </a:ext>
            </a:extLst>
          </p:cNvPr>
          <p:cNvCxnSpPr/>
          <p:nvPr/>
        </p:nvCxnSpPr>
        <p:spPr>
          <a:xfrm>
            <a:off x="1389888" y="777240"/>
            <a:ext cx="10424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BC4DACC-21E2-3797-E7EC-5464079E7F2E}"/>
              </a:ext>
            </a:extLst>
          </p:cNvPr>
          <p:cNvCxnSpPr>
            <a:cxnSpLocks/>
          </p:cNvCxnSpPr>
          <p:nvPr/>
        </p:nvCxnSpPr>
        <p:spPr>
          <a:xfrm>
            <a:off x="3316224" y="1236784"/>
            <a:ext cx="0" cy="2014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8216714-5086-DA2D-F749-FA5BBC88753E}"/>
              </a:ext>
            </a:extLst>
          </p:cNvPr>
          <p:cNvCxnSpPr>
            <a:cxnSpLocks/>
          </p:cNvCxnSpPr>
          <p:nvPr/>
        </p:nvCxnSpPr>
        <p:spPr>
          <a:xfrm>
            <a:off x="3316224" y="3594934"/>
            <a:ext cx="0" cy="1844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9D71B410-FE29-4342-0BC1-992FB2C7E284}"/>
              </a:ext>
            </a:extLst>
          </p:cNvPr>
          <p:cNvSpPr txBox="1"/>
          <p:nvPr/>
        </p:nvSpPr>
        <p:spPr>
          <a:xfrm>
            <a:off x="3401031" y="2059482"/>
            <a:ext cx="7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U(RV)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9F7C812-CC8A-76D6-D2C1-D9DC53053FE5}"/>
              </a:ext>
            </a:extLst>
          </p:cNvPr>
          <p:cNvSpPr txBox="1"/>
          <p:nvPr/>
        </p:nvSpPr>
        <p:spPr>
          <a:xfrm>
            <a:off x="3325213" y="4405469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U(Z)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841FBEA-07D1-3F18-763D-CED48A931C0C}"/>
              </a:ext>
            </a:extLst>
          </p:cNvPr>
          <p:cNvSpPr txBox="1"/>
          <p:nvPr/>
        </p:nvSpPr>
        <p:spPr>
          <a:xfrm>
            <a:off x="1996455" y="2339078"/>
            <a:ext cx="59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R(V)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9FAF7F7-B4C7-008E-E331-EDF9FD08BA9E}"/>
              </a:ext>
            </a:extLst>
          </p:cNvPr>
          <p:cNvSpPr txBox="1"/>
          <p:nvPr/>
        </p:nvSpPr>
        <p:spPr>
          <a:xfrm>
            <a:off x="1897581" y="4545235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D(Z)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04758075-8B9E-EC4B-B06B-695449E7D9C2}"/>
              </a:ext>
            </a:extLst>
          </p:cNvPr>
          <p:cNvSpPr txBox="1"/>
          <p:nvPr/>
        </p:nvSpPr>
        <p:spPr>
          <a:xfrm>
            <a:off x="4366055" y="4707391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R(L)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E22A55F-CAD6-10B5-8E75-760240805DAA}"/>
              </a:ext>
            </a:extLst>
          </p:cNvPr>
          <p:cNvCxnSpPr>
            <a:cxnSpLocks/>
          </p:cNvCxnSpPr>
          <p:nvPr/>
        </p:nvCxnSpPr>
        <p:spPr>
          <a:xfrm>
            <a:off x="2295190" y="3251512"/>
            <a:ext cx="0" cy="987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5945459-6E44-0986-41BD-5AFB962BD381}"/>
              </a:ext>
            </a:extLst>
          </p:cNvPr>
          <p:cNvCxnSpPr>
            <a:cxnSpLocks/>
          </p:cNvCxnSpPr>
          <p:nvPr/>
        </p:nvCxnSpPr>
        <p:spPr>
          <a:xfrm>
            <a:off x="3920248" y="3251512"/>
            <a:ext cx="10498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2EC8AB76-DBE8-DC3E-40D4-B431469A5254}"/>
              </a:ext>
            </a:extLst>
          </p:cNvPr>
          <p:cNvSpPr txBox="1"/>
          <p:nvPr/>
        </p:nvSpPr>
        <p:spPr>
          <a:xfrm>
            <a:off x="1619300" y="385059"/>
            <a:ext cx="7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I(</a:t>
            </a:r>
            <a:r>
              <a:rPr lang="de-DE" dirty="0" err="1">
                <a:solidFill>
                  <a:srgbClr val="FF0000"/>
                </a:solidFill>
              </a:rPr>
              <a:t>ges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D8A065B-301D-9CE6-87DF-2C92F5868E29}"/>
              </a:ext>
            </a:extLst>
          </p:cNvPr>
          <p:cNvSpPr txBox="1"/>
          <p:nvPr/>
        </p:nvSpPr>
        <p:spPr>
          <a:xfrm>
            <a:off x="4121005" y="2883343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I(L)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F75C6C7-6971-4648-8916-14E861345232}"/>
              </a:ext>
            </a:extLst>
          </p:cNvPr>
          <p:cNvSpPr txBox="1"/>
          <p:nvPr/>
        </p:nvSpPr>
        <p:spPr>
          <a:xfrm>
            <a:off x="2305161" y="349054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I(Z)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E1308EE-8D85-6254-FFCB-BB9FA2F87B8E}"/>
              </a:ext>
            </a:extLst>
          </p:cNvPr>
          <p:cNvSpPr txBox="1"/>
          <p:nvPr/>
        </p:nvSpPr>
        <p:spPr>
          <a:xfrm>
            <a:off x="135264" y="3121217"/>
            <a:ext cx="82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U(</a:t>
            </a:r>
            <a:r>
              <a:rPr lang="de-D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ges</a:t>
            </a:r>
            <a:r>
              <a:rPr lang="de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E1DE1500-DC02-53DA-9E15-BDCC7C0999F0}"/>
              </a:ext>
            </a:extLst>
          </p:cNvPr>
          <p:cNvSpPr txBox="1"/>
          <p:nvPr/>
        </p:nvSpPr>
        <p:spPr>
          <a:xfrm>
            <a:off x="4940251" y="927301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Spannungsstabilisierung mit einer Z-Diode</a:t>
            </a:r>
          </a:p>
        </p:txBody>
      </p:sp>
    </p:spTree>
    <p:extLst>
      <p:ext uri="{BB962C8B-B14F-4D97-AF65-F5344CB8AC3E}">
        <p14:creationId xmlns:p14="http://schemas.microsoft.com/office/powerpoint/2010/main" val="1774620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3CD6-C533-E52F-E935-D2C653F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Leistungsplatine mit Mikrocontroller">
            <a:extLst>
              <a:ext uri="{FF2B5EF4-FFF2-40B4-BE49-F238E27FC236}">
                <a16:creationId xmlns:a16="http://schemas.microsoft.com/office/drawing/2014/main" id="{C475EFF7-A65E-E6CC-0523-B92832A05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288" y="876318"/>
            <a:ext cx="3403576" cy="255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88E53D-052B-AD20-08E1-0384EE8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Minimierung des Spannungsfalls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59E602-3C83-FDD7-D33A-3204F1B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19</a:t>
            </a:fld>
            <a:endParaRPr lang="de-DE"/>
          </a:p>
        </p:txBody>
      </p:sp>
      <p:sp>
        <p:nvSpPr>
          <p:cNvPr id="15370" name="Textfeld 15369">
            <a:extLst>
              <a:ext uri="{FF2B5EF4-FFF2-40B4-BE49-F238E27FC236}">
                <a16:creationId xmlns:a16="http://schemas.microsoft.com/office/drawing/2014/main" id="{A519C11C-518B-7FD0-629E-E0B24A225B1C}"/>
              </a:ext>
            </a:extLst>
          </p:cNvPr>
          <p:cNvSpPr txBox="1"/>
          <p:nvPr/>
        </p:nvSpPr>
        <p:spPr>
          <a:xfrm>
            <a:off x="3460048" y="693366"/>
            <a:ext cx="48371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/>
              <a:t>Spannungsregler</a:t>
            </a:r>
          </a:p>
          <a:p>
            <a:endParaRPr lang="de-DE" sz="2000" b="1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AB753D-86F1-F884-1BBD-E7BDAE20FB94}"/>
              </a:ext>
            </a:extLst>
          </p:cNvPr>
          <p:cNvSpPr txBox="1"/>
          <p:nvPr/>
        </p:nvSpPr>
        <p:spPr>
          <a:xfrm>
            <a:off x="2058924" y="2579693"/>
            <a:ext cx="704584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Lineare und Schaltregler</a:t>
            </a:r>
          </a:p>
          <a:p>
            <a:r>
              <a:rPr lang="de-DE" dirty="0"/>
              <a:t>Lineare:</a:t>
            </a:r>
          </a:p>
          <a:p>
            <a:r>
              <a:rPr lang="de-DE" dirty="0">
                <a:sym typeface="Wingdings" panose="05000000000000000000" pitchFamily="2" charset="2"/>
              </a:rPr>
              <a:t>einfacher aufgebaut und </a:t>
            </a:r>
          </a:p>
          <a:p>
            <a:r>
              <a:rPr lang="de-DE" dirty="0">
                <a:sym typeface="Wingdings" panose="05000000000000000000" pitchFamily="2" charset="2"/>
              </a:rPr>
              <a:t>geringere  Wärmeentwicklung</a:t>
            </a:r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weniger effizient bei großen Spannungsdifferenzen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Schaltregler</a:t>
            </a:r>
          </a:p>
          <a:p>
            <a:r>
              <a:rPr lang="de-DE" dirty="0">
                <a:sym typeface="Wingdings" panose="05000000000000000000" pitchFamily="2" charset="2"/>
              </a:rPr>
              <a:t>können </a:t>
            </a:r>
            <a:r>
              <a:rPr lang="de-DE" dirty="0"/>
              <a:t>größere Spannungsunterschiede bewältigen </a:t>
            </a:r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sind kompakter</a:t>
            </a:r>
          </a:p>
          <a:p>
            <a:r>
              <a:rPr lang="de-DE" dirty="0">
                <a:sym typeface="Wingdings" panose="05000000000000000000" pitchFamily="2" charset="2"/>
              </a:rPr>
              <a:t>erzeugen mehr elektrisches Rauschen als Lineare Spannungsregler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6C2A6E6-1749-0F36-BE0F-4687CDA24699}"/>
              </a:ext>
            </a:extLst>
          </p:cNvPr>
          <p:cNvSpPr txBox="1"/>
          <p:nvPr/>
        </p:nvSpPr>
        <p:spPr>
          <a:xfrm>
            <a:off x="2058924" y="1567014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reduzieren eine höhere Eingangsspannung auf eine gewünschte niedrigere Ausgangsspannung</a:t>
            </a:r>
          </a:p>
        </p:txBody>
      </p:sp>
    </p:spTree>
    <p:extLst>
      <p:ext uri="{BB962C8B-B14F-4D97-AF65-F5344CB8AC3E}">
        <p14:creationId xmlns:p14="http://schemas.microsoft.com/office/powerpoint/2010/main" val="1238656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BA5B6-BBFF-A721-A495-F15A3FEB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Zulässiger Spannungsfall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9BF2BE-8672-D583-73DD-282AF308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/>
              <a:t>DIN VDE 0100-520 :</a:t>
            </a:r>
          </a:p>
          <a:p>
            <a:pPr marL="0" indent="0">
              <a:buNone/>
            </a:pPr>
            <a:r>
              <a:rPr lang="de-DE" sz="2400" dirty="0">
                <a:sym typeface="Wingdings" panose="05000000000000000000" pitchFamily="2" charset="2"/>
              </a:rPr>
              <a:t></a:t>
            </a:r>
            <a:r>
              <a:rPr lang="de-DE" sz="2400" dirty="0"/>
              <a:t>3 % für Beleuchtungsanlagen</a:t>
            </a:r>
          </a:p>
          <a:p>
            <a:pPr marL="0" indent="0">
              <a:buNone/>
            </a:pPr>
            <a:r>
              <a:rPr lang="de-DE" sz="2400" dirty="0">
                <a:sym typeface="Wingdings" panose="05000000000000000000" pitchFamily="2" charset="2"/>
              </a:rPr>
              <a:t></a:t>
            </a:r>
            <a:r>
              <a:rPr lang="de-DE" sz="2400" dirty="0"/>
              <a:t>5 % für Laststromkreise</a:t>
            </a:r>
          </a:p>
          <a:p>
            <a:pPr marL="0" indent="0">
              <a:buNone/>
            </a:pPr>
            <a:r>
              <a:rPr lang="de-DE" sz="2400" dirty="0"/>
              <a:t>DIN 18015:</a:t>
            </a:r>
          </a:p>
          <a:p>
            <a:pPr marL="0" indent="0">
              <a:buNone/>
            </a:pPr>
            <a:r>
              <a:rPr lang="de-DE" sz="2400" dirty="0">
                <a:sym typeface="Wingdings" panose="05000000000000000000" pitchFamily="2" charset="2"/>
              </a:rPr>
              <a:t></a:t>
            </a:r>
            <a:r>
              <a:rPr lang="de-DE" sz="2400" dirty="0"/>
              <a:t> Spannungsfall hinter dem Zähler bis Verbraucher nicht größer als 3 %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3BCBCC-EF86-1067-F360-B6E38E62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Zulässiger Spannungsfall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9B69CF-8E94-5ECB-FE9D-31312C9F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676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AD1656B5-25D5-3948-4B84-200F6E1F96E2}"/>
              </a:ext>
            </a:extLst>
          </p:cNvPr>
          <p:cNvSpPr/>
          <p:nvPr/>
        </p:nvSpPr>
        <p:spPr>
          <a:xfrm>
            <a:off x="7537901" y="1138255"/>
            <a:ext cx="4447998" cy="2867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EACAC50-671A-CEE3-72C7-0B8B7EDA8678}"/>
              </a:ext>
            </a:extLst>
          </p:cNvPr>
          <p:cNvSpPr/>
          <p:nvPr/>
        </p:nvSpPr>
        <p:spPr>
          <a:xfrm>
            <a:off x="1417414" y="561088"/>
            <a:ext cx="5761231" cy="5165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7B7065-BA8B-A34A-C60D-1E8A9554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Wichtige Formeln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A34F19-542C-52D9-8F5B-C4D964C3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21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7291C00-972D-A4C3-06E2-7F7085BCF5ED}"/>
              </a:ext>
            </a:extLst>
          </p:cNvPr>
          <p:cNvSpPr txBox="1"/>
          <p:nvPr/>
        </p:nvSpPr>
        <p:spPr>
          <a:xfrm>
            <a:off x="7537901" y="1526377"/>
            <a:ext cx="44479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γ  spezifische Leitfähigkeit (je nach Material)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I = Stromstärke in Ampere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l = Leitungslänge in Meter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dirty="0">
                <a:latin typeface="+mj-lt"/>
              </a:rPr>
              <a:t>A = Leitungsquerschnitt in mm²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dirty="0" err="1">
                <a:latin typeface="+mj-lt"/>
              </a:rPr>
              <a:t>cosΦ</a:t>
            </a:r>
            <a:r>
              <a:rPr lang="de-DE" dirty="0">
                <a:latin typeface="+mj-lt"/>
              </a:rPr>
              <a:t> = Wirkleistungsfaktor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△ </a:t>
            </a:r>
            <a:r>
              <a:rPr lang="de-DE" dirty="0">
                <a:latin typeface="+mj-lt"/>
              </a:rPr>
              <a:t>U = Spannungsfall in Volt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71BC65D-D596-CC9F-4B15-C15B4886FDF6}"/>
              </a:ext>
            </a:extLst>
          </p:cNvPr>
          <p:cNvSpPr txBox="1"/>
          <p:nvPr/>
        </p:nvSpPr>
        <p:spPr>
          <a:xfrm>
            <a:off x="1666942" y="136123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△U=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D5A4666-D086-524D-E171-4B279F2EBA15}"/>
              </a:ext>
            </a:extLst>
          </p:cNvPr>
          <p:cNvSpPr txBox="1"/>
          <p:nvPr/>
        </p:nvSpPr>
        <p:spPr>
          <a:xfrm>
            <a:off x="4649616" y="1361563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△U=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2B11E31-C162-F58E-744C-B7761ECC95BB}"/>
              </a:ext>
            </a:extLst>
          </p:cNvPr>
          <p:cNvSpPr txBox="1"/>
          <p:nvPr/>
        </p:nvSpPr>
        <p:spPr>
          <a:xfrm>
            <a:off x="1760394" y="451170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△u=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45074D-AD90-0708-D0EE-B77D7C86FB2C}"/>
              </a:ext>
            </a:extLst>
          </p:cNvPr>
          <p:cNvSpPr txBox="1"/>
          <p:nvPr/>
        </p:nvSpPr>
        <p:spPr>
          <a:xfrm>
            <a:off x="1666942" y="2798132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△U=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10CD57D-3C49-C041-B6E7-3AB096DDE792}"/>
              </a:ext>
            </a:extLst>
          </p:cNvPr>
          <p:cNvSpPr txBox="1"/>
          <p:nvPr/>
        </p:nvSpPr>
        <p:spPr>
          <a:xfrm>
            <a:off x="2209304" y="1078535"/>
            <a:ext cx="9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 x l x I</a:t>
            </a:r>
          </a:p>
          <a:p>
            <a:r>
              <a:rPr lang="de-DE" dirty="0"/>
              <a:t>----------</a:t>
            </a:r>
          </a:p>
          <a:p>
            <a:r>
              <a:rPr lang="de-DE" dirty="0"/>
              <a:t>γ x 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D35D4E8-4D4D-EE71-AB10-BEF46F5BEE2A}"/>
              </a:ext>
            </a:extLst>
          </p:cNvPr>
          <p:cNvSpPr txBox="1"/>
          <p:nvPr/>
        </p:nvSpPr>
        <p:spPr>
          <a:xfrm>
            <a:off x="5187014" y="1078860"/>
            <a:ext cx="1598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 x l x I x </a:t>
            </a:r>
            <a:r>
              <a:rPr lang="de-DE" dirty="0" err="1"/>
              <a:t>cosΦ</a:t>
            </a:r>
            <a:endParaRPr lang="de-DE" dirty="0"/>
          </a:p>
          <a:p>
            <a:r>
              <a:rPr lang="de-DE" dirty="0"/>
              <a:t>------------------</a:t>
            </a:r>
          </a:p>
          <a:p>
            <a:r>
              <a:rPr lang="de-DE" dirty="0"/>
              <a:t>γ x 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DDEE1F0-8652-9CEB-D044-71EFC4A05086}"/>
              </a:ext>
            </a:extLst>
          </p:cNvPr>
          <p:cNvSpPr txBox="1"/>
          <p:nvPr/>
        </p:nvSpPr>
        <p:spPr>
          <a:xfrm>
            <a:off x="2226162" y="2521133"/>
            <a:ext cx="1702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√3 x l x I x </a:t>
            </a:r>
            <a:r>
              <a:rPr lang="de-DE" dirty="0" err="1"/>
              <a:t>cosΦ</a:t>
            </a:r>
            <a:endParaRPr lang="de-DE" dirty="0"/>
          </a:p>
          <a:p>
            <a:r>
              <a:rPr lang="de-DE" dirty="0"/>
              <a:t>------------------</a:t>
            </a:r>
          </a:p>
          <a:p>
            <a:r>
              <a:rPr lang="de-DE" dirty="0"/>
              <a:t>γ x A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9C47762-C518-3519-1A51-40F8013C947D}"/>
              </a:ext>
            </a:extLst>
          </p:cNvPr>
          <p:cNvSpPr txBox="1"/>
          <p:nvPr/>
        </p:nvSpPr>
        <p:spPr>
          <a:xfrm>
            <a:off x="2324494" y="4214820"/>
            <a:ext cx="1598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△ U  x 100</a:t>
            </a:r>
          </a:p>
          <a:p>
            <a:r>
              <a:rPr lang="de-DE" dirty="0"/>
              <a:t>------------------</a:t>
            </a:r>
          </a:p>
          <a:p>
            <a:r>
              <a:rPr lang="de-DE" dirty="0"/>
              <a:t>100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8E0B11A-6695-622F-A21D-7505034F9B8C}"/>
              </a:ext>
            </a:extLst>
          </p:cNvPr>
          <p:cNvSpPr txBox="1"/>
          <p:nvPr/>
        </p:nvSpPr>
        <p:spPr>
          <a:xfrm>
            <a:off x="1963082" y="561088"/>
            <a:ext cx="146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Gleichstrom 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31FAAEF-852B-4DC2-359C-721C96B22C48}"/>
              </a:ext>
            </a:extLst>
          </p:cNvPr>
          <p:cNvSpPr txBox="1"/>
          <p:nvPr/>
        </p:nvSpPr>
        <p:spPr>
          <a:xfrm>
            <a:off x="5107506" y="612013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Wechselstrom 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FE5B7C9-3707-1D6E-7CB0-38F02F52C0A2}"/>
              </a:ext>
            </a:extLst>
          </p:cNvPr>
          <p:cNvSpPr txBox="1"/>
          <p:nvPr/>
        </p:nvSpPr>
        <p:spPr>
          <a:xfrm>
            <a:off x="1963082" y="2112473"/>
            <a:ext cx="129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Drehstrom 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155D1B0-0CB3-AB2E-7822-2A26028AF233}"/>
              </a:ext>
            </a:extLst>
          </p:cNvPr>
          <p:cNvSpPr txBox="1"/>
          <p:nvPr/>
        </p:nvSpPr>
        <p:spPr>
          <a:xfrm>
            <a:off x="1990577" y="3719822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Umrechnung in Prozente </a:t>
            </a:r>
          </a:p>
        </p:txBody>
      </p:sp>
    </p:spTree>
    <p:extLst>
      <p:ext uri="{BB962C8B-B14F-4D97-AF65-F5344CB8AC3E}">
        <p14:creationId xmlns:p14="http://schemas.microsoft.com/office/powerpoint/2010/main" val="2439397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– Spannungsfall &amp; Spannungsabfall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1446082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1. Was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Unterschied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Spannungsfall</a:t>
            </a:r>
            <a:r>
              <a:rPr dirty="0"/>
              <a:t> und </a:t>
            </a:r>
            <a:r>
              <a:rPr dirty="0" err="1"/>
              <a:t>Spannungsabfall</a:t>
            </a:r>
            <a:r>
              <a:rPr dirty="0"/>
              <a:t>?</a:t>
            </a:r>
          </a:p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2. Wenn </a:t>
            </a:r>
            <a:r>
              <a:rPr dirty="0" err="1"/>
              <a:t>eine</a:t>
            </a:r>
            <a:r>
              <a:rPr dirty="0"/>
              <a:t> Batterie 12 V hat und an der Lampe </a:t>
            </a:r>
            <a:r>
              <a:rPr dirty="0" err="1"/>
              <a:t>nur</a:t>
            </a:r>
            <a:r>
              <a:rPr dirty="0"/>
              <a:t> 11 V </a:t>
            </a:r>
            <a:r>
              <a:rPr dirty="0" err="1"/>
              <a:t>ankommen</a:t>
            </a:r>
            <a:r>
              <a:rPr dirty="0"/>
              <a:t> –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groß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Spannungsfall</a:t>
            </a:r>
            <a:r>
              <a:rPr dirty="0"/>
              <a:t>?</a:t>
            </a:r>
          </a:p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3. Eine </a:t>
            </a:r>
            <a:r>
              <a:rPr dirty="0" err="1"/>
              <a:t>Leitung</a:t>
            </a:r>
            <a:r>
              <a:rPr dirty="0"/>
              <a:t> </a:t>
            </a:r>
            <a:r>
              <a:rPr dirty="0" err="1"/>
              <a:t>verliert</a:t>
            </a:r>
            <a:r>
              <a:rPr dirty="0"/>
              <a:t> auf dem </a:t>
            </a:r>
            <a:r>
              <a:rPr dirty="0" err="1"/>
              <a:t>Hinweg</a:t>
            </a:r>
            <a:r>
              <a:rPr dirty="0"/>
              <a:t> 0,3 V und auf dem </a:t>
            </a:r>
            <a:r>
              <a:rPr dirty="0" err="1"/>
              <a:t>Rückweg</a:t>
            </a:r>
            <a:r>
              <a:rPr dirty="0"/>
              <a:t> 0,3 V. Wie </a:t>
            </a:r>
            <a:r>
              <a:rPr dirty="0" err="1"/>
              <a:t>groß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gesamte</a:t>
            </a:r>
            <a:r>
              <a:rPr dirty="0"/>
              <a:t> </a:t>
            </a:r>
            <a:r>
              <a:rPr dirty="0" err="1"/>
              <a:t>Spannungsfall</a:t>
            </a:r>
            <a:r>
              <a:rPr dirty="0"/>
              <a:t>?</a:t>
            </a:r>
          </a:p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4. Wenn </a:t>
            </a:r>
            <a:r>
              <a:rPr dirty="0" err="1"/>
              <a:t>mehr</a:t>
            </a:r>
            <a:r>
              <a:rPr dirty="0"/>
              <a:t> Strom </a:t>
            </a:r>
            <a:r>
              <a:rPr dirty="0" err="1"/>
              <a:t>durch</a:t>
            </a:r>
            <a:r>
              <a:rPr dirty="0"/>
              <a:t> die </a:t>
            </a:r>
            <a:r>
              <a:rPr dirty="0" err="1"/>
              <a:t>Leitung</a:t>
            </a:r>
            <a:r>
              <a:rPr dirty="0"/>
              <a:t> </a:t>
            </a:r>
            <a:r>
              <a:rPr dirty="0" err="1"/>
              <a:t>fließt</a:t>
            </a:r>
            <a:r>
              <a:rPr dirty="0"/>
              <a:t>, </a:t>
            </a:r>
            <a:r>
              <a:rPr dirty="0" err="1"/>
              <a:t>wird</a:t>
            </a:r>
            <a:r>
              <a:rPr dirty="0"/>
              <a:t> der </a:t>
            </a:r>
            <a:r>
              <a:rPr dirty="0" err="1"/>
              <a:t>Spannungsfall</a:t>
            </a:r>
            <a:r>
              <a:rPr dirty="0"/>
              <a:t> </a:t>
            </a:r>
            <a:r>
              <a:rPr dirty="0" err="1"/>
              <a:t>größer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kleiner</a:t>
            </a:r>
            <a:r>
              <a:rPr dirty="0"/>
              <a:t>?</a:t>
            </a:r>
          </a:p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5. Nenne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Faktoren</a:t>
            </a:r>
            <a:r>
              <a:rPr dirty="0"/>
              <a:t>, die den </a:t>
            </a:r>
            <a:r>
              <a:rPr dirty="0" err="1"/>
              <a:t>Spannungsfall</a:t>
            </a:r>
            <a:r>
              <a:rPr dirty="0"/>
              <a:t> </a:t>
            </a:r>
            <a:r>
              <a:rPr dirty="0" err="1"/>
              <a:t>beeinflussen</a:t>
            </a:r>
            <a:r>
              <a:rPr dirty="0"/>
              <a:t>.</a:t>
            </a:r>
          </a:p>
          <a:p>
            <a:pPr>
              <a:defRPr sz="1800"/>
            </a:pPr>
            <a:endParaRPr lang="de-DE" dirty="0"/>
          </a:p>
          <a:p>
            <a:pPr>
              <a:defRPr sz="1800"/>
            </a:pPr>
            <a:r>
              <a:rPr dirty="0"/>
              <a:t>6. </a:t>
            </a:r>
            <a:r>
              <a:rPr dirty="0" err="1"/>
              <a:t>Warum</a:t>
            </a:r>
            <a:r>
              <a:rPr dirty="0"/>
              <a:t> </a:t>
            </a:r>
            <a:r>
              <a:rPr dirty="0" err="1"/>
              <a:t>darf</a:t>
            </a:r>
            <a:r>
              <a:rPr dirty="0"/>
              <a:t> der </a:t>
            </a:r>
            <a:r>
              <a:rPr dirty="0" err="1"/>
              <a:t>Spannungsfall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Anlage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groß</a:t>
            </a:r>
            <a:r>
              <a:rPr dirty="0"/>
              <a:t> sein?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Lösungen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689401" cy="550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endParaRPr lang="de-DE" dirty="0"/>
          </a:p>
          <a:p>
            <a:pPr>
              <a:defRPr sz="1600"/>
            </a:pPr>
            <a:r>
              <a:rPr dirty="0"/>
              <a:t>1. </a:t>
            </a:r>
            <a:r>
              <a:rPr dirty="0" err="1"/>
              <a:t>Unterschied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Spannungsfall</a:t>
            </a:r>
            <a:r>
              <a:rPr dirty="0"/>
              <a:t> und </a:t>
            </a:r>
            <a:r>
              <a:rPr dirty="0" err="1"/>
              <a:t>Spannungsabfall</a:t>
            </a:r>
            <a:endParaRPr dirty="0"/>
          </a:p>
          <a:p>
            <a:pPr>
              <a:defRPr sz="1600"/>
            </a:pPr>
            <a:r>
              <a:rPr dirty="0" err="1"/>
              <a:t>Spannungsabfall</a:t>
            </a:r>
            <a:r>
              <a:rPr dirty="0"/>
              <a:t>: </a:t>
            </a:r>
            <a:r>
              <a:rPr dirty="0" err="1"/>
              <a:t>Verlust</a:t>
            </a:r>
            <a:r>
              <a:rPr dirty="0"/>
              <a:t> an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einzelnen</a:t>
            </a:r>
            <a:r>
              <a:rPr dirty="0"/>
              <a:t> </a:t>
            </a:r>
            <a:r>
              <a:rPr dirty="0" err="1"/>
              <a:t>Bauteil</a:t>
            </a:r>
            <a:r>
              <a:rPr dirty="0"/>
              <a:t> (z. B. </a:t>
            </a:r>
            <a:r>
              <a:rPr dirty="0" err="1"/>
              <a:t>Leitung</a:t>
            </a:r>
            <a:r>
              <a:rPr dirty="0"/>
              <a:t>, Lampe).</a:t>
            </a:r>
          </a:p>
          <a:p>
            <a:pPr>
              <a:defRPr sz="1600"/>
            </a:pPr>
            <a:r>
              <a:rPr dirty="0" err="1"/>
              <a:t>Spannungsfall</a:t>
            </a:r>
            <a:r>
              <a:rPr dirty="0"/>
              <a:t>: </a:t>
            </a:r>
            <a:r>
              <a:rPr dirty="0" err="1"/>
              <a:t>Gesamter</a:t>
            </a:r>
            <a:r>
              <a:rPr dirty="0"/>
              <a:t> </a:t>
            </a:r>
            <a:r>
              <a:rPr dirty="0" err="1"/>
              <a:t>Spannungsverlust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Quelle und </a:t>
            </a:r>
            <a:r>
              <a:rPr dirty="0" err="1"/>
              <a:t>Verbraucher</a:t>
            </a:r>
            <a:r>
              <a:rPr dirty="0"/>
              <a:t> (Summe </a:t>
            </a:r>
            <a:r>
              <a:rPr dirty="0" err="1"/>
              <a:t>aller</a:t>
            </a:r>
            <a:r>
              <a:rPr dirty="0"/>
              <a:t> </a:t>
            </a:r>
            <a:r>
              <a:rPr dirty="0" err="1"/>
              <a:t>Abfälle</a:t>
            </a:r>
            <a:r>
              <a:rPr dirty="0"/>
              <a:t>).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2. Batterie 12 V, Lampe 11 V</a:t>
            </a:r>
          </a:p>
          <a:p>
            <a:pPr>
              <a:defRPr sz="1600"/>
            </a:pPr>
            <a:r>
              <a:rPr dirty="0" err="1"/>
              <a:t>Spannungsfall</a:t>
            </a:r>
            <a:r>
              <a:rPr dirty="0"/>
              <a:t> = 1 V (</a:t>
            </a:r>
            <a:r>
              <a:rPr dirty="0" err="1"/>
              <a:t>Differenz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Quelle und </a:t>
            </a:r>
            <a:r>
              <a:rPr dirty="0" err="1"/>
              <a:t>Verbraucher</a:t>
            </a:r>
            <a:r>
              <a:rPr dirty="0"/>
              <a:t>).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3. </a:t>
            </a:r>
            <a:r>
              <a:rPr dirty="0" err="1"/>
              <a:t>Leitung</a:t>
            </a:r>
            <a:r>
              <a:rPr dirty="0"/>
              <a:t> </a:t>
            </a:r>
            <a:r>
              <a:rPr dirty="0" err="1"/>
              <a:t>verliert</a:t>
            </a:r>
            <a:r>
              <a:rPr dirty="0"/>
              <a:t> 0,3 V </a:t>
            </a:r>
            <a:r>
              <a:rPr dirty="0" err="1"/>
              <a:t>hin</a:t>
            </a:r>
            <a:r>
              <a:rPr dirty="0"/>
              <a:t> und 0,3 V </a:t>
            </a:r>
            <a:r>
              <a:rPr dirty="0" err="1"/>
              <a:t>zurück</a:t>
            </a:r>
            <a:endParaRPr dirty="0"/>
          </a:p>
          <a:p>
            <a:pPr>
              <a:defRPr sz="1600"/>
            </a:pPr>
            <a:r>
              <a:rPr dirty="0" err="1"/>
              <a:t>Gesamter</a:t>
            </a:r>
            <a:r>
              <a:rPr dirty="0"/>
              <a:t> </a:t>
            </a:r>
            <a:r>
              <a:rPr dirty="0" err="1"/>
              <a:t>Spannungsfall</a:t>
            </a:r>
            <a:r>
              <a:rPr dirty="0"/>
              <a:t> = 0,6 V (Hin- und </a:t>
            </a:r>
            <a:r>
              <a:rPr dirty="0" err="1"/>
              <a:t>Rückleiter</a:t>
            </a:r>
            <a:r>
              <a:rPr dirty="0"/>
              <a:t> </a:t>
            </a:r>
            <a:r>
              <a:rPr dirty="0" err="1"/>
              <a:t>zusammen</a:t>
            </a:r>
            <a:r>
              <a:rPr dirty="0"/>
              <a:t>).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4. Mehr Strom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Leitung</a:t>
            </a:r>
            <a:endParaRPr dirty="0"/>
          </a:p>
          <a:p>
            <a:pPr>
              <a:defRPr sz="1600"/>
            </a:pPr>
            <a:r>
              <a:rPr dirty="0" err="1"/>
              <a:t>Spannungsfall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größer</a:t>
            </a:r>
            <a:r>
              <a:rPr dirty="0"/>
              <a:t> (</a:t>
            </a:r>
            <a:r>
              <a:rPr dirty="0" err="1"/>
              <a:t>mehr</a:t>
            </a:r>
            <a:r>
              <a:rPr dirty="0"/>
              <a:t> Strom =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Verlust</a:t>
            </a:r>
            <a:r>
              <a:rPr dirty="0"/>
              <a:t> in der </a:t>
            </a:r>
            <a:r>
              <a:rPr dirty="0" err="1"/>
              <a:t>Leitung</a:t>
            </a:r>
            <a:r>
              <a:rPr dirty="0"/>
              <a:t>).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5. Zwei </a:t>
            </a:r>
            <a:r>
              <a:rPr dirty="0" err="1"/>
              <a:t>Faktoren</a:t>
            </a:r>
            <a:r>
              <a:rPr dirty="0"/>
              <a:t>, die den </a:t>
            </a:r>
            <a:r>
              <a:rPr dirty="0" err="1"/>
              <a:t>Spannungsfall</a:t>
            </a:r>
            <a:r>
              <a:rPr dirty="0"/>
              <a:t> </a:t>
            </a:r>
            <a:r>
              <a:rPr dirty="0" err="1"/>
              <a:t>beeinflussen</a:t>
            </a:r>
            <a:endParaRPr dirty="0"/>
          </a:p>
          <a:p>
            <a:pPr>
              <a:defRPr sz="1600"/>
            </a:pPr>
            <a:r>
              <a:rPr dirty="0"/>
              <a:t>- </a:t>
            </a:r>
            <a:r>
              <a:rPr dirty="0" err="1"/>
              <a:t>Leitungslänge</a:t>
            </a:r>
            <a:r>
              <a:rPr dirty="0"/>
              <a:t> (je </a:t>
            </a:r>
            <a:r>
              <a:rPr dirty="0" err="1"/>
              <a:t>länger</a:t>
            </a:r>
            <a:r>
              <a:rPr dirty="0"/>
              <a:t>, </a:t>
            </a:r>
            <a:r>
              <a:rPr dirty="0" err="1"/>
              <a:t>desto</a:t>
            </a:r>
            <a:r>
              <a:rPr dirty="0"/>
              <a:t> </a:t>
            </a:r>
            <a:r>
              <a:rPr dirty="0" err="1"/>
              <a:t>größer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- </a:t>
            </a:r>
            <a:r>
              <a:rPr dirty="0" err="1"/>
              <a:t>Querschnitt</a:t>
            </a:r>
            <a:r>
              <a:rPr dirty="0"/>
              <a:t> (je </a:t>
            </a:r>
            <a:r>
              <a:rPr dirty="0" err="1"/>
              <a:t>dünner</a:t>
            </a:r>
            <a:r>
              <a:rPr dirty="0"/>
              <a:t>, </a:t>
            </a:r>
            <a:r>
              <a:rPr dirty="0" err="1"/>
              <a:t>desto</a:t>
            </a:r>
            <a:r>
              <a:rPr dirty="0"/>
              <a:t> </a:t>
            </a:r>
            <a:r>
              <a:rPr dirty="0" err="1"/>
              <a:t>größer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(+ Material </a:t>
            </a:r>
            <a:r>
              <a:rPr lang="de-DE" dirty="0"/>
              <a:t>&amp; Stromstärke spielen auch eine Rolle)</a:t>
            </a:r>
            <a:endParaRPr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6. </a:t>
            </a:r>
            <a:r>
              <a:rPr dirty="0" err="1"/>
              <a:t>Warum</a:t>
            </a:r>
            <a:r>
              <a:rPr dirty="0"/>
              <a:t> </a:t>
            </a:r>
            <a:r>
              <a:rPr dirty="0" err="1"/>
              <a:t>darf</a:t>
            </a:r>
            <a:r>
              <a:rPr dirty="0"/>
              <a:t> der </a:t>
            </a:r>
            <a:r>
              <a:rPr dirty="0" err="1"/>
              <a:t>Spannungsfall</a:t>
            </a:r>
            <a:r>
              <a:rPr dirty="0"/>
              <a:t>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groß</a:t>
            </a:r>
            <a:r>
              <a:rPr dirty="0"/>
              <a:t> sein?</a:t>
            </a:r>
          </a:p>
          <a:p>
            <a:pPr>
              <a:defRPr sz="1600"/>
            </a:pPr>
            <a:r>
              <a:rPr dirty="0" err="1"/>
              <a:t>Geräte</a:t>
            </a:r>
            <a:r>
              <a:rPr dirty="0"/>
              <a:t> </a:t>
            </a:r>
            <a:r>
              <a:rPr dirty="0" err="1"/>
              <a:t>bekommen</a:t>
            </a:r>
            <a:r>
              <a:rPr dirty="0"/>
              <a:t> </a:t>
            </a:r>
            <a:r>
              <a:rPr dirty="0" err="1"/>
              <a:t>sonst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wenig</a:t>
            </a:r>
            <a:r>
              <a:rPr dirty="0"/>
              <a:t> </a:t>
            </a:r>
            <a:r>
              <a:rPr dirty="0" err="1"/>
              <a:t>Spannung</a:t>
            </a:r>
            <a:r>
              <a:rPr dirty="0"/>
              <a:t> → Lampen </a:t>
            </a:r>
            <a:r>
              <a:rPr dirty="0" err="1"/>
              <a:t>leuchten</a:t>
            </a:r>
            <a:r>
              <a:rPr dirty="0"/>
              <a:t> </a:t>
            </a:r>
            <a:r>
              <a:rPr dirty="0" err="1"/>
              <a:t>dunkler</a:t>
            </a:r>
            <a:r>
              <a:rPr dirty="0"/>
              <a:t>, </a:t>
            </a:r>
            <a:r>
              <a:rPr dirty="0" err="1"/>
              <a:t>Motoren</a:t>
            </a:r>
            <a:r>
              <a:rPr dirty="0"/>
              <a:t> </a:t>
            </a:r>
            <a:r>
              <a:rPr dirty="0" err="1"/>
              <a:t>schwächer</a:t>
            </a:r>
            <a:r>
              <a:rPr dirty="0"/>
              <a:t>, Elektronik </a:t>
            </a:r>
            <a:r>
              <a:rPr dirty="0" err="1"/>
              <a:t>unzuverlässig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Laut DIN VDE 0100: max. 3 % für </a:t>
            </a:r>
            <a:r>
              <a:rPr dirty="0" err="1"/>
              <a:t>Beleuchtung</a:t>
            </a:r>
            <a:r>
              <a:rPr dirty="0"/>
              <a:t>, 5 % für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Stromkreise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5138C3-ACB9-3DDF-304E-C6631AE43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8" y="600329"/>
            <a:ext cx="10515600" cy="4351338"/>
          </a:xfrm>
        </p:spPr>
        <p:txBody>
          <a:bodyPr>
            <a:normAutofit fontScale="32500" lnSpcReduction="20000"/>
          </a:bodyPr>
          <a:lstStyle/>
          <a:p>
            <a:r>
              <a:rPr lang="de-DE" dirty="0">
                <a:hlinkClick r:id="rId2"/>
              </a:rPr>
              <a:t>https://www.drivecon.de/de/lexikon/spannungsfall?.com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3"/>
              </a:rPr>
              <a:t>https://elektriker-wissen.de/theorie/meistervorbereitung-teil-2/leitungsdimensionierung/zulaessiger-spannungsfall</a:t>
            </a:r>
            <a:endParaRPr lang="de-DE" dirty="0"/>
          </a:p>
          <a:p>
            <a:r>
              <a:rPr lang="de-DE" dirty="0"/>
              <a:t>#</a:t>
            </a:r>
          </a:p>
          <a:p>
            <a:r>
              <a:rPr lang="de-DE" dirty="0">
                <a:hlinkClick r:id="rId4"/>
              </a:rPr>
              <a:t>https://www.energie-lexikon.info/spannungsabfall.html?.com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5"/>
              </a:rPr>
              <a:t>https://de.wikipedia.org/wiki/Spannungsfall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6"/>
              </a:rPr>
              <a:t>https://www.youtube.com/watch?v=ocS_PwFPynw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7"/>
              </a:rPr>
              <a:t>https://studyflix.de/elektrotechnik/z-diode-zener-diode-2580/video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8"/>
              </a:rPr>
              <a:t>https://www.lgesemi.com/blog/industry-news-7/how-does-a-zener-diode-regulate-voltage-243#:~:text=The%20key%20to%20Zener%20diode,receives%20a%20stable%20voltage%20supply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>
                <a:hlinkClick r:id="rId9"/>
              </a:rPr>
              <a:t>https://www.elektronik-kompendium.de/sites/slt/1012151.html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10"/>
              </a:rPr>
              <a:t>https://heinen-elektronik.de/glossar/spannungsregler</a:t>
            </a:r>
            <a:endParaRPr lang="de-DE" dirty="0"/>
          </a:p>
          <a:p>
            <a:endParaRPr lang="de-DE" dirty="0"/>
          </a:p>
          <a:p>
            <a:r>
              <a:rPr lang="de-DE" dirty="0">
                <a:hlinkClick r:id="rId11"/>
              </a:rPr>
              <a:t>https://www.elektrikerwissen.de/spannungsfall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66DAEB-FA33-385D-DA6A-FB531BE6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7CE7BF-D41F-DC8A-64B2-7E4783B1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F05C9-A18D-4C86-897B-1A96735D72AA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775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PresentationFormat>Widescreen</PresentationFormat>
  <Paragraphs>235</Paragraphs>
  <Slides>24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Arial Rounded MT Bold</vt:lpstr>
      <vt:lpstr>Helvetica Neue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Zulässiger Spannungsfall</vt:lpstr>
      <vt:lpstr>PowerPoint Presentation</vt:lpstr>
      <vt:lpstr>Quiz – Spannungsfall &amp; Spannungsabfall</vt:lpstr>
      <vt:lpstr>Lösungen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 Prissing</dc:creator>
  <cp:lastModifiedBy>Erdem Cankaya</cp:lastModifiedBy>
  <cp:revision>4</cp:revision>
  <dcterms:created xsi:type="dcterms:W3CDTF">2025-10-21T16:45:42Z</dcterms:created>
  <dcterms:modified xsi:type="dcterms:W3CDTF">2025-10-28T10:19:01Z</dcterms:modified>
</cp:coreProperties>
</file>