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137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500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304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20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8804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791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755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608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44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359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185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088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7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000" dirty="0" err="1"/>
              <a:t>Wechselspannung</a:t>
            </a:r>
            <a:r>
              <a:rPr sz="4000" dirty="0"/>
              <a:t> – </a:t>
            </a:r>
            <a:r>
              <a:rPr sz="4000" dirty="0" err="1"/>
              <a:t>GrundLagen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391654"/>
            <a:ext cx="6571343" cy="462101"/>
          </a:xfrm>
        </p:spPr>
        <p:txBody>
          <a:bodyPr>
            <a:normAutofit fontScale="90000"/>
          </a:bodyPr>
          <a:lstStyle/>
          <a:p>
            <a:r>
              <a:rPr dirty="0"/>
              <a:t>Was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Wechselspannung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60183"/>
            <a:ext cx="3687309" cy="3450613"/>
          </a:xfrm>
        </p:spPr>
        <p:txBody>
          <a:bodyPr/>
          <a:lstStyle/>
          <a:p>
            <a:r>
              <a:rPr dirty="0" err="1"/>
              <a:t>Polarität</a:t>
            </a:r>
            <a:r>
              <a:rPr dirty="0"/>
              <a:t> </a:t>
            </a:r>
            <a:r>
              <a:rPr dirty="0" err="1"/>
              <a:t>ändert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periodisch</a:t>
            </a:r>
            <a:endParaRPr dirty="0"/>
          </a:p>
          <a:p>
            <a:r>
              <a:rPr dirty="0" err="1"/>
              <a:t>Spannung</a:t>
            </a:r>
            <a:r>
              <a:rPr dirty="0"/>
              <a:t> </a:t>
            </a:r>
            <a:r>
              <a:rPr dirty="0" err="1"/>
              <a:t>folgt</a:t>
            </a:r>
            <a:r>
              <a:rPr dirty="0"/>
              <a:t> </a:t>
            </a:r>
            <a:r>
              <a:rPr dirty="0" err="1"/>
              <a:t>einer</a:t>
            </a:r>
            <a:r>
              <a:rPr dirty="0"/>
              <a:t> </a:t>
            </a:r>
            <a:r>
              <a:rPr dirty="0" err="1"/>
              <a:t>Sinuskurve</a:t>
            </a:r>
            <a:endParaRPr dirty="0"/>
          </a:p>
          <a:p>
            <a:r>
              <a:rPr dirty="0" err="1"/>
              <a:t>Erzeugt</a:t>
            </a:r>
            <a:r>
              <a:rPr dirty="0"/>
              <a:t>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Wechselstrom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0649DC-E654-7986-AB22-8CDF1E454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30800" y="2015733"/>
            <a:ext cx="3231258" cy="1845068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391654"/>
            <a:ext cx="6571343" cy="462101"/>
          </a:xfrm>
        </p:spPr>
        <p:txBody>
          <a:bodyPr>
            <a:normAutofit fontScale="90000"/>
          </a:bodyPr>
          <a:lstStyle/>
          <a:p>
            <a:r>
              <a:rPr dirty="0" err="1"/>
              <a:t>Erzeugung</a:t>
            </a:r>
            <a:r>
              <a:rPr dirty="0"/>
              <a:t> von </a:t>
            </a:r>
            <a:r>
              <a:rPr dirty="0" err="1"/>
              <a:t>Wechselstrom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Generatorprinzip</a:t>
            </a:r>
            <a:endParaRPr dirty="0"/>
          </a:p>
          <a:p>
            <a:r>
              <a:rPr dirty="0" err="1"/>
              <a:t>Magnetfeld</a:t>
            </a:r>
            <a:r>
              <a:rPr dirty="0"/>
              <a:t> + </a:t>
            </a:r>
            <a:r>
              <a:rPr dirty="0" err="1"/>
              <a:t>Leiterbewegung</a:t>
            </a:r>
            <a:endParaRPr dirty="0"/>
          </a:p>
          <a:p>
            <a:r>
              <a:rPr dirty="0" err="1"/>
              <a:t>Induktion</a:t>
            </a:r>
            <a:r>
              <a:rPr dirty="0"/>
              <a:t> </a:t>
            </a:r>
            <a:r>
              <a:rPr dirty="0" err="1"/>
              <a:t>erzeugt</a:t>
            </a:r>
            <a:r>
              <a:rPr dirty="0"/>
              <a:t> </a:t>
            </a:r>
            <a:r>
              <a:rPr dirty="0" err="1"/>
              <a:t>sinusförmige</a:t>
            </a:r>
            <a:r>
              <a:rPr dirty="0"/>
              <a:t> </a:t>
            </a:r>
            <a:r>
              <a:rPr dirty="0" err="1"/>
              <a:t>Spannung</a:t>
            </a:r>
            <a:endParaRPr dirty="0"/>
          </a:p>
        </p:txBody>
      </p:sp>
      <p:pic>
        <p:nvPicPr>
          <p:cNvPr id="3074" name="Picture 2" descr="Wechselstromgenerator – Wikipedia">
            <a:extLst>
              <a:ext uri="{FF2B5EF4-FFF2-40B4-BE49-F238E27FC236}">
                <a16:creationId xmlns:a16="http://schemas.microsoft.com/office/drawing/2014/main" id="{DE2430C2-D25E-D40E-315D-B79698F06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725" y="2015733"/>
            <a:ext cx="2381250" cy="1685925"/>
          </a:xfrm>
          <a:prstGeom prst="rect">
            <a:avLst/>
          </a:prstGeom>
          <a:solidFill>
            <a:schemeClr val="bg1"/>
          </a:solidFill>
          <a:effectLst>
            <a:softEdge rad="889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391654"/>
            <a:ext cx="6571343" cy="462101"/>
          </a:xfrm>
        </p:spPr>
        <p:txBody>
          <a:bodyPr>
            <a:normAutofit fontScale="90000"/>
          </a:bodyPr>
          <a:lstStyle/>
          <a:p>
            <a:r>
              <a:rPr dirty="0" err="1"/>
              <a:t>Sinusspannung</a:t>
            </a:r>
            <a:r>
              <a:rPr dirty="0"/>
              <a:t> &amp; Winkel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Eine </a:t>
            </a:r>
            <a:r>
              <a:rPr dirty="0" err="1"/>
              <a:t>Periode</a:t>
            </a:r>
            <a:r>
              <a:rPr dirty="0"/>
              <a:t> = 360°</a:t>
            </a:r>
            <a:r>
              <a:rPr lang="de-DE" dirty="0"/>
              <a:t> = </a:t>
            </a:r>
            <a:r>
              <a:rPr lang="el-GR" dirty="0"/>
              <a:t>2π </a:t>
            </a:r>
            <a:r>
              <a:rPr lang="de-DE" dirty="0"/>
              <a:t>rad</a:t>
            </a:r>
            <a:endParaRPr dirty="0"/>
          </a:p>
          <a:p>
            <a:r>
              <a:rPr dirty="0"/>
              <a:t>Positive und negative </a:t>
            </a:r>
            <a:r>
              <a:rPr dirty="0" err="1"/>
              <a:t>Halbwelle</a:t>
            </a:r>
            <a:endParaRPr dirty="0"/>
          </a:p>
          <a:p>
            <a:r>
              <a:rPr dirty="0" err="1"/>
              <a:t>Mathematisch</a:t>
            </a:r>
            <a:r>
              <a:rPr dirty="0"/>
              <a:t>: u(t) = û · sin(</a:t>
            </a:r>
            <a:r>
              <a:rPr dirty="0" err="1"/>
              <a:t>ωt</a:t>
            </a:r>
            <a:r>
              <a:rPr dirty="0"/>
              <a:t>)</a:t>
            </a:r>
          </a:p>
        </p:txBody>
      </p:sp>
      <p:pic>
        <p:nvPicPr>
          <p:cNvPr id="4100" name="Picture 4" descr="Drehstrom einfach erklaert">
            <a:extLst>
              <a:ext uri="{FF2B5EF4-FFF2-40B4-BE49-F238E27FC236}">
                <a16:creationId xmlns:a16="http://schemas.microsoft.com/office/drawing/2014/main" id="{8CF14863-0D87-94AA-9E41-15379B85B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2" y="3741039"/>
            <a:ext cx="4876800" cy="1543050"/>
          </a:xfrm>
          <a:prstGeom prst="rect">
            <a:avLst/>
          </a:prstGeom>
          <a:noFill/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391654"/>
            <a:ext cx="6571343" cy="462100"/>
          </a:xfrm>
        </p:spPr>
        <p:txBody>
          <a:bodyPr>
            <a:normAutofit fontScale="90000"/>
          </a:bodyPr>
          <a:lstStyle/>
          <a:p>
            <a:r>
              <a:rPr dirty="0" err="1"/>
              <a:t>Periodendauer</a:t>
            </a:r>
            <a:r>
              <a:rPr dirty="0"/>
              <a:t> &amp; </a:t>
            </a:r>
            <a:r>
              <a:rPr dirty="0" err="1"/>
              <a:t>Frequenz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Netzfrequenz</a:t>
            </a:r>
            <a:r>
              <a:rPr dirty="0"/>
              <a:t>: 50 Hz</a:t>
            </a:r>
          </a:p>
          <a:p>
            <a:r>
              <a:rPr dirty="0" err="1"/>
              <a:t>Periodendauer</a:t>
            </a:r>
            <a:r>
              <a:rPr dirty="0"/>
              <a:t> T = 20 </a:t>
            </a:r>
            <a:r>
              <a:rPr dirty="0" err="1"/>
              <a:t>ms</a:t>
            </a:r>
            <a:endParaRPr dirty="0"/>
          </a:p>
          <a:p>
            <a:r>
              <a:rPr dirty="0"/>
              <a:t>50 </a:t>
            </a:r>
            <a:r>
              <a:rPr dirty="0" err="1"/>
              <a:t>Schwingungen</a:t>
            </a:r>
            <a:r>
              <a:rPr dirty="0"/>
              <a:t> pro </a:t>
            </a:r>
            <a:r>
              <a:rPr dirty="0" err="1"/>
              <a:t>Sekunde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391654"/>
            <a:ext cx="6571343" cy="462101"/>
          </a:xfrm>
        </p:spPr>
        <p:txBody>
          <a:bodyPr>
            <a:normAutofit fontScale="90000"/>
          </a:bodyPr>
          <a:lstStyle/>
          <a:p>
            <a:r>
              <a:rPr sz="2800" dirty="0" err="1"/>
              <a:t>Scheitelwert</a:t>
            </a:r>
            <a:r>
              <a:rPr sz="2800" dirty="0"/>
              <a:t> &amp; </a:t>
            </a:r>
            <a:r>
              <a:rPr sz="2800" dirty="0" err="1"/>
              <a:t>Spitzen</a:t>
            </a:r>
            <a:r>
              <a:rPr sz="2800" dirty="0"/>
              <a:t>-Tal-Wert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3357109" cy="3450613"/>
          </a:xfrm>
        </p:spPr>
        <p:txBody>
          <a:bodyPr/>
          <a:lstStyle/>
          <a:p>
            <a:r>
              <a:rPr dirty="0" err="1"/>
              <a:t>Scheitelwert</a:t>
            </a:r>
            <a:r>
              <a:rPr dirty="0"/>
              <a:t> û = 325 V</a:t>
            </a:r>
          </a:p>
          <a:p>
            <a:r>
              <a:rPr dirty="0" err="1"/>
              <a:t>Spitzen</a:t>
            </a:r>
            <a:r>
              <a:rPr dirty="0"/>
              <a:t>-Tal-Wert = 650 V</a:t>
            </a:r>
          </a:p>
          <a:p>
            <a:r>
              <a:rPr dirty="0"/>
              <a:t>Maximal- und </a:t>
            </a:r>
            <a:r>
              <a:rPr dirty="0" err="1"/>
              <a:t>Minimalwert</a:t>
            </a:r>
            <a:r>
              <a:rPr dirty="0"/>
              <a:t> der </a:t>
            </a:r>
            <a:r>
              <a:rPr dirty="0" err="1"/>
              <a:t>Spannung</a:t>
            </a:r>
            <a:endParaRPr dirty="0"/>
          </a:p>
        </p:txBody>
      </p:sp>
      <p:pic>
        <p:nvPicPr>
          <p:cNvPr id="1026" name="Picture 2" descr="Scheitelwert und Spitze-Spitze-Wert">
            <a:extLst>
              <a:ext uri="{FF2B5EF4-FFF2-40B4-BE49-F238E27FC236}">
                <a16:creationId xmlns:a16="http://schemas.microsoft.com/office/drawing/2014/main" id="{93042BA0-EE14-00AC-6F66-355B077A5E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61" r="181" b="7096"/>
          <a:stretch>
            <a:fillRect/>
          </a:stretch>
        </p:blipFill>
        <p:spPr bwMode="auto">
          <a:xfrm>
            <a:off x="4953750" y="2385816"/>
            <a:ext cx="3319220" cy="2086367"/>
          </a:xfrm>
          <a:prstGeom prst="rect">
            <a:avLst/>
          </a:prstGeom>
          <a:noFill/>
          <a:effectLst>
            <a:softEdge rad="635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0" y="1329137"/>
            <a:ext cx="6571343" cy="1049235"/>
          </a:xfrm>
        </p:spPr>
        <p:txBody>
          <a:bodyPr/>
          <a:lstStyle/>
          <a:p>
            <a:r>
              <a:rPr dirty="0" err="1"/>
              <a:t>Effektivwert</a:t>
            </a:r>
            <a:r>
              <a:rPr dirty="0"/>
              <a:t> – </a:t>
            </a:r>
            <a:r>
              <a:rPr dirty="0" err="1"/>
              <a:t>Warum</a:t>
            </a:r>
            <a:r>
              <a:rPr dirty="0"/>
              <a:t> 230 V?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Gleiche</a:t>
            </a:r>
            <a:r>
              <a:rPr dirty="0"/>
              <a:t> </a:t>
            </a:r>
            <a:r>
              <a:rPr dirty="0" err="1"/>
              <a:t>Wärmewirkung</a:t>
            </a:r>
            <a:r>
              <a:rPr dirty="0"/>
              <a:t>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Gleichspannung</a:t>
            </a:r>
            <a:endParaRPr dirty="0"/>
          </a:p>
          <a:p>
            <a:r>
              <a:rPr dirty="0" err="1"/>
              <a:t>Ueff</a:t>
            </a:r>
            <a:r>
              <a:rPr dirty="0"/>
              <a:t> = û / √2</a:t>
            </a:r>
          </a:p>
          <a:p>
            <a:r>
              <a:rPr dirty="0"/>
              <a:t>325 V / √2 ≈ 230 V</a:t>
            </a:r>
          </a:p>
        </p:txBody>
      </p:sp>
      <p:pic>
        <p:nvPicPr>
          <p:cNvPr id="4" name="Picture 3" descr="Effektivwert">
            <a:extLst>
              <a:ext uri="{FF2B5EF4-FFF2-40B4-BE49-F238E27FC236}">
                <a16:creationId xmlns:a16="http://schemas.microsoft.com/office/drawing/2014/main" id="{05A6709A-70C3-3C91-D4CD-A637FEFD4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161" y="2804735"/>
            <a:ext cx="2265363" cy="18726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6D54D-C2D7-3DE4-07AB-3DE0084DC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850900"/>
            <a:ext cx="6571343" cy="1002855"/>
          </a:xfrm>
        </p:spPr>
        <p:txBody>
          <a:bodyPr/>
          <a:lstStyle/>
          <a:p>
            <a:r>
              <a:rPr lang="de-DE" dirty="0"/>
              <a:t>Schein-, Wrik- und Blindleistung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2BC39-4231-0112-E6AB-5E6A4EED3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Nicht jeder Verbraucher nutzt die Energie Vollständig</a:t>
            </a:r>
          </a:p>
          <a:p>
            <a:r>
              <a:rPr lang="de-DE" dirty="0"/>
              <a:t>Wirkleistung P </a:t>
            </a:r>
            <a:r>
              <a:rPr lang="de-DE" dirty="0">
                <a:sym typeface="Wingdings" panose="05000000000000000000" pitchFamily="2" charset="2"/>
              </a:rPr>
              <a:t> Was genutzt wird</a:t>
            </a:r>
          </a:p>
          <a:p>
            <a:r>
              <a:rPr lang="de-DE" dirty="0">
                <a:sym typeface="Wingdings" panose="05000000000000000000" pitchFamily="2" charset="2"/>
              </a:rPr>
              <a:t>Blindleistung Q  Was zuruckfließt</a:t>
            </a: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   keine Arbeit, aber belastung der Leitung!</a:t>
            </a:r>
          </a:p>
          <a:p>
            <a:r>
              <a:rPr lang="de-DE" dirty="0">
                <a:sym typeface="Wingdings" panose="05000000000000000000" pitchFamily="2" charset="2"/>
              </a:rPr>
              <a:t>Scheinleistung S  Wirk- und Blinleistung zusammen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565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A957C-B1C7-7A41-F87C-5A1395709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A38E7-20ED-DCF6-0512-38E7501EF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850900"/>
            <a:ext cx="6571343" cy="1002855"/>
          </a:xfrm>
        </p:spPr>
        <p:txBody>
          <a:bodyPr/>
          <a:lstStyle/>
          <a:p>
            <a:r>
              <a:rPr lang="de-DE" dirty="0"/>
              <a:t>Schein-, Wrik- und Blindleistung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9FB95-F606-96E1-A298-A81A78CF3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</p:txBody>
      </p:sp>
      <p:pic>
        <p:nvPicPr>
          <p:cNvPr id="5" name="Picture 4" descr="Grundlagen zur Blindleistungskompensation – Effizienzsteigerung leicht  erklärt">
            <a:extLst>
              <a:ext uri="{FF2B5EF4-FFF2-40B4-BE49-F238E27FC236}">
                <a16:creationId xmlns:a16="http://schemas.microsoft.com/office/drawing/2014/main" id="{3E18EB3D-1B8B-BEBE-EF74-9D974824AB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08250" y="2015733"/>
            <a:ext cx="4127500" cy="3537857"/>
          </a:xfrm>
          <a:prstGeom prst="rect">
            <a:avLst/>
          </a:prstGeom>
          <a:effectLst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03196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8AA16-843E-75D5-0CEE-0F536D803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1391654"/>
            <a:ext cx="6571343" cy="462101"/>
          </a:xfrm>
        </p:spPr>
        <p:txBody>
          <a:bodyPr>
            <a:noAutofit/>
          </a:bodyPr>
          <a:lstStyle/>
          <a:p>
            <a:r>
              <a:rPr lang="de-DE" sz="3000" dirty="0"/>
              <a:t>Warum entsteht Blindleistung?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2FDC3-9295-A0D0-C499-0EA733A62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Phasenverschiebung </a:t>
            </a:r>
            <a:r>
              <a:rPr lang="de-DE" dirty="0">
                <a:sym typeface="Wingdings" panose="05000000000000000000" pitchFamily="2" charset="2"/>
              </a:rPr>
              <a:t> Induktivität + Kapazität</a:t>
            </a:r>
          </a:p>
          <a:p>
            <a:r>
              <a:rPr lang="de-DE" dirty="0">
                <a:sym typeface="Wingdings" panose="05000000000000000000" pitchFamily="2" charset="2"/>
              </a:rPr>
              <a:t>Gesätigte Spulen</a:t>
            </a:r>
            <a:endParaRPr lang="de-DE" dirty="0"/>
          </a:p>
          <a:p>
            <a:r>
              <a:rPr lang="de-DE" dirty="0">
                <a:sym typeface="Wingdings" panose="05000000000000000000" pitchFamily="2" charset="2"/>
              </a:rPr>
              <a:t>Geladene Kondensatoren</a:t>
            </a:r>
          </a:p>
          <a:p>
            <a:r>
              <a:rPr lang="de-DE" dirty="0">
                <a:sym typeface="Wingdings" panose="05000000000000000000" pitchFamily="2" charset="2"/>
              </a:rPr>
              <a:t>1. Strom aufgenommen</a:t>
            </a:r>
          </a:p>
          <a:p>
            <a:r>
              <a:rPr lang="de-DE" dirty="0">
                <a:sym typeface="Wingdings" panose="05000000000000000000" pitchFamily="2" charset="2"/>
              </a:rPr>
              <a:t>2. Strom gespeichert</a:t>
            </a:r>
          </a:p>
          <a:p>
            <a:r>
              <a:rPr lang="de-DE" dirty="0">
                <a:sym typeface="Wingdings" panose="05000000000000000000" pitchFamily="2" charset="2"/>
              </a:rPr>
              <a:t>3. Strom zurückgegeben</a:t>
            </a:r>
          </a:p>
        </p:txBody>
      </p:sp>
      <p:pic>
        <p:nvPicPr>
          <p:cNvPr id="4" name="Picture 3" descr="Phasenverschiebung – Wikipedia">
            <a:extLst>
              <a:ext uri="{FF2B5EF4-FFF2-40B4-BE49-F238E27FC236}">
                <a16:creationId xmlns:a16="http://schemas.microsoft.com/office/drawing/2014/main" id="{F9C0068F-99FA-DC60-642F-889BA65B6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2811557"/>
            <a:ext cx="2960132" cy="185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238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391654"/>
            <a:ext cx="6571343" cy="462101"/>
          </a:xfrm>
        </p:spPr>
        <p:txBody>
          <a:bodyPr>
            <a:normAutofit fontScale="90000"/>
          </a:bodyPr>
          <a:lstStyle/>
          <a:p>
            <a:r>
              <a:rPr dirty="0" err="1"/>
              <a:t>Zusammenfassung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Wechselspannung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sinusförmig</a:t>
            </a:r>
            <a:endParaRPr dirty="0"/>
          </a:p>
          <a:p>
            <a:r>
              <a:rPr dirty="0"/>
              <a:t>360° </a:t>
            </a:r>
            <a:r>
              <a:rPr dirty="0" err="1"/>
              <a:t>entsprechen</a:t>
            </a:r>
            <a:r>
              <a:rPr dirty="0"/>
              <a:t> 20 </a:t>
            </a:r>
            <a:r>
              <a:rPr dirty="0" err="1"/>
              <a:t>ms</a:t>
            </a:r>
            <a:r>
              <a:rPr lang="de-DE" dirty="0"/>
              <a:t> im Deutschen Netz</a:t>
            </a:r>
            <a:endParaRPr dirty="0"/>
          </a:p>
          <a:p>
            <a:r>
              <a:rPr dirty="0"/>
              <a:t>230 V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Effektivwert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391654"/>
            <a:ext cx="6571343" cy="462101"/>
          </a:xfrm>
        </p:spPr>
        <p:txBody>
          <a:bodyPr>
            <a:normAutofit fontScale="90000"/>
          </a:bodyPr>
          <a:lstStyle/>
          <a:p>
            <a:r>
              <a:rPr dirty="0" err="1"/>
              <a:t>Quellen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Europa </a:t>
            </a:r>
            <a:r>
              <a:rPr dirty="0" err="1"/>
              <a:t>Lehrmittel</a:t>
            </a:r>
            <a:r>
              <a:rPr dirty="0"/>
              <a:t> – </a:t>
            </a:r>
            <a:r>
              <a:rPr dirty="0" err="1"/>
              <a:t>Elektrotechnik</a:t>
            </a:r>
            <a:endParaRPr dirty="0"/>
          </a:p>
          <a:p>
            <a:r>
              <a:rPr dirty="0" err="1"/>
              <a:t>ElektroSim</a:t>
            </a:r>
            <a:r>
              <a:rPr dirty="0"/>
              <a:t> / europathek.de</a:t>
            </a:r>
          </a:p>
          <a:p>
            <a:r>
              <a:rPr dirty="0" err="1"/>
              <a:t>Grundlagen</a:t>
            </a:r>
            <a:r>
              <a:rPr dirty="0"/>
              <a:t> </a:t>
            </a:r>
            <a:r>
              <a:rPr dirty="0" err="1"/>
              <a:t>Wechselstromtechnik</a:t>
            </a:r>
            <a:r>
              <a:rPr dirty="0"/>
              <a:t> (</a:t>
            </a:r>
            <a:r>
              <a:rPr dirty="0" err="1"/>
              <a:t>Skript</a:t>
            </a:r>
            <a:r>
              <a:rPr dirty="0"/>
              <a:t>)</a:t>
            </a:r>
            <a:endParaRPr lang="de-DE" dirty="0"/>
          </a:p>
          <a:p>
            <a:r>
              <a:rPr lang="de-DE" dirty="0"/>
              <a:t>www.reiter1.com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221</Words>
  <Application>Microsoft Office PowerPoint</Application>
  <PresentationFormat>On-screen Show (4:3)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Gill Sans MT</vt:lpstr>
      <vt:lpstr>Wingdings</vt:lpstr>
      <vt:lpstr>Gallery</vt:lpstr>
      <vt:lpstr>Wechselspannung – GrundLagen</vt:lpstr>
      <vt:lpstr>Was ist Wechselspannung?</vt:lpstr>
      <vt:lpstr>Erzeugung von Wechselstrom</vt:lpstr>
      <vt:lpstr>Sinusspannung &amp; Winkel</vt:lpstr>
      <vt:lpstr>Periodendauer &amp; Frequenz</vt:lpstr>
      <vt:lpstr>Scheitelwert &amp; Spitzen-Tal-Wert</vt:lpstr>
      <vt:lpstr>Effektivwert – Warum 230 V?</vt:lpstr>
      <vt:lpstr>Schein-, Wrik- und Blindleistung</vt:lpstr>
      <vt:lpstr>Schein-, Wrik- und Blindleistung</vt:lpstr>
      <vt:lpstr>Warum entsteht Blindleistung?</vt:lpstr>
      <vt:lpstr>Zusammenfassung</vt:lpstr>
      <vt:lpstr>Quellen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2026-02-05T19:22:07Z</dcterms:modified>
  <cp:category/>
</cp:coreProperties>
</file>