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78767" autoAdjust="0"/>
  </p:normalViewPr>
  <p:slideViewPr>
    <p:cSldViewPr>
      <p:cViewPr varScale="1">
        <p:scale>
          <a:sx n="99" d="100"/>
          <a:sy n="99" d="100"/>
        </p:scale>
        <p:origin x="153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effectLst/>
              </a:defRPr>
            </a:lvl1pPr>
          </a:lstStyle>
          <a:p>
            <a:pPr>
              <a:defRPr/>
            </a:pPr>
            <a:r>
              <a:rPr lang="de-DE"/>
              <a:t>Grundlagen der Elektrotechnik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/>
              </a:defRPr>
            </a:lvl1pPr>
          </a:lstStyle>
          <a:p>
            <a:pPr>
              <a:defRPr/>
            </a:pPr>
            <a:fld id="{E342B14F-D340-4973-9F67-615063BB9AB7}" type="datetime5">
              <a:rPr lang="de-DE"/>
              <a:pPr>
                <a:defRPr/>
              </a:pPr>
              <a:t>26-01-27</a:t>
            </a:fld>
            <a:endParaRPr lang="de-DE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ffectLst/>
              </a:defRPr>
            </a:lvl1pPr>
          </a:lstStyle>
          <a:p>
            <a:pPr>
              <a:defRPr/>
            </a:pPr>
            <a:fld id="{5A1724DB-4C03-4440-A93E-B4450C917780}" type="datetime7">
              <a:rPr lang="de-DE"/>
              <a:pPr>
                <a:defRPr/>
              </a:pPr>
              <a:t>Jan-26</a:t>
            </a:fld>
            <a:endParaRPr lang="de-DE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/>
              </a:defRPr>
            </a:lvl1pPr>
          </a:lstStyle>
          <a:p>
            <a:pPr>
              <a:defRPr/>
            </a:pPr>
            <a:fld id="{C609AF09-8ED7-48DC-8897-13ECC188710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effectLst/>
              </a:defRPr>
            </a:lvl1pPr>
          </a:lstStyle>
          <a:p>
            <a:pPr>
              <a:defRPr/>
            </a:pPr>
            <a:r>
              <a:rPr lang="de-DE"/>
              <a:t>Grundlagen der Elektrotechnik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/>
              </a:defRPr>
            </a:lvl1pPr>
          </a:lstStyle>
          <a:p>
            <a:pPr>
              <a:defRPr/>
            </a:pPr>
            <a:fld id="{007812B1-6405-4387-B277-A4A96EB9438B}" type="datetime5">
              <a:rPr lang="de-DE"/>
              <a:pPr>
                <a:defRPr/>
              </a:pPr>
              <a:t>26-01-27</a:t>
            </a:fld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 descr="www.ernix.de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ffectLst/>
              </a:defRPr>
            </a:lvl1pPr>
          </a:lstStyle>
          <a:p>
            <a:pPr>
              <a:defRPr/>
            </a:pPr>
            <a:fld id="{465B4783-466D-4ACA-BB13-791829668762}" type="datetime2">
              <a:rPr lang="de-DE"/>
              <a:pPr>
                <a:defRPr/>
              </a:pPr>
              <a:t>Dienstag, 27. Januar 2026</a:t>
            </a:fld>
            <a:endParaRPr lang="de-D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/>
              </a:defRPr>
            </a:lvl1pPr>
          </a:lstStyle>
          <a:p>
            <a:pPr>
              <a:defRPr/>
            </a:pPr>
            <a:fld id="{3AF5B8DD-4EE3-445C-A8C2-0D382EB873A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1528AF0-B8D6-4529-8C96-12099F5F7D08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OStR</a:t>
            </a:r>
            <a:r>
              <a:rPr lang="en-US" dirty="0"/>
              <a:t> </a:t>
            </a:r>
            <a:r>
              <a:rPr lang="en-US" dirty="0" err="1"/>
              <a:t>Ernstmeier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b="1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OStR</a:t>
            </a:r>
            <a:r>
              <a:rPr lang="en-US" dirty="0"/>
              <a:t> </a:t>
            </a:r>
            <a:r>
              <a:rPr lang="en-US" dirty="0" err="1"/>
              <a:t>Ernstmeier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8A42A-9D2B-4EBA-A651-7F6AC4E1A6B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44D8B-4F32-4BD7-AB3E-C018D6EDA1C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F107-B80B-4249-BB76-2163C1F98FF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AACCD-8C4B-4C5D-B1B5-3F3CEF83F8A8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7452A-3BC9-494C-9DE3-6A07FAB00F2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9EC84-A2C3-41E8-8CC6-CE12A88FA58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1D2D6-4092-4DA7-8791-BAFDFFC6762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2E03D-A7AE-4E02-82C7-B63EC1C3034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1143000"/>
            <a:ext cx="1943100" cy="49530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1143000"/>
            <a:ext cx="5676900" cy="4953000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85868-08DC-43BE-9D3A-04ABE2F4982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1430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, um Master-</a:t>
            </a:r>
            <a:r>
              <a:rPr lang="en-US" dirty="0" err="1"/>
              <a:t>Titelformat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.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, um Master-</a:t>
            </a:r>
            <a:r>
              <a:rPr lang="en-US" dirty="0" err="1"/>
              <a:t>Textformat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ffectLst/>
              </a:defRPr>
            </a:lvl1pPr>
          </a:lstStyle>
          <a:p>
            <a:pPr>
              <a:defRPr/>
            </a:pPr>
            <a:fld id="{7EAE1F0C-9B00-449B-9C91-01DCDC552A6C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6172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ffectLst/>
              </a:defRPr>
            </a:lvl1pPr>
          </a:lstStyle>
          <a:p>
            <a:pPr>
              <a:defRPr/>
            </a:pPr>
            <a:r>
              <a:rPr lang="en-US"/>
              <a:t>OStR Ernstmeier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AC0CFC0-51E9-CC74-94BC-D20D73DD5B2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994400" y="152400"/>
            <a:ext cx="2463800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Arial" pitchFamily="34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pitchFamily="34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sip:56789@demo-server.d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2511152"/>
          </a:xfrm>
        </p:spPr>
        <p:txBody>
          <a:bodyPr/>
          <a:lstStyle/>
          <a:p>
            <a:r>
              <a:rPr lang="de-DE" sz="7200" dirty="0"/>
              <a:t>Voice </a:t>
            </a:r>
            <a:r>
              <a:rPr lang="de-DE" sz="7200" dirty="0" err="1"/>
              <a:t>over</a:t>
            </a:r>
            <a:r>
              <a:rPr lang="de-DE" sz="7200" dirty="0"/>
              <a:t> IP</a:t>
            </a:r>
            <a:br>
              <a:rPr lang="de-DE" sz="7200" dirty="0"/>
            </a:br>
            <a:r>
              <a:rPr lang="de-DE" sz="7200" dirty="0"/>
              <a:t>(</a:t>
            </a:r>
            <a:r>
              <a:rPr lang="de-DE" sz="7200" dirty="0" err="1"/>
              <a:t>VoIP</a:t>
            </a:r>
            <a:r>
              <a:rPr lang="de-DE" sz="7200" dirty="0"/>
              <a:t>)</a:t>
            </a:r>
            <a:br>
              <a:rPr lang="de-DE" sz="7200" dirty="0"/>
            </a:br>
            <a:endParaRPr lang="de-DE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3501008"/>
            <a:ext cx="267652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VoIP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Internet – Protokoll – Telefonie</a:t>
            </a:r>
          </a:p>
          <a:p>
            <a:endParaRPr lang="de-DE" dirty="0"/>
          </a:p>
          <a:p>
            <a:r>
              <a:rPr lang="de-DE" dirty="0"/>
              <a:t>Erste Versuche 1973</a:t>
            </a:r>
          </a:p>
          <a:p>
            <a:endParaRPr lang="de-DE" dirty="0"/>
          </a:p>
          <a:p>
            <a:r>
              <a:rPr lang="de-DE" dirty="0"/>
              <a:t>Angestrebt: Leistungsmerkmale wie ISDN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OStR</a:t>
            </a:r>
            <a:r>
              <a:rPr lang="en-US" dirty="0"/>
              <a:t> </a:t>
            </a:r>
            <a:r>
              <a:rPr lang="en-US" dirty="0" err="1"/>
              <a:t>Ernstmeier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Funktionsprinzip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132856"/>
            <a:ext cx="5184576" cy="3361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A/D-Wandlung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3188" y="2060848"/>
            <a:ext cx="5795115" cy="3746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A/D-Wandlung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2733" y="2132856"/>
            <a:ext cx="5999587" cy="366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A/D-Wandlung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916832"/>
            <a:ext cx="4752527" cy="403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Signallisierungsprotokolle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Rufsteuerung</a:t>
            </a:r>
          </a:p>
          <a:p>
            <a:r>
              <a:rPr lang="de-DE" dirty="0"/>
              <a:t>Übertragungsparameter aushandeln</a:t>
            </a:r>
          </a:p>
          <a:p>
            <a:r>
              <a:rPr lang="de-DE" dirty="0"/>
              <a:t>Zuordnung IP zu Telefonnummer durch Anmelden beim Provider</a:t>
            </a:r>
          </a:p>
          <a:p>
            <a:r>
              <a:rPr lang="de-DE" dirty="0"/>
              <a:t>Bsp.: </a:t>
            </a:r>
          </a:p>
          <a:p>
            <a:pPr lvl="2">
              <a:buNone/>
            </a:pPr>
            <a:r>
              <a:rPr lang="de-DE" dirty="0"/>
              <a:t>SIP (Session- Initiation-Protokoll)</a:t>
            </a:r>
          </a:p>
          <a:p>
            <a:pPr lvl="2">
              <a:buNone/>
            </a:pPr>
            <a:r>
              <a:rPr lang="de-DE" dirty="0"/>
              <a:t>H.323 (ITU-Standard)</a:t>
            </a:r>
          </a:p>
          <a:p>
            <a:pPr lvl="2">
              <a:buNone/>
            </a:pPr>
            <a:r>
              <a:rPr lang="de-DE" dirty="0"/>
              <a:t>IAX (Inter-</a:t>
            </a:r>
            <a:r>
              <a:rPr lang="de-DE" dirty="0" err="1"/>
              <a:t>Asterisk</a:t>
            </a:r>
            <a:r>
              <a:rPr lang="de-DE" dirty="0"/>
              <a:t>-Exchange-Protokoll)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SIP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Nicht an Hersteller gebunden</a:t>
            </a:r>
          </a:p>
          <a:p>
            <a:r>
              <a:rPr lang="de-DE" dirty="0"/>
              <a:t>SIP-Adresse: </a:t>
            </a:r>
            <a:r>
              <a:rPr lang="de-DE" b="1" i="1" dirty="0">
                <a:hlinkClick r:id="rId2"/>
              </a:rPr>
              <a:t>sip:56789@demo-server.de</a:t>
            </a:r>
            <a:endParaRPr lang="de-DE" b="1" i="1" dirty="0"/>
          </a:p>
          <a:p>
            <a:r>
              <a:rPr lang="de-DE" dirty="0"/>
              <a:t>Unterstützt ISDN-Merkmale</a:t>
            </a:r>
          </a:p>
          <a:p>
            <a:r>
              <a:rPr lang="de-DE" dirty="0"/>
              <a:t>Freie </a:t>
            </a:r>
            <a:r>
              <a:rPr lang="de-DE" dirty="0" err="1"/>
              <a:t>öff</a:t>
            </a:r>
            <a:r>
              <a:rPr lang="de-DE" dirty="0"/>
              <a:t>. Nummern</a:t>
            </a:r>
          </a:p>
          <a:p>
            <a:r>
              <a:rPr lang="de-DE" dirty="0"/>
              <a:t>Notrufproblem</a:t>
            </a:r>
          </a:p>
          <a:p>
            <a:endParaRPr lang="de-DE" dirty="0"/>
          </a:p>
          <a:p>
            <a:r>
              <a:rPr lang="de-DE" dirty="0"/>
              <a:t>Für Sprachübertragung nicht mehr notwendig </a:t>
            </a:r>
            <a:r>
              <a:rPr lang="de-DE" dirty="0">
                <a:sym typeface="Wingdings" pitchFamily="2" charset="2"/>
              </a:rPr>
              <a:t> Transportprotokoll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ENUM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Number</a:t>
            </a:r>
            <a:r>
              <a:rPr lang="de-DE" dirty="0"/>
              <a:t>-Mapping</a:t>
            </a:r>
          </a:p>
          <a:p>
            <a:r>
              <a:rPr lang="de-DE" dirty="0"/>
              <a:t>Wandelt Telefonnummer in Domain</a:t>
            </a:r>
          </a:p>
          <a:p>
            <a:r>
              <a:rPr lang="de-DE" dirty="0"/>
              <a:t>DNS wandelt Domain in IP</a:t>
            </a:r>
          </a:p>
          <a:p>
            <a:r>
              <a:rPr lang="de-DE" dirty="0"/>
              <a:t>Z.B. 02017606122 </a:t>
            </a:r>
            <a:r>
              <a:rPr lang="de-DE" dirty="0">
                <a:sym typeface="Wingdings" pitchFamily="2" charset="2"/>
              </a:rPr>
              <a:t> 2.2.1.6.0.6.7.1.0.2.0.e164.arpa</a:t>
            </a:r>
          </a:p>
          <a:p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Bevor Telefonprovider über eigene Datenbanken ein Telefongespräch vermitteln, wird überprüft, ob es zur gerufenen Nummer einen ENUM-Eintrag gibt</a:t>
            </a:r>
            <a:endParaRPr lang="de-DE" dirty="0"/>
          </a:p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Kompression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~1,5MB pro Minute</a:t>
            </a:r>
          </a:p>
          <a:p>
            <a:r>
              <a:rPr lang="de-DE" dirty="0"/>
              <a:t>~100 – 120kbit/s bei G.711</a:t>
            </a:r>
          </a:p>
          <a:p>
            <a:endParaRPr lang="de-DE" dirty="0"/>
          </a:p>
          <a:p>
            <a:r>
              <a:rPr lang="de-DE" dirty="0"/>
              <a:t>Z.B. G.711 ähnlich ISDN-Qualität</a:t>
            </a:r>
          </a:p>
          <a:p>
            <a:endParaRPr lang="de-DE" dirty="0"/>
          </a:p>
          <a:p>
            <a:r>
              <a:rPr lang="de-DE" dirty="0"/>
              <a:t>Kanalcodierung (Fehler)</a:t>
            </a:r>
          </a:p>
          <a:p>
            <a:r>
              <a:rPr lang="de-DE" dirty="0"/>
              <a:t>Leitungskodierung (Anpassung an Medium)</a:t>
            </a:r>
          </a:p>
          <a:p>
            <a:r>
              <a:rPr lang="de-DE" dirty="0"/>
              <a:t>Quellcodierung (Kompression)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000" dirty="0" err="1"/>
              <a:t>Mean</a:t>
            </a:r>
            <a:r>
              <a:rPr lang="de-DE" sz="2000" dirty="0"/>
              <a:t> Opinion Score: verbreitete subjektive Methode zur Bewertung der Sprach-Codec-Qualität</a:t>
            </a:r>
          </a:p>
          <a:p>
            <a:r>
              <a:rPr lang="de-DE" sz="2000" dirty="0"/>
              <a:t>Tests an Gruppe von Zuhörern</a:t>
            </a:r>
          </a:p>
          <a:p>
            <a:r>
              <a:rPr lang="de-DE" sz="2000" dirty="0"/>
              <a:t>Note 1: schlecht		Note 5: exzellent</a:t>
            </a:r>
          </a:p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1043608" y="3501008"/>
          <a:ext cx="662473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6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Datenrate [</a:t>
                      </a:r>
                      <a:r>
                        <a:rPr lang="de-DE" dirty="0" err="1">
                          <a:latin typeface="Arial" pitchFamily="34" charset="0"/>
                          <a:cs typeface="Arial" pitchFamily="34" charset="0"/>
                        </a:rPr>
                        <a:t>kbit</a:t>
                      </a:r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6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G.711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4,10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6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G.726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3,85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6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G.728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3,61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6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G.729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3,92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6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G.732.1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3,65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6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G.732.2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itchFamily="34" charset="0"/>
                          <a:cs typeface="Arial" pitchFamily="34" charset="0"/>
                        </a:rPr>
                        <a:t>3,4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Transportprotokolle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RTP: </a:t>
            </a:r>
            <a:r>
              <a:rPr lang="de-DE" dirty="0" err="1"/>
              <a:t>Realtime</a:t>
            </a:r>
            <a:r>
              <a:rPr lang="de-DE" dirty="0"/>
              <a:t> Transport Protokoll (RFC 1889)</a:t>
            </a:r>
          </a:p>
          <a:p>
            <a:endParaRPr lang="de-DE" dirty="0"/>
          </a:p>
          <a:p>
            <a:r>
              <a:rPr lang="de-DE" dirty="0"/>
              <a:t>Ähnlich UDP: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effort</a:t>
            </a:r>
            <a:r>
              <a:rPr lang="de-DE" dirty="0"/>
              <a:t>, keine Neuanforderung</a:t>
            </a:r>
          </a:p>
          <a:p>
            <a:endParaRPr lang="de-DE" dirty="0"/>
          </a:p>
          <a:p>
            <a:r>
              <a:rPr lang="de-DE" dirty="0"/>
              <a:t>5% Paketverlust akzeptabel</a:t>
            </a:r>
          </a:p>
          <a:p>
            <a:endParaRPr lang="de-DE" dirty="0"/>
          </a:p>
          <a:p>
            <a:r>
              <a:rPr lang="de-DE" dirty="0"/>
              <a:t>Puffer verhindert Latenz/</a:t>
            </a:r>
            <a:r>
              <a:rPr lang="de-DE" dirty="0" err="1"/>
              <a:t>Jitter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52CEF7-0C2A-4188-8FA3-00B8C3F7BAC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OStR Ernstmeier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zifischer Widerstand">
  <a:themeElements>
    <a:clrScheme name="oh_template_hnb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h_template_hnb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oh_template_hnb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h_template_hnb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h_template_hnb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h_template_hnb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h_template_hnb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h_template_hnb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h_template_hnb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Spezifischer Widerstand</Template>
  <TotalTime>0</TotalTime>
  <Words>294</Words>
  <Application>Microsoft Macintosh PowerPoint</Application>
  <PresentationFormat>Bildschirmpräsentation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Spezifischer Widerstand</vt:lpstr>
      <vt:lpstr>Voice over IP (VoIP) </vt:lpstr>
      <vt:lpstr>VoIP</vt:lpstr>
      <vt:lpstr>Funktionsprinzip</vt:lpstr>
      <vt:lpstr>A/D-Wandlung</vt:lpstr>
      <vt:lpstr>A/D-Wandlung</vt:lpstr>
      <vt:lpstr>A/D-Wandlung</vt:lpstr>
      <vt:lpstr>Signallisierungsprotokolle</vt:lpstr>
      <vt:lpstr>SIP</vt:lpstr>
      <vt:lpstr>ENUM</vt:lpstr>
      <vt:lpstr>Kompression</vt:lpstr>
      <vt:lpstr>MOS</vt:lpstr>
      <vt:lpstr>Transportprotokolle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over IP (VoIP)</dc:title>
  <dc:creator>erni</dc:creator>
  <cp:lastModifiedBy>Gerd Ernstmeier</cp:lastModifiedBy>
  <cp:revision>7</cp:revision>
  <dcterms:created xsi:type="dcterms:W3CDTF">2014-01-28T15:20:50Z</dcterms:created>
  <dcterms:modified xsi:type="dcterms:W3CDTF">2026-01-27T15:23:10Z</dcterms:modified>
</cp:coreProperties>
</file>