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697A1-DB98-471D-92B2-27CF022D0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E9B3F83-5278-43A6-91C4-D00E28EB0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2E2A19-5044-4CEC-B006-C14C6D10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8FB99-DF3E-40AF-B6D7-3475EA333B5B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098E05-8825-4F19-A9E8-17EBD8635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7E80F2-5EAD-41A5-A9A3-81E1AB4C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720-F7A3-4F84-B6E7-31C530A2B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70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30E91A-87AC-4701-AB5F-D7B871E3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72F474-C6DF-4431-8548-6299E8463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B03877-DC16-4418-AEC7-4FD0DBC3C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8FB99-DF3E-40AF-B6D7-3475EA333B5B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D5C8E3-C715-4919-A610-D2D86F6C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1DFE6F-CB8B-4D83-9017-A6D852B0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720-F7A3-4F84-B6E7-31C530A2B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426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65A53C-2588-4E14-90D7-B6EBB1E8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BD845D-9CE7-49FB-9862-998EBDDAD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01808B-7244-49FD-9D69-34869F87B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8FB99-DF3E-40AF-B6D7-3475EA333B5B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E497AE-70F5-4856-AF2B-D768DDC8F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6E5600-5F37-4ADF-8568-AF318778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720-F7A3-4F84-B6E7-31C530A2B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974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0954C7-635A-46B8-97CE-8A5730B5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6CD6BB-3830-4993-BA0F-24EEAD8E3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04EC23-1690-489D-A82F-D053EAED2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1D3D60-ACDB-46A0-A713-8B2A858F2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8FB99-DF3E-40AF-B6D7-3475EA333B5B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408F15-88FC-422B-9772-E67E23167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1ECC0D-974C-4D6C-AB49-072A0C72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720-F7A3-4F84-B6E7-31C530A2B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252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3B2185-CDBC-4C3C-825C-AA81D1E8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7D93B3-4D35-46C1-A6F7-7A855B801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0AEC3BE-FBBA-49CD-820C-A85874554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0852B71-671E-4126-B9B7-54058132D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1BD1559-C592-4FBF-9FD5-DDEB711F6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32C60CA-2A87-4DD8-99C4-DF6876DFB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8FB99-DF3E-40AF-B6D7-3475EA333B5B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77C7510-B075-44EE-82AE-F847E7702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9863AD6-5FA7-4961-BC37-D0558F48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720-F7A3-4F84-B6E7-31C530A2B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15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561866-8B71-4D1B-A5AF-C9306B5E8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4332DBD-49AF-42ED-8881-197D3DE40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8FB99-DF3E-40AF-B6D7-3475EA333B5B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F6788A-29B9-46BE-B9EA-77947F8D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27BD-5596-4850-A0BD-517655F2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720-F7A3-4F84-B6E7-31C530A2B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8917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DB533DC-F344-431B-ADAE-ABA3315CB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8FB99-DF3E-40AF-B6D7-3475EA333B5B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92C707-BB22-4B68-BC94-416240E9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E84E4F-E7EB-42DB-A42E-8F402A96F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720-F7A3-4F84-B6E7-31C530A2B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3466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9A670E-B658-4430-9712-32761AFE9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E2A716-39DA-467C-BEF4-E457B2397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86E71CC-E7F6-49A9-8A1A-3F9414CB1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1DEC25-D0B7-4124-B44C-8A72246DF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8FB99-DF3E-40AF-B6D7-3475EA333B5B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CFA796-FC55-436B-829D-1D09F0A34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18EFC5-614D-4484-9B3D-A43D9B3B1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720-F7A3-4F84-B6E7-31C530A2B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6603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DC622F-A506-4221-9E27-86AA8AF2E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2DA8029-9185-4DC6-8A2F-E4AD14C1B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F16B6A-8DFC-49CF-AD24-8CA8241F8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38366B-4278-43F2-A5D9-1075B5B45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8FB99-DF3E-40AF-B6D7-3475EA333B5B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2DEB87-F13C-425C-B477-7432F8C54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959C9F-0F6A-43E4-A660-9E73DC3BB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720-F7A3-4F84-B6E7-31C530A2B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59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50152-3F05-4E2D-A47E-B43312DE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0BD76C-9861-49F4-B8EF-5662D84F6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C43AD3-E6BD-42F4-87B4-12BC29D3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8FB99-DF3E-40AF-B6D7-3475EA333B5B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A003A7-9E93-45FC-8FFD-43B9114C3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F1FF84-A5E0-4171-B85E-42F9EE7B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720-F7A3-4F84-B6E7-31C530A2B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6010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87F9D61-8BA5-4816-8F9C-AA9AF63EE0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6677E1A-096D-4880-8C9A-52DEA67E7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08DDF4-0BCE-45CD-B94E-14A0E394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8FB99-DF3E-40AF-B6D7-3475EA333B5B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DEDF7E-0283-47CE-9B6D-D626C9B76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1C4E7F-B999-457A-8E00-9A2222F2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8720-F7A3-4F84-B6E7-31C530A2B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916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72DA6CA-B7DF-49A5-81FB-C08030D1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A7FB60-1FDA-489D-942D-23D695E93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5EC28F-565C-48F4-9277-6C6040ED8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8FB99-DF3E-40AF-B6D7-3475EA333B5B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46B6AF-4234-4564-AB9C-4D279C5E6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0B6ADC-F7CD-44F7-A90D-E7BF2CA8F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E8720-F7A3-4F84-B6E7-31C530A2B1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1922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1E5C8E-E6BF-4EEE-ABA2-93DA7F901C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USV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A6E74AE-4C0B-42CA-9D96-FCD65D35F9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Unterbrechungsfreie Stromversorgung</a:t>
            </a:r>
          </a:p>
          <a:p>
            <a:r>
              <a:rPr lang="de-DE" dirty="0"/>
              <a:t>Alwin Trotno</a:t>
            </a:r>
          </a:p>
        </p:txBody>
      </p:sp>
    </p:spTree>
    <p:extLst>
      <p:ext uri="{BB962C8B-B14F-4D97-AF65-F5344CB8AC3E}">
        <p14:creationId xmlns:p14="http://schemas.microsoft.com/office/powerpoint/2010/main" val="120859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0F6A7B-A603-47C9-AFF2-6F3DF1677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Einsatzbereiche</a:t>
            </a:r>
            <a:br>
              <a:rPr lang="de-DE" b="1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1F5E92-2E47-4DA9-89D4-05B352005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IT/Netzwerk</a:t>
            </a:r>
            <a:r>
              <a:rPr lang="de-DE" dirty="0"/>
              <a:t>: Racks, Switches, Router, Firewalls, NAS/Server.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Industrie/OT</a:t>
            </a:r>
            <a:r>
              <a:rPr lang="de-DE" dirty="0"/>
              <a:t>: SPS, Mess-/Steuertechnik, HMI, </a:t>
            </a:r>
            <a:r>
              <a:rPr lang="de-DE" dirty="0" err="1"/>
              <a:t>Safety</a:t>
            </a:r>
            <a:r>
              <a:rPr lang="de-DE" dirty="0"/>
              <a:t>-Controller.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Medizin</a:t>
            </a:r>
            <a:r>
              <a:rPr lang="de-DE" dirty="0"/>
              <a:t>: Geräte mit kritischer Versorgung, IT-Netze.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Telekommunikation</a:t>
            </a:r>
            <a:r>
              <a:rPr lang="de-DE" dirty="0"/>
              <a:t>: </a:t>
            </a:r>
            <a:r>
              <a:rPr lang="de-DE" dirty="0" err="1"/>
              <a:t>PoP</a:t>
            </a:r>
            <a:r>
              <a:rPr lang="de-DE" dirty="0"/>
              <a:t>-Standorte, Basisstationen.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Gebäudetechnik</a:t>
            </a:r>
            <a:r>
              <a:rPr lang="de-DE" dirty="0"/>
              <a:t>: Notbeleuchtung, Zutritt, Brandmeldeanlagen.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Home/Office</a:t>
            </a:r>
            <a:r>
              <a:rPr lang="de-DE" dirty="0"/>
              <a:t>: PCs, VoIP-Anlagen, Internet-Gateway.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8743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92771F-60F4-4050-B5B6-497CEA2A6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Arten &amp; Klassifizierung (IEC 62040)</a:t>
            </a:r>
            <a:br>
              <a:rPr lang="de-DE" b="1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51C823-1501-4E33-B2E1-4AE3293DA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VFD (</a:t>
            </a:r>
            <a:r>
              <a:rPr lang="de-DE" b="1" dirty="0" err="1"/>
              <a:t>Voltage</a:t>
            </a:r>
            <a:r>
              <a:rPr lang="de-DE" b="1" dirty="0"/>
              <a:t> and </a:t>
            </a:r>
            <a:r>
              <a:rPr lang="de-DE" b="1" dirty="0" err="1"/>
              <a:t>Frequency</a:t>
            </a:r>
            <a:r>
              <a:rPr lang="de-DE" b="1" dirty="0"/>
              <a:t> </a:t>
            </a:r>
            <a:r>
              <a:rPr lang="de-DE" b="1" dirty="0" err="1"/>
              <a:t>Dependent</a:t>
            </a:r>
            <a:r>
              <a:rPr lang="de-DE" b="1" dirty="0"/>
              <a:t>) – „Offline/Standby“</a:t>
            </a:r>
            <a:br>
              <a:rPr lang="de-DE" dirty="0"/>
            </a:br>
            <a:r>
              <a:rPr lang="de-DE" dirty="0"/>
              <a:t>→ Netz speist Last direkt; bei Ausfall schaltet USV auf Batterie/Wechselrichter (Umschaltzeit ~2–10 </a:t>
            </a:r>
            <a:r>
              <a:rPr lang="de-DE" dirty="0" err="1"/>
              <a:t>ms</a:t>
            </a:r>
            <a:r>
              <a:rPr lang="de-DE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VI (</a:t>
            </a:r>
            <a:r>
              <a:rPr lang="de-DE" b="1" dirty="0" err="1"/>
              <a:t>Voltage</a:t>
            </a:r>
            <a:r>
              <a:rPr lang="de-DE" b="1" dirty="0"/>
              <a:t> Independent) – „Line-Interactive“</a:t>
            </a:r>
            <a:br>
              <a:rPr lang="de-DE" dirty="0"/>
            </a:br>
            <a:r>
              <a:rPr lang="de-DE" dirty="0"/>
              <a:t>→ Wie VFD, zusätzlich Spannungsregelung (AVR/Autotransformator); kurze Umschaltzeit.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VFI (</a:t>
            </a:r>
            <a:r>
              <a:rPr lang="de-DE" b="1" dirty="0" err="1"/>
              <a:t>Voltage</a:t>
            </a:r>
            <a:r>
              <a:rPr lang="de-DE" b="1" dirty="0"/>
              <a:t> and </a:t>
            </a:r>
            <a:r>
              <a:rPr lang="de-DE" b="1" dirty="0" err="1"/>
              <a:t>Frequency</a:t>
            </a:r>
            <a:r>
              <a:rPr lang="de-DE" b="1" dirty="0"/>
              <a:t> Independent) – „Online/Doppelwandler“</a:t>
            </a:r>
            <a:br>
              <a:rPr lang="de-DE" dirty="0"/>
            </a:br>
            <a:r>
              <a:rPr lang="de-DE" dirty="0"/>
              <a:t>→ Dauerhafte Doppelwandlung (AC→DC→AC); 0 </a:t>
            </a:r>
            <a:r>
              <a:rPr lang="de-DE" dirty="0" err="1"/>
              <a:t>ms</a:t>
            </a:r>
            <a:r>
              <a:rPr lang="de-DE" dirty="0"/>
              <a:t> Umschaltzeit, beste Spannungs-/Frequenzqualität.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8379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F58C9-615B-4483-A6B6-3CA7A3131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Weitere Einteilungen: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B328D3-603F-4149-8755-4D4A05621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Phasen</a:t>
            </a:r>
            <a:r>
              <a:rPr lang="de-DE" dirty="0"/>
              <a:t>: 1-ph/1-ph, 3-ph/1-ph, 3-ph/3-ph.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Batterie</a:t>
            </a:r>
            <a:r>
              <a:rPr lang="de-DE" dirty="0"/>
              <a:t>: VRLA/AGM, Li-Ion, (seltener) </a:t>
            </a:r>
            <a:r>
              <a:rPr lang="de-DE" dirty="0" err="1"/>
              <a:t>NiCd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Aufstellung</a:t>
            </a:r>
            <a:r>
              <a:rPr lang="de-DE" dirty="0"/>
              <a:t>: Tower, </a:t>
            </a:r>
            <a:r>
              <a:rPr lang="de-DE" dirty="0" err="1"/>
              <a:t>Rackmount</a:t>
            </a:r>
            <a:r>
              <a:rPr lang="de-DE" dirty="0"/>
              <a:t>, modular, mit/ohne externen Batteriemodulen.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Bypässe</a:t>
            </a:r>
            <a:r>
              <a:rPr lang="de-DE" dirty="0"/>
              <a:t>: interner statischer Bypass, manueller/Service-Bypass.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6064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3C5361-404E-4AA4-AF43-00A3551B4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Grund-Schaltbilder (stark vereinfacht)</a:t>
            </a:r>
            <a:br>
              <a:rPr lang="de-DE" b="1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95E442-67F9-4AB6-93D2-4BFC339EC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159"/>
            <a:ext cx="10515600" cy="688975"/>
          </a:xfrm>
        </p:spPr>
        <p:txBody>
          <a:bodyPr/>
          <a:lstStyle/>
          <a:p>
            <a:r>
              <a:rPr lang="de-DE" dirty="0"/>
              <a:t>1) Offline / VFD (Standby)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1AB809A-A9BB-471A-ABF3-27599DC6A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49536"/>
            <a:ext cx="10388600" cy="328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06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724DD-8923-40E6-A2F3-13679BAC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Grund-Schaltbilder (stark vereinfacht)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B5C2AEC-BAE7-49F3-B37A-C048C1F71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4622" y="2954404"/>
            <a:ext cx="6020511" cy="1832812"/>
          </a:xfr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8D48A5A1-7A89-4327-BE3A-9CE9023E11DA}"/>
              </a:ext>
            </a:extLst>
          </p:cNvPr>
          <p:cNvSpPr txBox="1">
            <a:spLocks/>
          </p:cNvSpPr>
          <p:nvPr/>
        </p:nvSpPr>
        <p:spPr>
          <a:xfrm>
            <a:off x="838200" y="1817159"/>
            <a:ext cx="10515600" cy="688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33D2E40E-6D9D-494C-8446-D1A56E3EE93D}"/>
              </a:ext>
            </a:extLst>
          </p:cNvPr>
          <p:cNvSpPr txBox="1">
            <a:spLocks/>
          </p:cNvSpPr>
          <p:nvPr/>
        </p:nvSpPr>
        <p:spPr>
          <a:xfrm>
            <a:off x="990600" y="1969559"/>
            <a:ext cx="10515600" cy="688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Line-Interactive / VI</a:t>
            </a:r>
          </a:p>
        </p:txBody>
      </p:sp>
    </p:spTree>
    <p:extLst>
      <p:ext uri="{BB962C8B-B14F-4D97-AF65-F5344CB8AC3E}">
        <p14:creationId xmlns:p14="http://schemas.microsoft.com/office/powerpoint/2010/main" val="1275891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578B11-2127-424F-93CC-5785D356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Grund-Schaltbilder (stark vereinfacht)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7DB184-8D6F-4F11-8D47-110D68776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39775"/>
          </a:xfrm>
        </p:spPr>
        <p:txBody>
          <a:bodyPr/>
          <a:lstStyle/>
          <a:p>
            <a:r>
              <a:rPr lang="de-DE" dirty="0"/>
              <a:t>Online / VFI (Doppelwandler)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2123893-2CB4-4B37-8E6A-3F6FC4854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65" y="2865855"/>
            <a:ext cx="9376710" cy="258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191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2BF6E-F24E-4E58-A7E9-FCA3623E3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Vor- &amp; Nachteile (kurz)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C2B459-EACA-4EE7-8E0E-8C55295756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9291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VFD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+ preiswert, effizient | – Umschaltzeit, schlecht bei Spannungsschwankungen.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+ stabilisiert Spannung, gut für SOHO/SMB | – kurze Umschaltzeit bleibt.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VFI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+ 0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Umschaltzeit, beste Qualität (EMV, Frequenz) | – teurer, mehr Verlustwärme.</a:t>
            </a:r>
          </a:p>
        </p:txBody>
      </p:sp>
    </p:spTree>
    <p:extLst>
      <p:ext uri="{BB962C8B-B14F-4D97-AF65-F5344CB8AC3E}">
        <p14:creationId xmlns:p14="http://schemas.microsoft.com/office/powerpoint/2010/main" val="1470297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EA9147-DE44-419D-92A2-688B7F91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AB2EA5-62C7-4206-A0BC-A9B9C6FB25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9291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Heim-/Kleines Büro, Router/NAS/PC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oder günstige </a:t>
            </a: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VFD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Server/Storage/Virtualisierung, kritische Netzwerk-Core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VFI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(Rack, ggf. modular).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Industrie mit empfindlicher Last/Frequenz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VFI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885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63DD64-A74C-4B8C-9B1D-2AD96AF56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Dimensionierung (Faustregeln)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06D5DD-687D-41D6-AA92-3E90993DD1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670593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Scheinleistung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Summe der Lasten (W), auf </a:t>
            </a: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umrechnen: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 = W / Leistungsfaktor</a:t>
            </a:r>
            <a:r>
              <a:rPr kumimoji="0" lang="de-DE" altLang="de-DE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Typisch pf: 0,6–0,9 (bei modernen USVs oft 0,9–1,0).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Headroom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20–30 % Reserve für Anlaufströme/Erweiterung.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Autonomiezeit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Bedarf: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 (Wh) = P_last (W) × Minuten/60</a:t>
            </a:r>
            <a:r>
              <a:rPr kumimoji="0" lang="de-DE" altLang="de-DE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Beispiel: 400 W für 10 min → ~67 Wh netto (mit Wirkungsgrad/Alterung eher 100–120 Wh brutto einkalkulieren).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Netzwerk-Use-Case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Switch + Router + Firewall z. B. 150 W → USV 1000 VA (pf 0,9 → 900 W) mit 15–30 min möglich.</a:t>
            </a:r>
          </a:p>
        </p:txBody>
      </p:sp>
    </p:spTree>
    <p:extLst>
      <p:ext uri="{BB962C8B-B14F-4D97-AF65-F5344CB8AC3E}">
        <p14:creationId xmlns:p14="http://schemas.microsoft.com/office/powerpoint/2010/main" val="1237440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9C670-1B1D-41B5-A1B8-4C7CCD67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Wichtige Funktionen</a:t>
            </a:r>
            <a:br>
              <a:rPr lang="de-DE" b="1" dirty="0"/>
            </a:b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F696B9-12E0-4039-B94B-0D0447A09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0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Kommunikation/Management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USB/RS-232/SNMP, Shutdown-Agenten, Alarme.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AVR (bei VI)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Boost/Buck ohne Batterieeinsatz.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Bypass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statisch (automatisch) + manueller Wartungsbypass.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Hot-Swap-Batterien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Ersatzteilverfügbarkeit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Parallel-/N+1-Betrieb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(größere Anlagen).</a:t>
            </a:r>
          </a:p>
        </p:txBody>
      </p:sp>
    </p:spTree>
    <p:extLst>
      <p:ext uri="{BB962C8B-B14F-4D97-AF65-F5344CB8AC3E}">
        <p14:creationId xmlns:p14="http://schemas.microsoft.com/office/powerpoint/2010/main" val="3689779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CD2E75-58A3-42C6-B1C7-63937CF5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Schutzumfang (was eine USV abfängt)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329B29-3661-4DF5-AB52-E42F95E37A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37550"/>
            <a:ext cx="7391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Netzausfall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Unter-/Überspannung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Spitzen/Transiente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Frequenzabweichung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(VFI), </a:t>
            </a: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Rauschen/EMI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(abhängig vom Typ).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Nicht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Überspannung durch direkten Blitztreffer → </a:t>
            </a: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Überspannungsschutz/Mehrstufen-SPD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ergänzen!</a:t>
            </a:r>
          </a:p>
        </p:txBody>
      </p:sp>
    </p:spTree>
    <p:extLst>
      <p:ext uri="{BB962C8B-B14F-4D97-AF65-F5344CB8AC3E}">
        <p14:creationId xmlns:p14="http://schemas.microsoft.com/office/powerpoint/2010/main" val="4027574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5EDE59-C4E7-4336-9700-C89C0749E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Auswahl-Checkliste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2F9A39-FB74-4459-B84C-12496BB3C8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937920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Topologie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(VFD/VI/VFI) passend zur Kritikalität.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Leistung &amp; pf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VA/W ausreichend + Reserve.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Autonomie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Minuten bis sauberem Shutdown oder Generator-Start.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Schnittstellen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SNMP für Rack/Netz, Agenten für Server-Shutdown.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Batterietechnik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VRLA (preiswert) vs. Li-Ion (langlebig, kompakt).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Bypass &amp; Wartung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externer Bypass bei 24/7 sinnvoll.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Umgebung</a:t>
            </a: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Temp. 20–25 °C (Batterielebensdauer!), Luftstrom im Rack.</a:t>
            </a:r>
          </a:p>
        </p:txBody>
      </p:sp>
    </p:spTree>
    <p:extLst>
      <p:ext uri="{BB962C8B-B14F-4D97-AF65-F5344CB8AC3E}">
        <p14:creationId xmlns:p14="http://schemas.microsoft.com/office/powerpoint/2010/main" val="1361689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Microsoft Office PowerPoint</Application>
  <PresentationFormat>Breitbild</PresentationFormat>
  <Paragraphs>56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Arial</vt:lpstr>
      <vt:lpstr>Arial Unicode MS</vt:lpstr>
      <vt:lpstr>Calibri</vt:lpstr>
      <vt:lpstr>Calibri Light</vt:lpstr>
      <vt:lpstr>Office</vt:lpstr>
      <vt:lpstr>USV </vt:lpstr>
      <vt:lpstr>Einsatzbereiche </vt:lpstr>
      <vt:lpstr>Arten &amp; Klassifizierung (IEC 62040) </vt:lpstr>
      <vt:lpstr>Weitere Einteilungen: </vt:lpstr>
      <vt:lpstr>Grund-Schaltbilder (stark vereinfacht) </vt:lpstr>
      <vt:lpstr>Grund-Schaltbilder (stark vereinfacht)</vt:lpstr>
      <vt:lpstr>Grund-Schaltbilder (stark vereinfacht)</vt:lpstr>
      <vt:lpstr>Vor- &amp; Nachteile (kurz)</vt:lpstr>
      <vt:lpstr>PowerPoint-Präsentation</vt:lpstr>
      <vt:lpstr>Dimensionierung (Faustregeln)</vt:lpstr>
      <vt:lpstr>Wichtige Funktionen </vt:lpstr>
      <vt:lpstr>Schutzumfang (was eine USV abfängt)</vt:lpstr>
      <vt:lpstr>Auswahl-Checkliste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USV </dc:title>
  <dc:creator>Alwin Trotno</dc:creator>
  <cp:lastModifiedBy>Alwin Trotno</cp:lastModifiedBy>
  <cp:revision>2</cp:revision>
  <dcterms:created xsi:type="dcterms:W3CDTF">2025-10-27T10:25:24Z</dcterms:created>
  <dcterms:modified xsi:type="dcterms:W3CDTF">2025-10-27T10:25:38Z</dcterms:modified>
</cp:coreProperties>
</file>